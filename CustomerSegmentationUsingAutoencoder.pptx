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74" r:id="rId3"/>
    <p:sldId id="285" r:id="rId4"/>
    <p:sldId id="286" r:id="rId5"/>
    <p:sldId id="284" r:id="rId6"/>
    <p:sldId id="260" r:id="rId7"/>
    <p:sldId id="289" r:id="rId8"/>
    <p:sldId id="287" r:id="rId9"/>
    <p:sldId id="290" r:id="rId10"/>
    <p:sldId id="291" r:id="rId11"/>
    <p:sldId id="296" r:id="rId12"/>
    <p:sldId id="278" r:id="rId13"/>
    <p:sldId id="292" r:id="rId14"/>
    <p:sldId id="308" r:id="rId15"/>
    <p:sldId id="310" r:id="rId16"/>
    <p:sldId id="265" r:id="rId17"/>
    <p:sldId id="305" r:id="rId18"/>
    <p:sldId id="306" r:id="rId19"/>
    <p:sldId id="307" r:id="rId20"/>
    <p:sldId id="301" r:id="rId21"/>
    <p:sldId id="297" r:id="rId22"/>
    <p:sldId id="303" r:id="rId23"/>
    <p:sldId id="304" r:id="rId24"/>
    <p:sldId id="302" r:id="rId25"/>
    <p:sldId id="309" r:id="rId26"/>
    <p:sldId id="316" r:id="rId27"/>
    <p:sldId id="321" r:id="rId28"/>
    <p:sldId id="317" r:id="rId29"/>
    <p:sldId id="318" r:id="rId30"/>
    <p:sldId id="319" r:id="rId31"/>
    <p:sldId id="320" r:id="rId32"/>
    <p:sldId id="322" r:id="rId33"/>
    <p:sldId id="323" r:id="rId34"/>
    <p:sldId id="324" r:id="rId35"/>
    <p:sldId id="325" r:id="rId36"/>
    <p:sldId id="311" r:id="rId37"/>
    <p:sldId id="312" r:id="rId38"/>
    <p:sldId id="313" r:id="rId39"/>
    <p:sldId id="314" r:id="rId40"/>
    <p:sldId id="271" r:id="rId41"/>
    <p:sldId id="293" r:id="rId42"/>
    <p:sldId id="273" r:id="rId43"/>
  </p:sldIdLst>
  <p:sldSz cx="24377650" cy="13716000"/>
  <p:notesSz cx="7315200" cy="9601200"/>
  <p:embeddedFontLst>
    <p:embeddedFont>
      <p:font typeface="Cambria Math" panose="02040503050406030204" pitchFamily="18" charset="0"/>
      <p:regular r:id="rId45"/>
    </p:embeddedFont>
    <p:embeddedFont>
      <p:font typeface="Lato" panose="020F0502020204030203" pitchFamily="34" charset="0"/>
      <p:regular r:id="rId46"/>
    </p:embeddedFont>
    <p:embeddedFont>
      <p:font typeface="Lato Light" panose="020F0502020204030203" pitchFamily="34" charset="0"/>
      <p:regular r:id="rId47"/>
      <p:italic r:id="rId48"/>
    </p:embeddedFont>
    <p:embeddedFont>
      <p:font typeface="Raleway" pitchFamily="2" charset="0"/>
      <p:regular r:id="rId49"/>
      <p:bold r:id="rId50"/>
    </p:embeddedFont>
    <p:embeddedFont>
      <p:font typeface="Raleway Light" pitchFamily="2" charset="0"/>
      <p:regular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8140">
          <p15:clr>
            <a:srgbClr val="A4A3A4"/>
          </p15:clr>
        </p15:guide>
        <p15:guide id="2" orient="horz" pos="499">
          <p15:clr>
            <a:srgbClr val="A4A3A4"/>
          </p15:clr>
        </p15:guide>
        <p15:guide id="3" pos="14271">
          <p15:clr>
            <a:srgbClr val="A4A3A4"/>
          </p15:clr>
        </p15:guide>
        <p15:guide id="4" pos="7677">
          <p15:clr>
            <a:srgbClr val="A4A3A4"/>
          </p15:clr>
        </p15:guide>
        <p15:guide id="5" pos="10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hMNTYNVTbpDTAGGJlZzdy5xXkD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1111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A86C57-FAF1-40AC-A6BF-63785705ECA8}">
  <a:tblStyle styleId="{FDA86C57-FAF1-40AC-A6BF-63785705ECA8}" styleName="Table_0">
    <a:wholeTbl>
      <a:tcTxStyle b="off" i="off">
        <a:font>
          <a:latin typeface="Lato Light"/>
          <a:ea typeface="Lato Light"/>
          <a:cs typeface="Lato 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5E7E6"/>
          </a:solidFill>
        </a:fill>
      </a:tcStyle>
    </a:wholeTbl>
    <a:band1H>
      <a:tcTxStyle/>
      <a:tcStyle>
        <a:tcBdr/>
        <a:fill>
          <a:solidFill>
            <a:srgbClr val="EACBCA"/>
          </a:solidFill>
        </a:fill>
      </a:tcStyle>
    </a:band1H>
    <a:band2H>
      <a:tcTxStyle/>
      <a:tcStyle>
        <a:tcBdr/>
      </a:tcStyle>
    </a:band2H>
    <a:band1V>
      <a:tcTxStyle/>
      <a:tcStyle>
        <a:tcBdr/>
        <a:fill>
          <a:solidFill>
            <a:srgbClr val="EACBCA"/>
          </a:solidFill>
        </a:fill>
      </a:tcStyle>
    </a:band1V>
    <a:band2V>
      <a:tcTxStyle/>
      <a:tcStyle>
        <a:tcBdr/>
      </a:tcStyle>
    </a:band2V>
    <a:lastCol>
      <a:tcTxStyle b="on" i="off">
        <a:font>
          <a:latin typeface="Lato Light"/>
          <a:ea typeface="Lato Light"/>
          <a:cs typeface="Lato Light"/>
        </a:font>
        <a:schemeClr val="lt1"/>
      </a:tcTxStyle>
      <a:tcStyle>
        <a:tcBdr/>
        <a:fill>
          <a:solidFill>
            <a:schemeClr val="accent1"/>
          </a:solidFill>
        </a:fill>
      </a:tcStyle>
    </a:lastCol>
    <a:firstCol>
      <a:tcTxStyle b="on" i="off">
        <a:font>
          <a:latin typeface="Lato Light"/>
          <a:ea typeface="Lato Light"/>
          <a:cs typeface="Lato Light"/>
        </a:font>
        <a:schemeClr val="lt1"/>
      </a:tcTxStyle>
      <a:tcStyle>
        <a:tcBdr/>
        <a:fill>
          <a:solidFill>
            <a:schemeClr val="accent1"/>
          </a:solidFill>
        </a:fill>
      </a:tcStyle>
    </a:firstCol>
    <a:lastRow>
      <a:tcTxStyle b="on" i="off">
        <a:font>
          <a:latin typeface="Lato Light"/>
          <a:ea typeface="Lato Light"/>
          <a:cs typeface="Lato Ligh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Lato Light"/>
          <a:ea typeface="Lato Light"/>
          <a:cs typeface="Lato Ligh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660"/>
  </p:normalViewPr>
  <p:slideViewPr>
    <p:cSldViewPr snapToGrid="0">
      <p:cViewPr varScale="1">
        <p:scale>
          <a:sx n="42" d="100"/>
          <a:sy n="42" d="100"/>
        </p:scale>
        <p:origin x="360" y="45"/>
      </p:cViewPr>
      <p:guideLst>
        <p:guide orient="horz" pos="8140"/>
        <p:guide orient="horz" pos="499"/>
        <p:guide pos="14271"/>
        <p:guide pos="7677"/>
        <p:guide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1pPr>
            <a:lvl2pPr marL="914400" marR="0" lvl="1"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2pPr>
            <a:lvl3pPr marL="1371600" marR="0" lvl="2"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3pPr>
            <a:lvl4pPr marL="1828800" marR="0" lvl="3"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4pPr>
            <a:lvl5pPr marL="2286000" marR="0" lvl="4"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5pPr>
            <a:lvl6pPr marL="2743200" marR="0" lvl="5"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Raleway"/>
                <a:ea typeface="Raleway"/>
                <a:cs typeface="Raleway"/>
                <a:sym typeface="Raleway"/>
              </a:rPr>
              <a:t>‹#›</a:t>
            </a:fld>
            <a:endParaRPr sz="1300" b="0" i="0" u="none" strike="noStrike" cap="none">
              <a:solidFill>
                <a:schemeClr val="dk1"/>
              </a:solidFill>
              <a:latin typeface="Raleway"/>
              <a:ea typeface="Raleway"/>
              <a:cs typeface="Raleway"/>
              <a:sym typeface="Raleway"/>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81" name="Google Shape;81;p1:notes"/>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82" name="Google Shape;82;p1:notes"/>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E9786190-2C6C-B886-6ED2-620D9B5D5DCE}"/>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3976D1EC-9AC5-0D43-DCAF-106431D695E1}"/>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456C838E-6D26-E662-C828-02FECC17FD3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47182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BC74B8E4-13F0-E747-4A2F-E00AECF4EB73}"/>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88D7F219-080E-C2A0-A87F-88417B80312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9B5C61F3-9BAE-2579-CF25-3AD9A3CC2EB4}"/>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71989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9862D119-1E20-6E43-B951-4FE23567E0BF}"/>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2FB9BB4B-8E1C-EC9C-03C3-DB396EFB79DB}"/>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E426C094-86DB-D79A-645B-1393552D6BA1}"/>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85974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0567353-830F-6A1E-F99E-593393DBFBB2}"/>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877EAD48-6A9D-D876-18A5-64E63120CBC5}"/>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42" name="Google Shape;142;p5:notes">
            <a:extLst>
              <a:ext uri="{FF2B5EF4-FFF2-40B4-BE49-F238E27FC236}">
                <a16:creationId xmlns:a16="http://schemas.microsoft.com/office/drawing/2014/main" id="{216800D0-C154-C43D-A115-CFA45F74E68F}"/>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46460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68962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2571F69C-F0F5-D1B3-A7B2-E34A540D58F8}"/>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64C922B0-9F59-62A3-3458-FBAFEF075028}"/>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002D2339-99C5-000F-9AC1-262788C9086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64689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8684C753-EB6C-26ED-4A0F-063F1B51F469}"/>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994465CC-DC10-FA77-09DA-9846A561B16A}"/>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14543CBA-6275-0ED5-37A6-08C6D4F0ECAA}"/>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81103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DC236D0-55A9-7371-5ED5-B10EC385DEAF}"/>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2FAFEDD7-DF3E-A760-EDE8-A0BD7D16EFB0}"/>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42" name="Google Shape;142;p5:notes">
            <a:extLst>
              <a:ext uri="{FF2B5EF4-FFF2-40B4-BE49-F238E27FC236}">
                <a16:creationId xmlns:a16="http://schemas.microsoft.com/office/drawing/2014/main" id="{46D8AB43-251B-93F2-4462-6807B6662E8D}"/>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96807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97" name="Google Shape;197;p9: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8611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DED86303-D103-B96F-D457-FEEA7A81CC20}"/>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0702EBAB-E224-5F47-A9D9-C8BA4ACCBED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28D6F24B-7897-3356-DC2E-781FB527A532}"/>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55187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id="{F8B670AB-010A-2CB2-CE34-D646829EF301}"/>
            </a:ext>
          </a:extLst>
        </p:cNvPr>
        <p:cNvGrpSpPr/>
        <p:nvPr/>
      </p:nvGrpSpPr>
      <p:grpSpPr>
        <a:xfrm>
          <a:off x="0" y="0"/>
          <a:ext cx="0" cy="0"/>
          <a:chOff x="0" y="0"/>
          <a:chExt cx="0" cy="0"/>
        </a:xfrm>
      </p:grpSpPr>
      <p:sp>
        <p:nvSpPr>
          <p:cNvPr id="196" name="Google Shape;196;p9:notes">
            <a:extLst>
              <a:ext uri="{FF2B5EF4-FFF2-40B4-BE49-F238E27FC236}">
                <a16:creationId xmlns:a16="http://schemas.microsoft.com/office/drawing/2014/main" id="{23725D9C-E137-A781-47CF-B16D0997ECFD}"/>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97" name="Google Shape;197;p9:notes">
            <a:extLst>
              <a:ext uri="{FF2B5EF4-FFF2-40B4-BE49-F238E27FC236}">
                <a16:creationId xmlns:a16="http://schemas.microsoft.com/office/drawing/2014/main" id="{087B9C94-5D38-E029-9611-554879CE9DF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20314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id="{890A5347-8192-C83A-6219-629687B89136}"/>
            </a:ext>
          </a:extLst>
        </p:cNvPr>
        <p:cNvGrpSpPr/>
        <p:nvPr/>
      </p:nvGrpSpPr>
      <p:grpSpPr>
        <a:xfrm>
          <a:off x="0" y="0"/>
          <a:ext cx="0" cy="0"/>
          <a:chOff x="0" y="0"/>
          <a:chExt cx="0" cy="0"/>
        </a:xfrm>
      </p:grpSpPr>
      <p:sp>
        <p:nvSpPr>
          <p:cNvPr id="196" name="Google Shape;196;p9:notes">
            <a:extLst>
              <a:ext uri="{FF2B5EF4-FFF2-40B4-BE49-F238E27FC236}">
                <a16:creationId xmlns:a16="http://schemas.microsoft.com/office/drawing/2014/main" id="{94F2906D-C812-7D91-B32B-0C832622DA66}"/>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97" name="Google Shape;197;p9:notes">
            <a:extLst>
              <a:ext uri="{FF2B5EF4-FFF2-40B4-BE49-F238E27FC236}">
                <a16:creationId xmlns:a16="http://schemas.microsoft.com/office/drawing/2014/main" id="{F41BA65D-61B6-A9B8-5708-356BE17966A6}"/>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7626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0: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28F9900B-58C2-7271-5412-21CD01044C0D}"/>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20725C28-0852-74B9-C90B-4EAA8F2086A2}"/>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B81646B2-BC45-FFB1-3060-247D957D01F9}"/>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08912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624B9AE1-41F2-BD08-9263-E548BA89E4C4}"/>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65F8647A-9870-97D1-C6FB-C37D7BC0E4C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D6102EB3-8897-A8F6-2AB8-D3C610B685A0}"/>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03709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9627A073-49CC-884F-13FC-3E43A0FB6747}"/>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F7BB6040-9978-9852-78D1-2D7171187F9F}"/>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4144B0BD-7B8F-E823-DA87-FDC7418AE8A4}"/>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19696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B13942E7-BBE0-CE5B-2FF7-F18D559E5C7A}"/>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3276A38D-36EE-6E59-BFA6-1E7A3E9E8FB3}"/>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37964DB9-8AA8-5AE8-6DF3-F2CCB84AF370}"/>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15094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6B24EDAC-67B5-3FD3-DDB8-ACFA7EABB5ED}"/>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702626FA-CA56-040A-1A39-90F1B483E8A1}"/>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84935314-2A96-20B6-B15E-C8CDC1B21DC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145736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FDEB9834-026C-C8F9-0569-7F862CA48773}"/>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DF00312E-5DE7-328A-B1EB-0F37ABA9C8E7}"/>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45414889-A894-FFE1-DD39-0BC2B99593AE}"/>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06027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FFCE5792-786F-0E9B-6C1C-9518F2B3427E}"/>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54758C56-376E-1755-0225-07E8D247CEDB}"/>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2DC6428C-AFE0-30F4-A17C-9A708A96A74D}"/>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306058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09FF2D85-0B3B-27E2-7BA9-88ED91EAB60C}"/>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A054439E-055D-4669-19D9-45E9973669DC}"/>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6BA8A3F6-7762-548D-23FC-FC52404FCB80}"/>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2191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D6FDF2F6-182B-9FEA-443F-6931AB40D210}"/>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1CA45D60-011F-EFE2-4AC7-D18425D1826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C0205896-9943-6097-C783-9EA5C8C89B81}"/>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7920398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1C4F6D02-0314-BFCE-9FF1-7D1DB672BCBC}"/>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DC250FAD-E57A-051E-F643-287137E2739D}"/>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D362DE69-AA36-F39B-F96C-06CB007E90AB}"/>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690108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AE2ECC44-449B-7C3D-BA87-09FAB83B4D61}"/>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D2B60827-6075-7CC9-00E8-CE2067AF6CB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FAEF8D54-EBC4-963C-D353-0E125957691D}"/>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5620695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7B7CF240-34E6-2492-322F-890660AFA307}"/>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112FA7B7-01D3-FDD3-11EE-84360DEDF673}"/>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91A6BE18-FD5E-9766-BFF6-E765630923B4}"/>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089876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4FC6B936-FDE8-B7FE-B586-87BBFE1A805F}"/>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BDC986C4-E303-FB49-A819-DC0D6E7358B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FFFADA80-62A5-9C31-59D4-B939591DD0ED}"/>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66888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F0F4CF7D-50BD-8BFC-0390-30F5ABB81C09}"/>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41E0BA58-7EB9-8322-DEDD-188F9E96F5C0}"/>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3F6FFD7C-6103-4CEE-B250-4C00FF191053}"/>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497550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E2BC4343-7EB5-A7C2-B38B-5129E8C6D0AF}"/>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CCF1706F-F565-CFAD-3B88-BE644E322C2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0B049B46-16E7-E291-59F6-3EAE81DF4443}"/>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92917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E8B41FFB-5878-B091-C8A7-06A2C2386F79}"/>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B684A33A-17BC-9D49-D941-B7261D9DEA5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5E9FE5E4-FBDC-0E34-6731-57B9FB086937}"/>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2835806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100FB55E-4F20-1254-BD5E-954136710AEA}"/>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1110E3D4-FAB7-D4C1-2EDF-74305CCE1F3D}"/>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640F85F9-DC2E-1AB1-E559-343776C6EEF5}"/>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703692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013857A5-F82C-B319-2DEA-2A493883E341}"/>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43197419-51DF-D161-AA97-92D59EB6CCD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4B14C1A8-058B-37E6-05B4-A45920490AD0}"/>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075367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7BA58F28-A505-47CB-D728-511D56010981}"/>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EE49AFB4-A084-5236-65F1-B7E29E4884F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989A922C-D2BD-CF5A-54D0-FE2B339FDC4B}"/>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492624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3D271CB3-9F87-B84F-EBA9-E322869FE579}"/>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FCE4EA67-0635-BD17-B9CE-73EF91A08A56}"/>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67F7AEBA-2D4A-B37C-978F-5320316B4CB1}"/>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1846096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2BC8C274-AFCD-5FD4-9E87-A0503ABDAF5A}"/>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1760A40C-455B-D303-AED9-2223D8543DF3}"/>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0FD8F7A8-63B0-7E96-624B-E69BA182EAFC}"/>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094587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D59816EB-F8E9-5ABB-BB75-CB8EC5C2DC84}"/>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EC5796DF-EE96-3359-5F41-5317FEA04AD3}"/>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C17D046A-6B82-9881-13FD-6CB2DFF2465A}"/>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225758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4A552310-16B6-7F36-6ADF-C61FC372E596}"/>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85D77225-BDC4-FD35-4E2D-68E8288A0356}"/>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61FC37A2-5058-50D4-7F06-E0309353441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385676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6: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300" name="Google Shape;300;p16: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49E5CECF-D5BE-A4BE-6491-34D11109CA42}"/>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38D8653D-F24D-D498-477B-209872570DDA}"/>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8CB12E4A-8CD4-698D-BB3B-59EAFC25804A}"/>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42364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8: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328" name="Google Shape;328;p18: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and Content"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1675964" y="730259"/>
            <a:ext cx="21025723" cy="2651126"/>
          </a:xfrm>
          <a:prstGeom prst="rect">
            <a:avLst/>
          </a:prstGeom>
          <a:noFill/>
          <a:ln>
            <a:noFill/>
          </a:ln>
        </p:spPr>
        <p:txBody>
          <a:bodyPr spcFirstLastPara="1" wrap="square" lIns="182825" tIns="91400" rIns="182825" bIns="914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body" idx="1"/>
          </p:nvPr>
        </p:nvSpPr>
        <p:spPr>
          <a:xfrm>
            <a:off x="1675964" y="3651250"/>
            <a:ext cx="21025723" cy="8702676"/>
          </a:xfrm>
          <a:prstGeom prst="rect">
            <a:avLst/>
          </a:prstGeom>
          <a:noFill/>
          <a:ln>
            <a:noFill/>
          </a:ln>
        </p:spPr>
        <p:txBody>
          <a:bodyPr spcFirstLastPara="1" wrap="square" lIns="182825" tIns="91400" rIns="182825" bIns="914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18" name="Google Shape;18;p20"/>
          <p:cNvSpPr txBox="1">
            <a:spLocks noGrp="1"/>
          </p:cNvSpPr>
          <p:nvPr>
            <p:ph type="dt" idx="10"/>
          </p:nvPr>
        </p:nvSpPr>
        <p:spPr>
          <a:xfrm>
            <a:off x="1675964" y="12712709"/>
            <a:ext cx="5484971" cy="730250"/>
          </a:xfrm>
          <a:prstGeom prst="rect">
            <a:avLst/>
          </a:prstGeom>
          <a:noFill/>
          <a:ln>
            <a:noFill/>
          </a:ln>
        </p:spPr>
        <p:txBody>
          <a:bodyPr spcFirstLastPara="1" wrap="square" lIns="182825" tIns="91400" rIns="182825" bIns="914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8075097" y="12712709"/>
            <a:ext cx="8227457" cy="730250"/>
          </a:xfrm>
          <a:prstGeom prst="rect">
            <a:avLst/>
          </a:prstGeom>
          <a:noFill/>
          <a:ln>
            <a:noFill/>
          </a:ln>
        </p:spPr>
        <p:txBody>
          <a:bodyPr spcFirstLastPara="1" wrap="square" lIns="182825" tIns="91400" rIns="182825" bIns="914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17216715" y="12712709"/>
            <a:ext cx="5484971" cy="730250"/>
          </a:xfrm>
          <a:prstGeom prst="rect">
            <a:avLst/>
          </a:prstGeom>
          <a:noFill/>
          <a:ln>
            <a:noFill/>
          </a:ln>
        </p:spPr>
        <p:txBody>
          <a:bodyPr spcFirstLastPara="1" wrap="square" lIns="182825" tIns="91400" rIns="182825" bIns="91400" anchor="ctr" anchorCtr="0">
            <a:noAutofit/>
          </a:bodyPr>
          <a:lstStyle>
            <a:lvl1pPr marL="0" lvl="0" indent="0" algn="r">
              <a:spcBef>
                <a:spcPts val="0"/>
              </a:spcBef>
              <a:buNone/>
              <a:defRPr sz="2400" b="0" i="0" u="none" strike="noStrike" cap="none">
                <a:solidFill>
                  <a:srgbClr val="AAAAAA"/>
                </a:solidFill>
                <a:latin typeface="Raleway"/>
                <a:ea typeface="Raleway"/>
                <a:cs typeface="Raleway"/>
                <a:sym typeface="Raleway"/>
              </a:defRPr>
            </a:lvl1pPr>
            <a:lvl2pPr marL="0" lvl="1" indent="0" algn="r">
              <a:spcBef>
                <a:spcPts val="0"/>
              </a:spcBef>
              <a:buNone/>
              <a:defRPr sz="2400" b="0" i="0" u="none" strike="noStrike" cap="none">
                <a:solidFill>
                  <a:srgbClr val="AAAAAA"/>
                </a:solidFill>
                <a:latin typeface="Raleway"/>
                <a:ea typeface="Raleway"/>
                <a:cs typeface="Raleway"/>
                <a:sym typeface="Raleway"/>
              </a:defRPr>
            </a:lvl2pPr>
            <a:lvl3pPr marL="0" lvl="2" indent="0" algn="r">
              <a:spcBef>
                <a:spcPts val="0"/>
              </a:spcBef>
              <a:buNone/>
              <a:defRPr sz="2400" b="0" i="0" u="none" strike="noStrike" cap="none">
                <a:solidFill>
                  <a:srgbClr val="AAAAAA"/>
                </a:solidFill>
                <a:latin typeface="Raleway"/>
                <a:ea typeface="Raleway"/>
                <a:cs typeface="Raleway"/>
                <a:sym typeface="Raleway"/>
              </a:defRPr>
            </a:lvl3pPr>
            <a:lvl4pPr marL="0" lvl="3" indent="0" algn="r">
              <a:spcBef>
                <a:spcPts val="0"/>
              </a:spcBef>
              <a:buNone/>
              <a:defRPr sz="2400" b="0" i="0" u="none" strike="noStrike" cap="none">
                <a:solidFill>
                  <a:srgbClr val="AAAAAA"/>
                </a:solidFill>
                <a:latin typeface="Raleway"/>
                <a:ea typeface="Raleway"/>
                <a:cs typeface="Raleway"/>
                <a:sym typeface="Raleway"/>
              </a:defRPr>
            </a:lvl4pPr>
            <a:lvl5pPr marL="0" lvl="4" indent="0" algn="r">
              <a:spcBef>
                <a:spcPts val="0"/>
              </a:spcBef>
              <a:buNone/>
              <a:defRPr sz="2400" b="0" i="0" u="none" strike="noStrike" cap="none">
                <a:solidFill>
                  <a:srgbClr val="AAAAAA"/>
                </a:solidFill>
                <a:latin typeface="Raleway"/>
                <a:ea typeface="Raleway"/>
                <a:cs typeface="Raleway"/>
                <a:sym typeface="Raleway"/>
              </a:defRPr>
            </a:lvl5pPr>
            <a:lvl6pPr marL="0" lvl="5" indent="0" algn="r">
              <a:spcBef>
                <a:spcPts val="0"/>
              </a:spcBef>
              <a:buNone/>
              <a:defRPr sz="2400" b="0" i="0" u="none" strike="noStrike" cap="none">
                <a:solidFill>
                  <a:srgbClr val="AAAAAA"/>
                </a:solidFill>
                <a:latin typeface="Raleway"/>
                <a:ea typeface="Raleway"/>
                <a:cs typeface="Raleway"/>
                <a:sym typeface="Raleway"/>
              </a:defRPr>
            </a:lvl6pPr>
            <a:lvl7pPr marL="0" lvl="6" indent="0" algn="r">
              <a:spcBef>
                <a:spcPts val="0"/>
              </a:spcBef>
              <a:buNone/>
              <a:defRPr sz="2400" b="0" i="0" u="none" strike="noStrike" cap="none">
                <a:solidFill>
                  <a:srgbClr val="AAAAAA"/>
                </a:solidFill>
                <a:latin typeface="Raleway"/>
                <a:ea typeface="Raleway"/>
                <a:cs typeface="Raleway"/>
                <a:sym typeface="Raleway"/>
              </a:defRPr>
            </a:lvl7pPr>
            <a:lvl8pPr marL="0" lvl="7" indent="0" algn="r">
              <a:spcBef>
                <a:spcPts val="0"/>
              </a:spcBef>
              <a:buNone/>
              <a:defRPr sz="2400" b="0" i="0" u="none" strike="noStrike" cap="none">
                <a:solidFill>
                  <a:srgbClr val="AAAAAA"/>
                </a:solidFill>
                <a:latin typeface="Raleway"/>
                <a:ea typeface="Raleway"/>
                <a:cs typeface="Raleway"/>
                <a:sym typeface="Raleway"/>
              </a:defRPr>
            </a:lvl8pPr>
            <a:lvl9pPr marL="0" lvl="8" indent="0" algn="r">
              <a:spcBef>
                <a:spcPts val="0"/>
              </a:spcBef>
              <a:buNone/>
              <a:defRPr sz="2400" b="0" i="0" u="none" strike="noStrike" cap="none">
                <a:solidFill>
                  <a:srgbClr val="AAAAAA"/>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Default Slide">
  <p:cSld name="1_Default Slide">
    <p:spTree>
      <p:nvGrpSpPr>
        <p:cNvPr id="1" name="Shape 21"/>
        <p:cNvGrpSpPr/>
        <p:nvPr/>
      </p:nvGrpSpPr>
      <p:grpSpPr>
        <a:xfrm>
          <a:off x="0" y="0"/>
          <a:ext cx="0" cy="0"/>
          <a:chOff x="0" y="0"/>
          <a:chExt cx="0" cy="0"/>
        </a:xfrm>
      </p:grpSpPr>
      <p:sp>
        <p:nvSpPr>
          <p:cNvPr id="22" name="Google Shape;22;p21"/>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23" name="Google Shape;23;p21"/>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24" name="Google Shape;24;p21"/>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25" name="Google Shape;25;p21"/>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26" name="Google Shape;26;p21"/>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7" name="Google Shape;27;p21"/>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cons-set">
  <p:cSld name="Icons-set">
    <p:spTree>
      <p:nvGrpSpPr>
        <p:cNvPr id="1" name="Shape 2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xt two column with image">
  <p:cSld name="Text two column with image">
    <p:spTree>
      <p:nvGrpSpPr>
        <p:cNvPr id="1" name="Shape 29"/>
        <p:cNvGrpSpPr/>
        <p:nvPr/>
      </p:nvGrpSpPr>
      <p:grpSpPr>
        <a:xfrm>
          <a:off x="0" y="0"/>
          <a:ext cx="0" cy="0"/>
          <a:chOff x="0" y="0"/>
          <a:chExt cx="0" cy="0"/>
        </a:xfrm>
      </p:grpSpPr>
      <p:sp>
        <p:nvSpPr>
          <p:cNvPr id="30" name="Google Shape;30;p23"/>
          <p:cNvSpPr>
            <a:spLocks noGrp="1"/>
          </p:cNvSpPr>
          <p:nvPr>
            <p:ph type="pic" idx="2"/>
          </p:nvPr>
        </p:nvSpPr>
        <p:spPr>
          <a:xfrm>
            <a:off x="12431713" y="6451599"/>
            <a:ext cx="10223500" cy="5267325"/>
          </a:xfrm>
          <a:prstGeom prst="rect">
            <a:avLst/>
          </a:prstGeom>
          <a:noFill/>
          <a:ln>
            <a:noFill/>
          </a:ln>
        </p:spPr>
        <p:txBody>
          <a:bodyPr/>
          <a:lstStyle/>
          <a:p>
            <a:endParaRPr lang="en-IN"/>
          </a:p>
        </p:txBody>
      </p:sp>
      <p:sp>
        <p:nvSpPr>
          <p:cNvPr id="31" name="Google Shape;31;p23"/>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32" name="Google Shape;32;p23"/>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33" name="Google Shape;33;p23"/>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34" name="Google Shape;34;p23"/>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35" name="Google Shape;35;p23"/>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6" name="Google Shape;36;p23"/>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xt-with-picture">
  <p:cSld name="Text-with-picture">
    <p:spTree>
      <p:nvGrpSpPr>
        <p:cNvPr id="1" name="Shape 37"/>
        <p:cNvGrpSpPr/>
        <p:nvPr/>
      </p:nvGrpSpPr>
      <p:grpSpPr>
        <a:xfrm>
          <a:off x="0" y="0"/>
          <a:ext cx="0" cy="0"/>
          <a:chOff x="0" y="0"/>
          <a:chExt cx="0" cy="0"/>
        </a:xfrm>
      </p:grpSpPr>
      <p:sp>
        <p:nvSpPr>
          <p:cNvPr id="38" name="Google Shape;38;p24"/>
          <p:cNvSpPr>
            <a:spLocks noGrp="1"/>
          </p:cNvSpPr>
          <p:nvPr>
            <p:ph type="pic" idx="2"/>
          </p:nvPr>
        </p:nvSpPr>
        <p:spPr>
          <a:xfrm>
            <a:off x="1727869" y="3936081"/>
            <a:ext cx="10099006" cy="7219030"/>
          </a:xfrm>
          <a:prstGeom prst="rect">
            <a:avLst/>
          </a:prstGeom>
          <a:noFill/>
          <a:ln>
            <a:noFill/>
          </a:ln>
        </p:spPr>
        <p:txBody>
          <a:bodyPr/>
          <a:lstStyle/>
          <a:p>
            <a:endParaRPr lang="en-IN"/>
          </a:p>
        </p:txBody>
      </p:sp>
      <p:sp>
        <p:nvSpPr>
          <p:cNvPr id="39" name="Google Shape;39;p24"/>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40" name="Google Shape;40;p24"/>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41" name="Google Shape;41;p24"/>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42" name="Google Shape;42;p24"/>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43" name="Google Shape;43;p24"/>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44" name="Google Shape;44;p24"/>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ext-half-picture">
  <p:cSld name="1_Text-half-picture">
    <p:spTree>
      <p:nvGrpSpPr>
        <p:cNvPr id="1" name="Shape 45"/>
        <p:cNvGrpSpPr/>
        <p:nvPr/>
      </p:nvGrpSpPr>
      <p:grpSpPr>
        <a:xfrm>
          <a:off x="0" y="0"/>
          <a:ext cx="0" cy="0"/>
          <a:chOff x="0" y="0"/>
          <a:chExt cx="0" cy="0"/>
        </a:xfrm>
      </p:grpSpPr>
      <p:sp>
        <p:nvSpPr>
          <p:cNvPr id="46" name="Google Shape;46;p25"/>
          <p:cNvSpPr>
            <a:spLocks noGrp="1"/>
          </p:cNvSpPr>
          <p:nvPr>
            <p:ph type="pic" idx="2"/>
          </p:nvPr>
        </p:nvSpPr>
        <p:spPr>
          <a:xfrm>
            <a:off x="12147379" y="-13368"/>
            <a:ext cx="12277060" cy="13758556"/>
          </a:xfrm>
          <a:prstGeom prst="rect">
            <a:avLst/>
          </a:prstGeom>
          <a:noFill/>
          <a:ln>
            <a:noFill/>
          </a:ln>
        </p:spPr>
        <p:txBody>
          <a:bodyPr/>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Web Data Traffic">
  <p:cSld name="2_Web Data Traffic">
    <p:spTree>
      <p:nvGrpSpPr>
        <p:cNvPr id="1" name="Shape 47"/>
        <p:cNvGrpSpPr/>
        <p:nvPr/>
      </p:nvGrpSpPr>
      <p:grpSpPr>
        <a:xfrm>
          <a:off x="0" y="0"/>
          <a:ext cx="0" cy="0"/>
          <a:chOff x="0" y="0"/>
          <a:chExt cx="0" cy="0"/>
        </a:xfrm>
      </p:grpSpPr>
      <p:sp>
        <p:nvSpPr>
          <p:cNvPr id="48" name="Google Shape;48;p26"/>
          <p:cNvSpPr>
            <a:spLocks noGrp="1"/>
          </p:cNvSpPr>
          <p:nvPr>
            <p:ph type="pic" idx="2"/>
          </p:nvPr>
        </p:nvSpPr>
        <p:spPr>
          <a:xfrm>
            <a:off x="10047288" y="4925808"/>
            <a:ext cx="12590794" cy="7051880"/>
          </a:xfrm>
          <a:prstGeom prst="rect">
            <a:avLst/>
          </a:prstGeom>
          <a:noFill/>
          <a:ln>
            <a:noFill/>
          </a:ln>
        </p:spPr>
        <p:txBody>
          <a:bodyPr/>
          <a:lstStyle/>
          <a:p>
            <a:endParaRPr lang="en-IN"/>
          </a:p>
        </p:txBody>
      </p:sp>
      <p:sp>
        <p:nvSpPr>
          <p:cNvPr id="49" name="Google Shape;49;p26"/>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
        <p:nvSpPr>
          <p:cNvPr id="50" name="Google Shape;50;p26"/>
          <p:cNvSpPr/>
          <p:nvPr/>
        </p:nvSpPr>
        <p:spPr>
          <a:xfrm>
            <a:off x="22008874" y="131150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1" name="Google Shape;51;p26"/>
          <p:cNvSpPr/>
          <p:nvPr/>
        </p:nvSpPr>
        <p:spPr>
          <a:xfrm>
            <a:off x="22109816" y="131912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2" name="Google Shape;52;p26"/>
          <p:cNvSpPr/>
          <p:nvPr/>
        </p:nvSpPr>
        <p:spPr>
          <a:xfrm>
            <a:off x="22424919" y="131146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3" name="Google Shape;53;p26"/>
          <p:cNvSpPr/>
          <p:nvPr/>
        </p:nvSpPr>
        <p:spPr>
          <a:xfrm flipH="1">
            <a:off x="22517574" y="131908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4" name="Google Shape;54;p26"/>
          <p:cNvSpPr/>
          <p:nvPr/>
        </p:nvSpPr>
        <p:spPr>
          <a:xfrm>
            <a:off x="23229210" y="9637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55" name="Google Shape;55;p26"/>
          <p:cNvSpPr txBox="1"/>
          <p:nvPr/>
        </p:nvSpPr>
        <p:spPr>
          <a:xfrm>
            <a:off x="23162370" y="9720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App Design 01">
  <p:cSld name="1_App Design 01">
    <p:spTree>
      <p:nvGrpSpPr>
        <p:cNvPr id="1" name="Shape 56"/>
        <p:cNvGrpSpPr/>
        <p:nvPr/>
      </p:nvGrpSpPr>
      <p:grpSpPr>
        <a:xfrm>
          <a:off x="0" y="0"/>
          <a:ext cx="0" cy="0"/>
          <a:chOff x="0" y="0"/>
          <a:chExt cx="0" cy="0"/>
        </a:xfrm>
      </p:grpSpPr>
      <p:sp>
        <p:nvSpPr>
          <p:cNvPr id="57" name="Google Shape;57;p27"/>
          <p:cNvSpPr>
            <a:spLocks noGrp="1"/>
          </p:cNvSpPr>
          <p:nvPr>
            <p:ph type="pic" idx="2"/>
          </p:nvPr>
        </p:nvSpPr>
        <p:spPr>
          <a:xfrm>
            <a:off x="3740150" y="3922713"/>
            <a:ext cx="5360988" cy="7088975"/>
          </a:xfrm>
          <a:prstGeom prst="rect">
            <a:avLst/>
          </a:prstGeom>
          <a:noFill/>
          <a:ln>
            <a:noFill/>
          </a:ln>
        </p:spPr>
        <p:txBody>
          <a:bodyPr/>
          <a:lstStyle/>
          <a:p>
            <a:endParaRPr lang="en-IN"/>
          </a:p>
        </p:txBody>
      </p:sp>
      <p:sp>
        <p:nvSpPr>
          <p:cNvPr id="58" name="Google Shape;58;p27"/>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9" name="Google Shape;59;p27"/>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60" name="Google Shape;60;p27"/>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61" name="Google Shape;61;p27"/>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62" name="Google Shape;62;p27"/>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63" name="Google Shape;63;p27"/>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t-mockup">
  <p:cSld name="tablet-mockup">
    <p:spTree>
      <p:nvGrpSpPr>
        <p:cNvPr id="1" name="Shape 64"/>
        <p:cNvGrpSpPr/>
        <p:nvPr/>
      </p:nvGrpSpPr>
      <p:grpSpPr>
        <a:xfrm>
          <a:off x="0" y="0"/>
          <a:ext cx="0" cy="0"/>
          <a:chOff x="0" y="0"/>
          <a:chExt cx="0" cy="0"/>
        </a:xfrm>
      </p:grpSpPr>
      <p:sp>
        <p:nvSpPr>
          <p:cNvPr id="65" name="Google Shape;65;p28"/>
          <p:cNvSpPr>
            <a:spLocks noGrp="1"/>
          </p:cNvSpPr>
          <p:nvPr>
            <p:ph type="pic" idx="2"/>
          </p:nvPr>
        </p:nvSpPr>
        <p:spPr>
          <a:xfrm>
            <a:off x="4314768" y="4227044"/>
            <a:ext cx="4058313" cy="5455695"/>
          </a:xfrm>
          <a:prstGeom prst="rect">
            <a:avLst/>
          </a:prstGeom>
          <a:noFill/>
          <a:ln>
            <a:noFill/>
          </a:ln>
        </p:spPr>
        <p:txBody>
          <a:bodyPr/>
          <a:lstStyle/>
          <a:p>
            <a:endParaRPr lang="en-IN"/>
          </a:p>
        </p:txBody>
      </p:sp>
      <p:sp>
        <p:nvSpPr>
          <p:cNvPr id="66" name="Google Shape;66;p28"/>
          <p:cNvSpPr>
            <a:spLocks noGrp="1"/>
          </p:cNvSpPr>
          <p:nvPr>
            <p:ph type="pic" idx="3"/>
          </p:nvPr>
        </p:nvSpPr>
        <p:spPr>
          <a:xfrm>
            <a:off x="10144094" y="4227044"/>
            <a:ext cx="4156106" cy="5455695"/>
          </a:xfrm>
          <a:prstGeom prst="rect">
            <a:avLst/>
          </a:prstGeom>
          <a:noFill/>
          <a:ln>
            <a:noFill/>
          </a:ln>
        </p:spPr>
        <p:txBody>
          <a:bodyPr/>
          <a:lstStyle/>
          <a:p>
            <a:endParaRPr lang="en-IN"/>
          </a:p>
        </p:txBody>
      </p:sp>
      <p:sp>
        <p:nvSpPr>
          <p:cNvPr id="67" name="Google Shape;67;p28"/>
          <p:cNvSpPr>
            <a:spLocks noGrp="1"/>
          </p:cNvSpPr>
          <p:nvPr>
            <p:ph type="pic" idx="4"/>
          </p:nvPr>
        </p:nvSpPr>
        <p:spPr>
          <a:xfrm>
            <a:off x="15832183" y="4231071"/>
            <a:ext cx="4157617" cy="5455695"/>
          </a:xfrm>
          <a:prstGeom prst="rect">
            <a:avLst/>
          </a:prstGeom>
          <a:noFill/>
          <a:ln>
            <a:noFill/>
          </a:ln>
        </p:spPr>
        <p:txBody>
          <a:bodyPr/>
          <a:lstStyle/>
          <a:p>
            <a:endParaRPr lang="en-IN"/>
          </a:p>
        </p:txBody>
      </p:sp>
      <p:sp>
        <p:nvSpPr>
          <p:cNvPr id="68" name="Google Shape;68;p28"/>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69" name="Google Shape;69;p28"/>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70" name="Google Shape;70;p28"/>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71" name="Google Shape;71;p28"/>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72" name="Google Shape;72;p28"/>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73" name="Google Shape;73;p28"/>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Break-portfolio">
  <p:cSld name="Break-portfolio">
    <p:spTree>
      <p:nvGrpSpPr>
        <p:cNvPr id="1" name="Shape 74"/>
        <p:cNvGrpSpPr/>
        <p:nvPr/>
      </p:nvGrpSpPr>
      <p:grpSpPr>
        <a:xfrm>
          <a:off x="0" y="0"/>
          <a:ext cx="0" cy="0"/>
          <a:chOff x="0" y="0"/>
          <a:chExt cx="0" cy="0"/>
        </a:xfrm>
      </p:grpSpPr>
      <p:sp>
        <p:nvSpPr>
          <p:cNvPr id="75" name="Google Shape;75;p29"/>
          <p:cNvSpPr>
            <a:spLocks noGrp="1"/>
          </p:cNvSpPr>
          <p:nvPr>
            <p:ph type="pic" idx="2"/>
          </p:nvPr>
        </p:nvSpPr>
        <p:spPr>
          <a:xfrm>
            <a:off x="7486247" y="8009113"/>
            <a:ext cx="16973839" cy="5915759"/>
          </a:xfrm>
          <a:prstGeom prst="rect">
            <a:avLst/>
          </a:prstGeom>
          <a:noFill/>
          <a:ln>
            <a:noFill/>
          </a:ln>
        </p:spPr>
        <p:txBody>
          <a:bodyPr/>
          <a:lstStyle/>
          <a:p>
            <a:endParaRPr lang="en-IN"/>
          </a:p>
        </p:txBody>
      </p:sp>
      <p:sp>
        <p:nvSpPr>
          <p:cNvPr id="76" name="Google Shape;76;p29"/>
          <p:cNvSpPr>
            <a:spLocks noGrp="1"/>
          </p:cNvSpPr>
          <p:nvPr>
            <p:ph type="pic" idx="3"/>
          </p:nvPr>
        </p:nvSpPr>
        <p:spPr>
          <a:xfrm>
            <a:off x="10062517" y="-80212"/>
            <a:ext cx="14397569" cy="8133886"/>
          </a:xfrm>
          <a:prstGeom prst="rect">
            <a:avLst/>
          </a:prstGeom>
          <a:noFill/>
          <a:ln>
            <a:noFill/>
          </a:ln>
        </p:spPr>
        <p:txBody>
          <a:bodyPr/>
          <a:lstStyle/>
          <a:p>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2_Break-2">
  <p:cSld name="2_Break-2">
    <p:spTree>
      <p:nvGrpSpPr>
        <p:cNvPr id="1" name="Shape 77"/>
        <p:cNvGrpSpPr/>
        <p:nvPr/>
      </p:nvGrpSpPr>
      <p:grpSpPr>
        <a:xfrm>
          <a:off x="0" y="0"/>
          <a:ext cx="0" cy="0"/>
          <a:chOff x="0" y="0"/>
          <a:chExt cx="0" cy="0"/>
        </a:xfrm>
      </p:grpSpPr>
      <p:sp>
        <p:nvSpPr>
          <p:cNvPr id="78" name="Google Shape;78;p30"/>
          <p:cNvSpPr>
            <a:spLocks noGrp="1"/>
          </p:cNvSpPr>
          <p:nvPr>
            <p:ph type="pic" idx="2"/>
          </p:nvPr>
        </p:nvSpPr>
        <p:spPr>
          <a:xfrm>
            <a:off x="0" y="-26736"/>
            <a:ext cx="24404390" cy="13836316"/>
          </a:xfrm>
          <a:prstGeom prst="rect">
            <a:avLst/>
          </a:prstGeom>
          <a:noFill/>
          <a:ln>
            <a:no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1675964" y="730259"/>
            <a:ext cx="21025723" cy="2651126"/>
          </a:xfrm>
          <a:prstGeom prst="rect">
            <a:avLst/>
          </a:prstGeom>
          <a:noFill/>
          <a:ln>
            <a:noFill/>
          </a:ln>
        </p:spPr>
        <p:txBody>
          <a:bodyPr spcFirstLastPara="1" wrap="square" lIns="182825" tIns="91400" rIns="182825" bIns="91400" anchor="ctr" anchorCtr="0">
            <a:normAutofit/>
          </a:bodyPr>
          <a:lstStyle>
            <a:lvl1pPr marR="0" lvl="0" algn="l" rtl="0">
              <a:lnSpc>
                <a:spcPct val="90000"/>
              </a:lnSpc>
              <a:spcBef>
                <a:spcPts val="0"/>
              </a:spcBef>
              <a:spcAft>
                <a:spcPts val="0"/>
              </a:spcAft>
              <a:buClr>
                <a:schemeClr val="dk1"/>
              </a:buClr>
              <a:buSzPts val="6000"/>
              <a:buFont typeface="Lato"/>
              <a:buNone/>
              <a:defRPr sz="60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1675964" y="3651250"/>
            <a:ext cx="21025723" cy="8702676"/>
          </a:xfrm>
          <a:prstGeom prst="rect">
            <a:avLst/>
          </a:prstGeom>
          <a:noFill/>
          <a:ln>
            <a:noFill/>
          </a:ln>
        </p:spPr>
        <p:txBody>
          <a:bodyPr spcFirstLastPara="1" wrap="square" lIns="182825" tIns="91400" rIns="182825" bIns="91400" anchor="t" anchorCtr="0">
            <a:normAutofit/>
          </a:bodyPr>
          <a:lstStyle>
            <a:lvl1pPr marL="457200" marR="0" lvl="0" indent="-533400" algn="l" rtl="0">
              <a:lnSpc>
                <a:spcPct val="90000"/>
              </a:lnSpc>
              <a:spcBef>
                <a:spcPts val="2000"/>
              </a:spcBef>
              <a:spcAft>
                <a:spcPts val="0"/>
              </a:spcAft>
              <a:buClr>
                <a:schemeClr val="dk1"/>
              </a:buClr>
              <a:buSzPts val="4800"/>
              <a:buFont typeface="Arial"/>
              <a:buChar char="•"/>
              <a:defRPr sz="4800" b="0" i="0" u="none" strike="noStrike" cap="none">
                <a:solidFill>
                  <a:schemeClr val="dk1"/>
                </a:solidFill>
                <a:latin typeface="Lato"/>
                <a:ea typeface="Lato"/>
                <a:cs typeface="Lato"/>
                <a:sym typeface="Lato"/>
              </a:defRPr>
            </a:lvl1pPr>
            <a:lvl2pPr marL="914400" marR="0" lvl="1" indent="-482600" algn="l" rtl="0">
              <a:lnSpc>
                <a:spcPct val="90000"/>
              </a:lnSpc>
              <a:spcBef>
                <a:spcPts val="1000"/>
              </a:spcBef>
              <a:spcAft>
                <a:spcPts val="0"/>
              </a:spcAft>
              <a:buClr>
                <a:schemeClr val="dk1"/>
              </a:buClr>
              <a:buSzPts val="4000"/>
              <a:buFont typeface="Arial"/>
              <a:buChar char="•"/>
              <a:defRPr sz="4000" b="0" i="0" u="none" strike="noStrike" cap="none">
                <a:solidFill>
                  <a:schemeClr val="dk1"/>
                </a:solidFill>
                <a:latin typeface="Lato"/>
                <a:ea typeface="Lato"/>
                <a:cs typeface="Lato"/>
                <a:sym typeface="Lato"/>
              </a:defRPr>
            </a:lvl2pPr>
            <a:lvl3pPr marL="1371600" marR="0" lvl="2"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a:ea typeface="Lato"/>
                <a:cs typeface="Lato"/>
                <a:sym typeface="Lato"/>
              </a:defRPr>
            </a:lvl3pPr>
            <a:lvl4pPr marL="1828800" marR="0" lvl="3"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Lato"/>
                <a:ea typeface="Lato"/>
                <a:cs typeface="Lato"/>
                <a:sym typeface="Lato"/>
              </a:defRPr>
            </a:lvl4pPr>
            <a:lvl5pPr marL="2286000" marR="0" lvl="4"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Lato"/>
                <a:ea typeface="Lato"/>
                <a:cs typeface="Lato"/>
                <a:sym typeface="Lato"/>
              </a:defRPr>
            </a:lvl5pPr>
            <a:lvl6pPr marL="2743200" marR="0" lvl="5"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Light"/>
                <a:ea typeface="Lato Light"/>
                <a:cs typeface="Lato Light"/>
                <a:sym typeface="Lato Light"/>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Light"/>
                <a:ea typeface="Lato Light"/>
                <a:cs typeface="Lato Light"/>
                <a:sym typeface="Lato Light"/>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Light"/>
                <a:ea typeface="Lato Light"/>
                <a:cs typeface="Lato Light"/>
                <a:sym typeface="Lato Light"/>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Light"/>
                <a:ea typeface="Lato Light"/>
                <a:cs typeface="Lato Light"/>
                <a:sym typeface="Lato Light"/>
              </a:defRPr>
            </a:lvl9pPr>
          </a:lstStyle>
          <a:p>
            <a:endParaRPr/>
          </a:p>
        </p:txBody>
      </p:sp>
      <p:sp>
        <p:nvSpPr>
          <p:cNvPr id="12" name="Google Shape;12;p19"/>
          <p:cNvSpPr txBox="1">
            <a:spLocks noGrp="1"/>
          </p:cNvSpPr>
          <p:nvPr>
            <p:ph type="dt" idx="10"/>
          </p:nvPr>
        </p:nvSpPr>
        <p:spPr>
          <a:xfrm>
            <a:off x="1675964" y="12712709"/>
            <a:ext cx="5484971" cy="730250"/>
          </a:xfrm>
          <a:prstGeom prst="rect">
            <a:avLst/>
          </a:prstGeom>
          <a:noFill/>
          <a:ln>
            <a:noFill/>
          </a:ln>
        </p:spPr>
        <p:txBody>
          <a:bodyPr spcFirstLastPara="1" wrap="square" lIns="182825" tIns="91400" rIns="182825" bIns="91400" anchor="ctr" anchorCtr="0">
            <a:noAutofit/>
          </a:bodyPr>
          <a:lstStyle>
            <a:lvl1pPr marR="0" lvl="0" algn="l" rtl="0">
              <a:spcBef>
                <a:spcPts val="0"/>
              </a:spcBef>
              <a:spcAft>
                <a:spcPts val="0"/>
              </a:spcAft>
              <a:buSzPts val="1400"/>
              <a:buNone/>
              <a:defRPr sz="2400" b="0" i="0" u="none" strike="noStrike" cap="none">
                <a:solidFill>
                  <a:srgbClr val="AAAAAA"/>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2pPr>
            <a:lvl3pPr marR="0" lvl="2"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3pPr>
            <a:lvl4pPr marR="0" lvl="3"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4pPr>
            <a:lvl5pPr marR="0" lvl="4"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5pPr>
            <a:lvl6pPr marR="0" lvl="5"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6pPr>
            <a:lvl7pPr marR="0" lvl="6"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7pPr>
            <a:lvl8pPr marR="0" lvl="7"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8pPr>
            <a:lvl9pPr marR="0" lvl="8"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9pPr>
          </a:lstStyle>
          <a:p>
            <a:endParaRPr/>
          </a:p>
        </p:txBody>
      </p:sp>
      <p:sp>
        <p:nvSpPr>
          <p:cNvPr id="13" name="Google Shape;13;p19"/>
          <p:cNvSpPr txBox="1">
            <a:spLocks noGrp="1"/>
          </p:cNvSpPr>
          <p:nvPr>
            <p:ph type="ftr" idx="11"/>
          </p:nvPr>
        </p:nvSpPr>
        <p:spPr>
          <a:xfrm>
            <a:off x="8075097" y="12712709"/>
            <a:ext cx="8227457" cy="730250"/>
          </a:xfrm>
          <a:prstGeom prst="rect">
            <a:avLst/>
          </a:prstGeom>
          <a:noFill/>
          <a:ln>
            <a:noFill/>
          </a:ln>
        </p:spPr>
        <p:txBody>
          <a:bodyPr spcFirstLastPara="1" wrap="square" lIns="182825" tIns="91400" rIns="182825" bIns="91400" anchor="ctr" anchorCtr="0">
            <a:noAutofit/>
          </a:bodyPr>
          <a:lstStyle>
            <a:lvl1pPr marR="0" lvl="0" algn="ctr" rtl="0">
              <a:spcBef>
                <a:spcPts val="0"/>
              </a:spcBef>
              <a:spcAft>
                <a:spcPts val="0"/>
              </a:spcAft>
              <a:buSzPts val="1400"/>
              <a:buNone/>
              <a:defRPr sz="2400" b="0" i="0" u="none" strike="noStrike" cap="none">
                <a:solidFill>
                  <a:srgbClr val="AAAAAA"/>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2pPr>
            <a:lvl3pPr marR="0" lvl="2"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3pPr>
            <a:lvl4pPr marR="0" lvl="3"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4pPr>
            <a:lvl5pPr marR="0" lvl="4"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5pPr>
            <a:lvl6pPr marR="0" lvl="5"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6pPr>
            <a:lvl7pPr marR="0" lvl="6"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7pPr>
            <a:lvl8pPr marR="0" lvl="7"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8pPr>
            <a:lvl9pPr marR="0" lvl="8"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9pPr>
          </a:lstStyle>
          <a:p>
            <a:endParaRPr/>
          </a:p>
        </p:txBody>
      </p:sp>
      <p:sp>
        <p:nvSpPr>
          <p:cNvPr id="14" name="Google Shape;14;p19"/>
          <p:cNvSpPr txBox="1">
            <a:spLocks noGrp="1"/>
          </p:cNvSpPr>
          <p:nvPr>
            <p:ph type="sldNum" idx="12"/>
          </p:nvPr>
        </p:nvSpPr>
        <p:spPr>
          <a:xfrm>
            <a:off x="17216715" y="12712709"/>
            <a:ext cx="5484971" cy="730250"/>
          </a:xfrm>
          <a:prstGeom prst="rect">
            <a:avLst/>
          </a:prstGeom>
          <a:noFill/>
          <a:ln>
            <a:noFill/>
          </a:ln>
        </p:spPr>
        <p:txBody>
          <a:bodyPr spcFirstLastPara="1" wrap="square" lIns="182825" tIns="91400" rIns="182825" bIns="91400" anchor="ctr" anchorCtr="0">
            <a:noAutofit/>
          </a:bodyPr>
          <a:lstStyle>
            <a:lvl1pPr marL="0" marR="0" lvl="0" indent="0" algn="r" rtl="0">
              <a:spcBef>
                <a:spcPts val="0"/>
              </a:spcBef>
              <a:buNone/>
              <a:defRPr sz="2400" b="0" i="0" u="none" strike="noStrike" cap="none">
                <a:solidFill>
                  <a:srgbClr val="AAAAAA"/>
                </a:solidFill>
                <a:latin typeface="Raleway"/>
                <a:ea typeface="Raleway"/>
                <a:cs typeface="Raleway"/>
                <a:sym typeface="Raleway"/>
              </a:defRPr>
            </a:lvl1pPr>
            <a:lvl2pPr marL="0" marR="0" lvl="1" indent="0" algn="r" rtl="0">
              <a:spcBef>
                <a:spcPts val="0"/>
              </a:spcBef>
              <a:buNone/>
              <a:defRPr sz="2400" b="0" i="0" u="none" strike="noStrike" cap="none">
                <a:solidFill>
                  <a:srgbClr val="AAAAAA"/>
                </a:solidFill>
                <a:latin typeface="Raleway"/>
                <a:ea typeface="Raleway"/>
                <a:cs typeface="Raleway"/>
                <a:sym typeface="Raleway"/>
              </a:defRPr>
            </a:lvl2pPr>
            <a:lvl3pPr marL="0" marR="0" lvl="2" indent="0" algn="r" rtl="0">
              <a:spcBef>
                <a:spcPts val="0"/>
              </a:spcBef>
              <a:buNone/>
              <a:defRPr sz="2400" b="0" i="0" u="none" strike="noStrike" cap="none">
                <a:solidFill>
                  <a:srgbClr val="AAAAAA"/>
                </a:solidFill>
                <a:latin typeface="Raleway"/>
                <a:ea typeface="Raleway"/>
                <a:cs typeface="Raleway"/>
                <a:sym typeface="Raleway"/>
              </a:defRPr>
            </a:lvl3pPr>
            <a:lvl4pPr marL="0" marR="0" lvl="3" indent="0" algn="r" rtl="0">
              <a:spcBef>
                <a:spcPts val="0"/>
              </a:spcBef>
              <a:buNone/>
              <a:defRPr sz="2400" b="0" i="0" u="none" strike="noStrike" cap="none">
                <a:solidFill>
                  <a:srgbClr val="AAAAAA"/>
                </a:solidFill>
                <a:latin typeface="Raleway"/>
                <a:ea typeface="Raleway"/>
                <a:cs typeface="Raleway"/>
                <a:sym typeface="Raleway"/>
              </a:defRPr>
            </a:lvl4pPr>
            <a:lvl5pPr marL="0" marR="0" lvl="4" indent="0" algn="r" rtl="0">
              <a:spcBef>
                <a:spcPts val="0"/>
              </a:spcBef>
              <a:buNone/>
              <a:defRPr sz="2400" b="0" i="0" u="none" strike="noStrike" cap="none">
                <a:solidFill>
                  <a:srgbClr val="AAAAAA"/>
                </a:solidFill>
                <a:latin typeface="Raleway"/>
                <a:ea typeface="Raleway"/>
                <a:cs typeface="Raleway"/>
                <a:sym typeface="Raleway"/>
              </a:defRPr>
            </a:lvl5pPr>
            <a:lvl6pPr marL="0" marR="0" lvl="5" indent="0" algn="r" rtl="0">
              <a:spcBef>
                <a:spcPts val="0"/>
              </a:spcBef>
              <a:buNone/>
              <a:defRPr sz="2400" b="0" i="0" u="none" strike="noStrike" cap="none">
                <a:solidFill>
                  <a:srgbClr val="AAAAAA"/>
                </a:solidFill>
                <a:latin typeface="Raleway"/>
                <a:ea typeface="Raleway"/>
                <a:cs typeface="Raleway"/>
                <a:sym typeface="Raleway"/>
              </a:defRPr>
            </a:lvl6pPr>
            <a:lvl7pPr marL="0" marR="0" lvl="6" indent="0" algn="r" rtl="0">
              <a:spcBef>
                <a:spcPts val="0"/>
              </a:spcBef>
              <a:buNone/>
              <a:defRPr sz="2400" b="0" i="0" u="none" strike="noStrike" cap="none">
                <a:solidFill>
                  <a:srgbClr val="AAAAAA"/>
                </a:solidFill>
                <a:latin typeface="Raleway"/>
                <a:ea typeface="Raleway"/>
                <a:cs typeface="Raleway"/>
                <a:sym typeface="Raleway"/>
              </a:defRPr>
            </a:lvl7pPr>
            <a:lvl8pPr marL="0" marR="0" lvl="7" indent="0" algn="r" rtl="0">
              <a:spcBef>
                <a:spcPts val="0"/>
              </a:spcBef>
              <a:buNone/>
              <a:defRPr sz="2400" b="0" i="0" u="none" strike="noStrike" cap="none">
                <a:solidFill>
                  <a:srgbClr val="AAAAAA"/>
                </a:solidFill>
                <a:latin typeface="Raleway"/>
                <a:ea typeface="Raleway"/>
                <a:cs typeface="Raleway"/>
                <a:sym typeface="Raleway"/>
              </a:defRPr>
            </a:lvl8pPr>
            <a:lvl9pPr marL="0" marR="0" lvl="8" indent="0" algn="r" rtl="0">
              <a:spcBef>
                <a:spcPts val="0"/>
              </a:spcBef>
              <a:buNone/>
              <a:defRPr sz="2400" b="0" i="0" u="none" strike="noStrike" cap="none">
                <a:solidFill>
                  <a:srgbClr val="AAAAAA"/>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ieeexplore.ieee.org/document/10048834/?utm_source=chatgpt.com" TargetMode="External"/><Relationship Id="rId13" Type="http://schemas.openxmlformats.org/officeDocument/2006/relationships/hyperlink" Target="https://onlinelibrary.wiley.com/doi/10.1155/2022/9930613?utm_source=chatgpt.com" TargetMode="External"/><Relationship Id="rId3" Type="http://schemas.openxmlformats.org/officeDocument/2006/relationships/image" Target="../media/image1.jpg"/><Relationship Id="rId7" Type="http://schemas.openxmlformats.org/officeDocument/2006/relationships/hyperlink" Target="https://onlinelibrary.wiley.com/doi/10.1155/2022/9930613?utm_source=chatgpt.com" TargetMode="External"/><Relationship Id="rId12" Type="http://schemas.openxmlformats.org/officeDocument/2006/relationships/hyperlink" Target="https://www.sciencedirect.com/science/article/pii/S1319157819309802?utm_source=chatgpt.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sciencedirect.com/science/article/pii/S1319157819309802?utm_source=chatgpt.com" TargetMode="External"/><Relationship Id="rId11" Type="http://schemas.openxmlformats.org/officeDocument/2006/relationships/image" Target="../media/image2.png"/><Relationship Id="rId5" Type="http://schemas.openxmlformats.org/officeDocument/2006/relationships/hyperlink" Target="https://www.ijcai.org/proceedings/2017/243?utm_source=chatgpt.com" TargetMode="External"/><Relationship Id="rId10" Type="http://schemas.openxmlformats.org/officeDocument/2006/relationships/hyperlink" Target="https://www.ijcai.org/proceedings/2017/243?utm_source=chatgpt.com" TargetMode="External"/><Relationship Id="rId4" Type="http://schemas.openxmlformats.org/officeDocument/2006/relationships/hyperlink" Target="https://proceedings.mlr.press/v48/xieb16.html?utm_source=chatgpt.com" TargetMode="External"/><Relationship Id="rId9" Type="http://schemas.openxmlformats.org/officeDocument/2006/relationships/hyperlink" Target="https://proceedings.mlr.press/v48/xieb16.html?utm_source=chatgpt.com" TargetMode="External"/><Relationship Id="rId14" Type="http://schemas.openxmlformats.org/officeDocument/2006/relationships/hyperlink" Target="https://ieeexplore.ieee.org/document/10048834/?utm_source=chatgpt.com"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jpg"/><Relationship Id="rId7" Type="http://schemas.openxmlformats.org/officeDocument/2006/relationships/hyperlink" Target="https://www.tci-thaijo.org/en/articles/social03-299053?utm_source=chatgpt.com" TargetMode="External"/><Relationship Id="rId12" Type="http://schemas.openxmlformats.org/officeDocument/2006/relationships/hyperlink" Target="https://www.tci-thaijo.org/en/articles/social03-299053?utm_source=chatgpt.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sciencedirect.com/science/article/pii/S1110016825009755?utm_source=chatgpt.com" TargetMode="External"/><Relationship Id="rId11" Type="http://schemas.openxmlformats.org/officeDocument/2006/relationships/hyperlink" Target="https://www.sciencedirect.com/science/article/pii/S1110016825009755?utm_source=chatgpt.com" TargetMode="External"/><Relationship Id="rId5" Type="http://schemas.openxmlformats.org/officeDocument/2006/relationships/hyperlink" Target="https://doi.org/10.1007/s11135-025-02259-8?utm_source=chatgpt.com" TargetMode="External"/><Relationship Id="rId10" Type="http://schemas.openxmlformats.org/officeDocument/2006/relationships/hyperlink" Target="https://doi.org/10.1007/s11135-025-02259-8?utm_source=chatgpt.com" TargetMode="External"/><Relationship Id="rId4" Type="http://schemas.openxmlformats.org/officeDocument/2006/relationships/hyperlink" Target="https://doi.org/10.18311/jbt/2024/44468?utm_source=chatgpt.com" TargetMode="External"/><Relationship Id="rId9" Type="http://schemas.openxmlformats.org/officeDocument/2006/relationships/hyperlink" Target="https://doi.org/10.18311/jbt/2024/44468?utm_source=chatgpt.com"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journal.jci.co.id/jisbt/article/view/473?utm_source=chatgpt.com" TargetMode="External"/><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link.springer.com/article/10.1007/s10791-026-10421-5?utm_source=chatgpt.com" TargetMode="External"/><Relationship Id="rId5" Type="http://schemas.openxmlformats.org/officeDocument/2006/relationships/hyperlink" Target="https://www.sciencedirect.com/science/article/pii/S1877050926024439?utm_source=chatgpt.com" TargetMode="External"/><Relationship Id="rId10" Type="http://schemas.openxmlformats.org/officeDocument/2006/relationships/hyperlink" Target="https://link.springer.com/article/10.1007/s10791-026-10421-5?utm_source=chatgpt.com" TargetMode="External"/><Relationship Id="rId4" Type="http://schemas.openxmlformats.org/officeDocument/2006/relationships/hyperlink" Target="https://journal.jci.co.id/jisbt/article/view/473?utm_source=chatgpt.com" TargetMode="External"/><Relationship Id="rId9" Type="http://schemas.openxmlformats.org/officeDocument/2006/relationships/hyperlink" Target="https://www.sciencedirect.com/science/article/pii/S1877050926024439?utm_source=chatgpt.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jp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8" Type="http://schemas.openxmlformats.org/officeDocument/2006/relationships/hyperlink" Target="https://ieeexplore.ieee.org/document/10048834" TargetMode="External"/><Relationship Id="rId3" Type="http://schemas.openxmlformats.org/officeDocument/2006/relationships/image" Target="../media/image1.jpg"/><Relationship Id="rId7" Type="http://schemas.openxmlformats.org/officeDocument/2006/relationships/hyperlink" Target="https://onlinelibrary.wiley.com/doi/10.1155/2022/9930613"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hyperlink" Target="https://www.researchgate.net/publication/338162073_RFM_model_for_Customer_Purchase_Behavior_using_K-Means_Algorithm" TargetMode="External"/><Relationship Id="rId5" Type="http://schemas.openxmlformats.org/officeDocument/2006/relationships/hyperlink" Target="https://www.ijcai.org/proceedings/2017/0243.pdf" TargetMode="External"/><Relationship Id="rId10" Type="http://schemas.openxmlformats.org/officeDocument/2006/relationships/hyperlink" Target="https://doi.org/10.18311/jbt/2024/44468" TargetMode="External"/><Relationship Id="rId4" Type="http://schemas.openxmlformats.org/officeDocument/2006/relationships/hyperlink" Target="https://proceedings.mlr.press/v48/xieb16.pdf" TargetMode="External"/><Relationship Id="rId9" Type="http://schemas.openxmlformats.org/officeDocument/2006/relationships/hyperlink" Target="https://www.researchgate.net/publication/387284033_A_Study_on_Micro-Segmentation_of_Retail_Customers_Using_K-Means_Clustering"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journal.jci.co.id/jisbt/article/view/473/193" TargetMode="External"/><Relationship Id="rId3" Type="http://schemas.openxmlformats.org/officeDocument/2006/relationships/image" Target="../media/image1.jpg"/><Relationship Id="rId7" Type="http://schemas.openxmlformats.org/officeDocument/2006/relationships/hyperlink" Target="https://doi.org/10.53848/jlsco.v12i2.299053"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so03.tci-thaijo.org/index.php/Logis_j/article/view/299053/195815" TargetMode="External"/><Relationship Id="rId11" Type="http://schemas.openxmlformats.org/officeDocument/2006/relationships/hyperlink" Target="https://cris.vtt.fi/ws/portalfiles/portal/139996294/s10791-026-10421-5.pdf" TargetMode="External"/><Relationship Id="rId5" Type="http://schemas.openxmlformats.org/officeDocument/2006/relationships/hyperlink" Target="https://www.sciencedirect.com/science/article/pii/S1110016825009755" TargetMode="External"/><Relationship Id="rId10" Type="http://schemas.openxmlformats.org/officeDocument/2006/relationships/hyperlink" Target="https://www.sciencedirect.com/science/article/pii/S1877050926024439" TargetMode="External"/><Relationship Id="rId4" Type="http://schemas.openxmlformats.org/officeDocument/2006/relationships/hyperlink" Target="https://doi.org/10.1007/s11135-025-02259-8" TargetMode="External"/><Relationship Id="rId9" Type="http://schemas.openxmlformats.org/officeDocument/2006/relationships/hyperlink" Target="https://journal.jci.co.id/jisbt/article/view/473"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457200" y="3415264"/>
            <a:ext cx="23355300" cy="2911643"/>
          </a:xfrm>
          <a:custGeom>
            <a:avLst/>
            <a:gdLst/>
            <a:ahLst/>
            <a:cxnLst/>
            <a:rect l="l" t="t" r="r" b="b"/>
            <a:pathLst>
              <a:path w="21600" h="21600" extrusionOk="0">
                <a:moveTo>
                  <a:pt x="0" y="0"/>
                </a:moveTo>
                <a:lnTo>
                  <a:pt x="21599" y="0"/>
                </a:lnTo>
                <a:lnTo>
                  <a:pt x="21599" y="21600"/>
                </a:lnTo>
                <a:lnTo>
                  <a:pt x="0" y="21600"/>
                </a:lnTo>
                <a:close/>
              </a:path>
            </a:pathLst>
          </a:custGeom>
          <a:solidFill>
            <a:srgbClr val="FDC5A1"/>
          </a:solidFill>
          <a:ln>
            <a:noFill/>
          </a:ln>
        </p:spPr>
        <p:txBody>
          <a:bodyPr spcFirstLastPara="1" wrap="square" lIns="50775" tIns="50775" rIns="50775" bIns="50775" anchor="ctr" anchorCtr="0">
            <a:noAutofit/>
          </a:bodyPr>
          <a:lstStyle/>
          <a:p>
            <a:pPr lvl="0" algn="ctr"/>
            <a:r>
              <a:rPr lang="en-US" sz="6000" dirty="0"/>
              <a:t>An Intelligent AI-Driven Framework for E-Commerce Customer Segmentation</a:t>
            </a:r>
            <a:endParaRPr sz="6000" b="0" i="0" u="none" strike="noStrike" cap="none" dirty="0">
              <a:solidFill>
                <a:schemeClr val="dk2"/>
              </a:solidFill>
              <a:latin typeface="Times New Roman" panose="02020603050405020304" pitchFamily="18" charset="0"/>
              <a:ea typeface="Times New Roman"/>
              <a:cs typeface="Times New Roman" panose="02020603050405020304" pitchFamily="18" charset="0"/>
              <a:sym typeface="Times New Roman"/>
            </a:endParaRPr>
          </a:p>
        </p:txBody>
      </p:sp>
      <p:sp>
        <p:nvSpPr>
          <p:cNvPr id="85" name="Google Shape;85;p1"/>
          <p:cNvSpPr/>
          <p:nvPr/>
        </p:nvSpPr>
        <p:spPr>
          <a:xfrm>
            <a:off x="832558" y="8719503"/>
            <a:ext cx="16143059" cy="2911642"/>
          </a:xfrm>
          <a:custGeom>
            <a:avLst/>
            <a:gdLst/>
            <a:ahLst/>
            <a:cxnLst/>
            <a:rect l="l" t="t" r="r" b="b"/>
            <a:pathLst>
              <a:path w="21600" h="21600" extrusionOk="0">
                <a:moveTo>
                  <a:pt x="0" y="0"/>
                </a:moveTo>
                <a:lnTo>
                  <a:pt x="21599" y="0"/>
                </a:lnTo>
                <a:lnTo>
                  <a:pt x="21599" y="21599"/>
                </a:lnTo>
                <a:lnTo>
                  <a:pt x="0" y="21599"/>
                </a:lnTo>
                <a:close/>
              </a:path>
            </a:pathLst>
          </a:cu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None/>
            </a:pPr>
            <a:r>
              <a:rPr lang="en-US" sz="4000" b="1" i="0" u="none" strike="noStrike" cap="none" dirty="0">
                <a:solidFill>
                  <a:srgbClr val="002060"/>
                </a:solidFill>
                <a:latin typeface="Times New Roman" panose="02020603050405020304" pitchFamily="18" charset="0"/>
                <a:ea typeface="Times New Roman"/>
                <a:cs typeface="Times New Roman" panose="02020603050405020304" pitchFamily="18" charset="0"/>
                <a:sym typeface="Times New Roman"/>
              </a:rPr>
              <a:t>Presented By:</a:t>
            </a:r>
            <a:endParaRPr dirty="0">
              <a:solidFill>
                <a:srgbClr val="002060"/>
              </a:solidFill>
              <a:latin typeface="Times New Roman" panose="02020603050405020304" pitchFamily="18" charset="0"/>
              <a:cs typeface="Times New Roman" panose="02020603050405020304" pitchFamily="18" charset="0"/>
            </a:endParaRPr>
          </a:p>
          <a:p>
            <a:pPr marL="0" marR="0" lvl="0" indent="0" algn="just" rtl="0">
              <a:lnSpc>
                <a:spcPct val="70000"/>
              </a:lnSpc>
              <a:spcBef>
                <a:spcPts val="1700"/>
              </a:spcBef>
              <a:spcAft>
                <a:spcPts val="0"/>
              </a:spcAft>
              <a:buNone/>
            </a:pPr>
            <a:r>
              <a:rPr lang="en-US" sz="3600" b="1"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rPr>
              <a:t>Student Name: </a:t>
            </a:r>
            <a:r>
              <a:rPr lang="en-US" sz="3600" b="1" dirty="0">
                <a:solidFill>
                  <a:schemeClr val="accent6"/>
                </a:solidFill>
                <a:latin typeface="Times New Roman" panose="02020603050405020304" pitchFamily="18" charset="0"/>
                <a:ea typeface="Times New Roman"/>
                <a:cs typeface="Times New Roman" panose="02020603050405020304" pitchFamily="18" charset="0"/>
                <a:sym typeface="Times New Roman"/>
              </a:rPr>
              <a:t> Abhinav Masih - 01</a:t>
            </a:r>
          </a:p>
          <a:p>
            <a:pPr marL="0" marR="0" lvl="0" indent="0" algn="just" rtl="0">
              <a:lnSpc>
                <a:spcPct val="70000"/>
              </a:lnSpc>
              <a:spcBef>
                <a:spcPts val="1700"/>
              </a:spcBef>
              <a:spcAft>
                <a:spcPts val="0"/>
              </a:spcAft>
              <a:buNone/>
            </a:pPr>
            <a:r>
              <a:rPr lang="en-US" sz="3600" b="1"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rPr>
              <a:t>                            Anaisha bulchandani – 07</a:t>
            </a:r>
          </a:p>
          <a:p>
            <a:pPr algn="just">
              <a:lnSpc>
                <a:spcPct val="70000"/>
              </a:lnSpc>
              <a:spcBef>
                <a:spcPts val="1700"/>
              </a:spcBef>
            </a:pPr>
            <a:r>
              <a:rPr lang="en-US" sz="3600" b="1" dirty="0">
                <a:solidFill>
                  <a:schemeClr val="accent6"/>
                </a:solidFill>
                <a:latin typeface="Times New Roman" panose="02020603050405020304" pitchFamily="18" charset="0"/>
                <a:ea typeface="Times New Roman"/>
                <a:cs typeface="Times New Roman" panose="02020603050405020304" pitchFamily="18" charset="0"/>
                <a:sym typeface="Times New Roman"/>
              </a:rPr>
              <a:t>                            Sanchay Bathe – 14</a:t>
            </a:r>
          </a:p>
          <a:p>
            <a:pPr algn="just">
              <a:lnSpc>
                <a:spcPct val="70000"/>
              </a:lnSpc>
              <a:spcBef>
                <a:spcPts val="1700"/>
              </a:spcBef>
            </a:pPr>
            <a:r>
              <a:rPr lang="en-US" sz="3600" b="1" dirty="0">
                <a:solidFill>
                  <a:schemeClr val="accent6"/>
                </a:solidFill>
                <a:latin typeface="Times New Roman" panose="02020603050405020304" pitchFamily="18" charset="0"/>
                <a:ea typeface="Times New Roman"/>
                <a:cs typeface="Times New Roman" panose="02020603050405020304" pitchFamily="18" charset="0"/>
                <a:sym typeface="Times New Roman"/>
              </a:rPr>
              <a:t>                            Soumya Tiwari – 53</a:t>
            </a:r>
          </a:p>
          <a:p>
            <a:pPr marL="0" marR="0" lvl="0" indent="0" algn="just" rtl="0">
              <a:lnSpc>
                <a:spcPct val="70000"/>
              </a:lnSpc>
              <a:spcBef>
                <a:spcPts val="1700"/>
              </a:spcBef>
              <a:spcAft>
                <a:spcPts val="0"/>
              </a:spcAft>
              <a:buNone/>
            </a:pPr>
            <a:endParaRPr lang="en-US" sz="3600" b="1"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70000"/>
              </a:lnSpc>
              <a:spcBef>
                <a:spcPts val="1700"/>
              </a:spcBef>
              <a:spcAft>
                <a:spcPts val="0"/>
              </a:spcAft>
              <a:buNone/>
            </a:pPr>
            <a:r>
              <a:rPr lang="en-US" sz="3600" b="1" dirty="0">
                <a:solidFill>
                  <a:schemeClr val="accent6"/>
                </a:solidFill>
                <a:latin typeface="Times New Roman" panose="02020603050405020304" pitchFamily="18" charset="0"/>
                <a:cs typeface="Times New Roman" panose="02020603050405020304" pitchFamily="18" charset="0"/>
                <a:sym typeface="Times New Roman"/>
              </a:rPr>
              <a:t>Branch: AI&amp;DS</a:t>
            </a:r>
          </a:p>
          <a:p>
            <a:pPr marL="0" marR="0" lvl="0" indent="0" algn="l" rtl="0">
              <a:lnSpc>
                <a:spcPct val="70000"/>
              </a:lnSpc>
              <a:spcBef>
                <a:spcPts val="1700"/>
              </a:spcBef>
              <a:spcAft>
                <a:spcPts val="0"/>
              </a:spcAft>
              <a:buNone/>
            </a:pPr>
            <a:r>
              <a:rPr lang="en-US" sz="3600" b="1" dirty="0">
                <a:solidFill>
                  <a:schemeClr val="accent6"/>
                </a:solidFill>
                <a:latin typeface="Times New Roman" panose="02020603050405020304" pitchFamily="18" charset="0"/>
                <a:cs typeface="Times New Roman" panose="02020603050405020304" pitchFamily="18" charset="0"/>
                <a:sym typeface="Times New Roman"/>
              </a:rPr>
              <a:t>Semester: V</a:t>
            </a:r>
            <a:endParaRPr sz="1200" dirty="0">
              <a:latin typeface="Times New Roman" panose="02020603050405020304" pitchFamily="18" charset="0"/>
              <a:cs typeface="Times New Roman" panose="02020603050405020304" pitchFamily="18" charset="0"/>
            </a:endParaRPr>
          </a:p>
          <a:p>
            <a:pPr marL="0" marR="0" lvl="0" indent="0" algn="l" rtl="0">
              <a:lnSpc>
                <a:spcPct val="70000"/>
              </a:lnSpc>
              <a:spcBef>
                <a:spcPts val="1700"/>
              </a:spcBef>
              <a:spcAft>
                <a:spcPts val="0"/>
              </a:spcAft>
              <a:buNone/>
            </a:pPr>
            <a:endParaRPr sz="3600" b="0"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70000"/>
              </a:lnSpc>
              <a:spcBef>
                <a:spcPts val="1700"/>
              </a:spcBef>
              <a:spcAft>
                <a:spcPts val="0"/>
              </a:spcAft>
              <a:buNone/>
            </a:pPr>
            <a:r>
              <a:rPr lang="en-US" sz="3600" b="0"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rPr>
              <a:t>      						</a:t>
            </a:r>
            <a:endParaRPr sz="36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3" name="Google Shape;93;p1"/>
          <p:cNvSpPr/>
          <p:nvPr/>
        </p:nvSpPr>
        <p:spPr>
          <a:xfrm>
            <a:off x="14423204" y="8217290"/>
            <a:ext cx="12473940" cy="2083446"/>
          </a:xfrm>
          <a:custGeom>
            <a:avLst/>
            <a:gdLst/>
            <a:ahLst/>
            <a:cxnLst/>
            <a:rect l="l" t="t" r="r" b="b"/>
            <a:pathLst>
              <a:path w="21600" h="21600" extrusionOk="0">
                <a:moveTo>
                  <a:pt x="0" y="0"/>
                </a:moveTo>
                <a:lnTo>
                  <a:pt x="21599" y="0"/>
                </a:lnTo>
                <a:lnTo>
                  <a:pt x="21599" y="21599"/>
                </a:lnTo>
                <a:lnTo>
                  <a:pt x="0" y="21599"/>
                </a:lnTo>
                <a:close/>
              </a:path>
            </a:pathLst>
          </a:cu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None/>
            </a:pPr>
            <a:r>
              <a:rPr lang="en-US" sz="3600" b="1" i="0" u="none" strike="noStrike" cap="none" dirty="0">
                <a:solidFill>
                  <a:schemeClr val="accent6"/>
                </a:solidFill>
                <a:latin typeface="Raleway"/>
                <a:ea typeface="Raleway"/>
                <a:cs typeface="Raleway"/>
                <a:sym typeface="Raleway"/>
              </a:rPr>
              <a:t>														</a:t>
            </a:r>
            <a:r>
              <a:rPr lang="en-US" sz="3600" b="1" i="0" u="none" strike="noStrike" cap="none" dirty="0">
                <a:solidFill>
                  <a:srgbClr val="002060"/>
                </a:solidFill>
                <a:latin typeface="Raleway"/>
                <a:ea typeface="Raleway"/>
                <a:cs typeface="Raleway"/>
                <a:sym typeface="Raleway"/>
              </a:rPr>
              <a:t>           </a:t>
            </a:r>
            <a:r>
              <a:rPr lang="en-US" sz="4000" b="1" i="0" u="none" strike="noStrike" cap="none" dirty="0">
                <a:solidFill>
                  <a:srgbClr val="002060"/>
                </a:solidFill>
                <a:latin typeface="Times New Roman"/>
                <a:ea typeface="Times New Roman"/>
                <a:cs typeface="Times New Roman"/>
                <a:sym typeface="Times New Roman"/>
              </a:rPr>
              <a:t>Research Guide:</a:t>
            </a:r>
          </a:p>
          <a:p>
            <a:pPr>
              <a:lnSpc>
                <a:spcPct val="70000"/>
              </a:lnSpc>
              <a:spcBef>
                <a:spcPts val="1700"/>
              </a:spcBef>
            </a:pPr>
            <a:r>
              <a:rPr lang="en-US" sz="4000" b="1" dirty="0">
                <a:solidFill>
                  <a:schemeClr val="accent6"/>
                </a:solidFill>
                <a:latin typeface="Times New Roman"/>
                <a:ea typeface="Times New Roman"/>
                <a:cs typeface="Times New Roman"/>
                <a:sym typeface="Times New Roman"/>
              </a:rPr>
              <a:t>                 Mrs. Poi </a:t>
            </a:r>
            <a:r>
              <a:rPr lang="en-US" sz="4000" b="1" dirty="0" err="1">
                <a:solidFill>
                  <a:schemeClr val="accent6"/>
                </a:solidFill>
                <a:latin typeface="Times New Roman"/>
                <a:ea typeface="Times New Roman"/>
                <a:cs typeface="Times New Roman"/>
                <a:sym typeface="Times New Roman"/>
              </a:rPr>
              <a:t>Tamrakar</a:t>
            </a:r>
            <a:r>
              <a:rPr lang="en-US" sz="4000" b="1" dirty="0">
                <a:solidFill>
                  <a:schemeClr val="accent6"/>
                </a:solidFill>
                <a:latin typeface="Times New Roman"/>
                <a:ea typeface="Times New Roman"/>
                <a:cs typeface="Times New Roman"/>
                <a:sym typeface="Times New Roman"/>
              </a:rPr>
              <a:t> </a:t>
            </a:r>
          </a:p>
          <a:p>
            <a:pPr marL="0" marR="0" lvl="0" indent="0" algn="l" rtl="0">
              <a:lnSpc>
                <a:spcPct val="70000"/>
              </a:lnSpc>
              <a:spcBef>
                <a:spcPts val="0"/>
              </a:spcBef>
              <a:spcAft>
                <a:spcPts val="0"/>
              </a:spcAft>
              <a:buNone/>
            </a:pPr>
            <a:endParaRPr dirty="0">
              <a:solidFill>
                <a:srgbClr val="002060"/>
              </a:solidFill>
            </a:endParaRPr>
          </a:p>
          <a:p>
            <a:pPr marL="0" marR="0" lvl="0" indent="0" algn="l" rtl="0">
              <a:lnSpc>
                <a:spcPct val="70000"/>
              </a:lnSpc>
              <a:spcBef>
                <a:spcPts val="1700"/>
              </a:spcBef>
              <a:spcAft>
                <a:spcPts val="0"/>
              </a:spcAft>
              <a:buNone/>
            </a:pPr>
            <a:r>
              <a:rPr lang="en-US" sz="4000" b="1" i="0" u="none" strike="noStrike" cap="none" dirty="0">
                <a:solidFill>
                  <a:schemeClr val="accent6"/>
                </a:solidFill>
                <a:latin typeface="Times New Roman"/>
                <a:ea typeface="Times New Roman"/>
                <a:cs typeface="Times New Roman"/>
                <a:sym typeface="Times New Roman"/>
              </a:rPr>
              <a:t>														           </a:t>
            </a:r>
            <a:r>
              <a:rPr lang="en-US" sz="4000" b="0" i="0" u="none" strike="noStrike" cap="none" dirty="0">
                <a:solidFill>
                  <a:schemeClr val="accent6"/>
                </a:solidFill>
                <a:latin typeface="Times New Roman"/>
                <a:ea typeface="Times New Roman"/>
                <a:cs typeface="Times New Roman"/>
                <a:sym typeface="Times New Roman"/>
              </a:rPr>
              <a:t>										                					</a:t>
            </a:r>
            <a:endParaRPr sz="4000" b="0" i="0" u="none" strike="noStrike" cap="none" dirty="0">
              <a:solidFill>
                <a:schemeClr val="dk1"/>
              </a:solidFill>
              <a:latin typeface="Times New Roman"/>
              <a:ea typeface="Times New Roman"/>
              <a:cs typeface="Times New Roman"/>
              <a:sym typeface="Times New Roman"/>
            </a:endParaRPr>
          </a:p>
        </p:txBody>
      </p:sp>
      <p:pic>
        <p:nvPicPr>
          <p:cNvPr id="94"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760412" y="1051945"/>
            <a:ext cx="1650279" cy="753258"/>
          </a:xfrm>
          <a:prstGeom prst="rect">
            <a:avLst/>
          </a:prstGeom>
          <a:noFill/>
          <a:ln>
            <a:noFill/>
          </a:ln>
        </p:spPr>
      </p:pic>
      <p:sp>
        <p:nvSpPr>
          <p:cNvPr id="2" name="Rectangle 1"/>
          <p:cNvSpPr/>
          <p:nvPr/>
        </p:nvSpPr>
        <p:spPr>
          <a:xfrm>
            <a:off x="832558" y="605227"/>
            <a:ext cx="22467057" cy="3785652"/>
          </a:xfrm>
          <a:prstGeom prst="rect">
            <a:avLst/>
          </a:prstGeom>
        </p:spPr>
        <p:txBody>
          <a:bodyPr wrap="square">
            <a:spAutoFit/>
          </a:bodyPr>
          <a:lstStyle/>
          <a:p>
            <a:pPr algn="ctr">
              <a:lnSpc>
                <a:spcPct val="150000"/>
              </a:lnSpc>
            </a:pPr>
            <a:r>
              <a:rPr lang="en-US" sz="4800" b="1" dirty="0">
                <a:solidFill>
                  <a:srgbClr val="921F0E"/>
                </a:solidFill>
                <a:latin typeface="Times New Roman" panose="02020603050405020304" pitchFamily="18" charset="0"/>
                <a:cs typeface="Times New Roman" panose="02020603050405020304" pitchFamily="18" charset="0"/>
              </a:rPr>
              <a:t>DR. D. Y. PATIL SCHOOL OF SCIENCE &amp; TECHNOLOGY</a:t>
            </a:r>
            <a:endParaRPr lang="en-US" sz="4800" dirty="0">
              <a:latin typeface="Times New Roman" panose="02020603050405020304" pitchFamily="18" charset="0"/>
              <a:cs typeface="Times New Roman" panose="02020603050405020304" pitchFamily="18" charset="0"/>
            </a:endParaRPr>
          </a:p>
          <a:p>
            <a:pPr algn="ctr">
              <a:lnSpc>
                <a:spcPct val="150000"/>
              </a:lnSpc>
            </a:pPr>
            <a:r>
              <a:rPr lang="en-US" sz="4800" b="1" dirty="0">
                <a:solidFill>
                  <a:srgbClr val="921F0E"/>
                </a:solidFill>
                <a:latin typeface="Times New Roman" panose="02020603050405020304" pitchFamily="18" charset="0"/>
                <a:cs typeface="Times New Roman" panose="02020603050405020304" pitchFamily="18" charset="0"/>
              </a:rPr>
              <a:t>DR. D. Y. PATIL VIDYAPEETH (DPU), PIMPRI- PUNE</a:t>
            </a:r>
            <a:endParaRPr lang="en-US" sz="4800" dirty="0">
              <a:latin typeface="Times New Roman" panose="02020603050405020304" pitchFamily="18" charset="0"/>
              <a:cs typeface="Times New Roman" panose="02020603050405020304" pitchFamily="18" charset="0"/>
            </a:endParaRPr>
          </a:p>
          <a:p>
            <a:pPr algn="ctr">
              <a:lnSpc>
                <a:spcPct val="100000"/>
              </a:lnSpc>
            </a:pPr>
            <a:br>
              <a:rPr lang="en-US" sz="4800" dirty="0">
                <a:latin typeface="Times New Roman" panose="02020603050405020304" pitchFamily="18" charset="0"/>
                <a:cs typeface="Times New Roman" panose="02020603050405020304" pitchFamily="18" charset="0"/>
              </a:rPr>
            </a:br>
            <a:endParaRPr lang="en-IN" sz="4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2">
            <a:alphaModFix/>
          </a:blip>
          <a:srcRect/>
          <a:stretch/>
        </p:blipFill>
        <p:spPr>
          <a:xfrm>
            <a:off x="80456" y="203730"/>
            <a:ext cx="1650279" cy="753258"/>
          </a:xfrm>
          <a:prstGeom prst="rect">
            <a:avLst/>
          </a:prstGeom>
          <a:noFill/>
          <a:ln>
            <a:noFill/>
          </a:ln>
        </p:spPr>
      </p:pic>
      <p:sp>
        <p:nvSpPr>
          <p:cNvPr id="3" name="Google Shape;100;p2"/>
          <p:cNvSpPr txBox="1"/>
          <p:nvPr/>
        </p:nvSpPr>
        <p:spPr>
          <a:xfrm>
            <a:off x="2085432" y="681205"/>
            <a:ext cx="2229221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Outline</a:t>
            </a:r>
            <a:endParaRPr sz="6000" b="1" dirty="0">
              <a:solidFill>
                <a:schemeClr val="dk2"/>
              </a:solidFill>
              <a:latin typeface="Times New Roman"/>
              <a:ea typeface="Times New Roman"/>
              <a:cs typeface="Times New Roman"/>
              <a:sym typeface="Times New Roman"/>
            </a:endParaRPr>
          </a:p>
        </p:txBody>
      </p:sp>
      <p:grpSp>
        <p:nvGrpSpPr>
          <p:cNvPr id="4" name="Google Shape;101;p2"/>
          <p:cNvGrpSpPr/>
          <p:nvPr/>
        </p:nvGrpSpPr>
        <p:grpSpPr>
          <a:xfrm>
            <a:off x="1730735" y="1783761"/>
            <a:ext cx="4088173" cy="45719"/>
            <a:chOff x="1775295" y="2028842"/>
            <a:chExt cx="3631535" cy="45719"/>
          </a:xfrm>
        </p:grpSpPr>
        <p:sp>
          <p:nvSpPr>
            <p:cNvPr id="5" name="Google Shape;102;p2"/>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6" name="Google Shape;103;p2"/>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7" name="Google Shape;104;p2"/>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8" name="Google Shape;105;p2"/>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9" name="Google Shape;106;p2"/>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0" name="Google Shape;107;p2"/>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1" name="Google Shape;100;p2"/>
          <p:cNvSpPr txBox="1"/>
          <p:nvPr/>
        </p:nvSpPr>
        <p:spPr>
          <a:xfrm>
            <a:off x="641826" y="1435756"/>
            <a:ext cx="22292218" cy="12280244"/>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pPr>
            <a:endParaRPr lang="en-US" sz="3600" b="1" dirty="0">
              <a:solidFill>
                <a:schemeClr val="bg2"/>
              </a:solidFill>
              <a:latin typeface="Times New Roman"/>
              <a:ea typeface="Times New Roman"/>
              <a:cs typeface="Times New Roman"/>
              <a:sym typeface="Times New Roman"/>
            </a:endParaRP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Introduction</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Motivation</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Problem Statement</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Problem Objectives</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Literature Review</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Research Gaps</a:t>
            </a:r>
          </a:p>
          <a:p>
            <a:pPr marL="685800" lvl="0" indent="-685800">
              <a:lnSpc>
                <a:spcPct val="150000"/>
              </a:lnSpc>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Dataset</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Methodology</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UML Diagrams</a:t>
            </a:r>
          </a:p>
          <a:p>
            <a:pPr marL="685800" lvl="0" indent="-685800">
              <a:lnSpc>
                <a:spcPct val="150000"/>
              </a:lnSpc>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Algorithm</a:t>
            </a:r>
          </a:p>
          <a:p>
            <a:pPr marL="685800" lvl="0" indent="-685800">
              <a:lnSpc>
                <a:spcPct val="150000"/>
              </a:lnSpc>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Code &amp; Output</a:t>
            </a:r>
          </a:p>
          <a:p>
            <a:pPr marL="685800" lvl="0" indent="-685800">
              <a:lnSpc>
                <a:spcPct val="150000"/>
              </a:lnSpc>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Results</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Reference</a:t>
            </a:r>
          </a:p>
          <a:p>
            <a:pPr marL="685800" marR="0" lvl="0" indent="-685800" algn="l" rtl="0">
              <a:lnSpc>
                <a:spcPct val="150000"/>
              </a:lnSpc>
              <a:spcBef>
                <a:spcPts val="0"/>
              </a:spcBef>
              <a:spcAft>
                <a:spcPts val="0"/>
              </a:spcAft>
              <a:buFont typeface="Wingdings" panose="05000000000000000000" pitchFamily="2" charset="2"/>
              <a:buChar char="Ø"/>
            </a:pPr>
            <a:endParaRPr lang="en-US" sz="3600" b="1"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7159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DE5632DD-48B5-D6AB-91FA-3B770195F74A}"/>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F36A5C7E-0C1B-F6BC-B3A5-BDC815F32F3F}"/>
              </a:ext>
            </a:extLst>
          </p:cNvPr>
          <p:cNvSpPr txBox="1"/>
          <p:nvPr/>
        </p:nvSpPr>
        <p:spPr>
          <a:xfrm>
            <a:off x="2424079" y="606402"/>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Introduction</a:t>
            </a:r>
            <a:endParaRPr sz="6000" b="1" dirty="0">
              <a:solidFill>
                <a:schemeClr val="dk2"/>
              </a:solidFill>
              <a:latin typeface="Times New Roman"/>
              <a:ea typeface="Times New Roman"/>
              <a:cs typeface="Times New Roman"/>
              <a:sym typeface="Times New Roman"/>
            </a:endParaRPr>
          </a:p>
        </p:txBody>
      </p:sp>
      <p:grpSp>
        <p:nvGrpSpPr>
          <p:cNvPr id="130" name="Google Shape;130;p4">
            <a:extLst>
              <a:ext uri="{FF2B5EF4-FFF2-40B4-BE49-F238E27FC236}">
                <a16:creationId xmlns:a16="http://schemas.microsoft.com/office/drawing/2014/main" id="{1038E01F-798E-FBDD-83A7-FFA426DCA579}"/>
              </a:ext>
            </a:extLst>
          </p:cNvPr>
          <p:cNvGrpSpPr/>
          <p:nvPr/>
        </p:nvGrpSpPr>
        <p:grpSpPr>
          <a:xfrm>
            <a:off x="1730736" y="1565158"/>
            <a:ext cx="6266108" cy="45719"/>
            <a:chOff x="1775295" y="2028842"/>
            <a:chExt cx="3631535" cy="45719"/>
          </a:xfrm>
        </p:grpSpPr>
        <p:sp>
          <p:nvSpPr>
            <p:cNvPr id="131" name="Google Shape;131;p4">
              <a:extLst>
                <a:ext uri="{FF2B5EF4-FFF2-40B4-BE49-F238E27FC236}">
                  <a16:creationId xmlns:a16="http://schemas.microsoft.com/office/drawing/2014/main" id="{988DDA9B-330A-E8E7-A213-06CED2DC9FF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2" name="Google Shape;132;p4">
              <a:extLst>
                <a:ext uri="{FF2B5EF4-FFF2-40B4-BE49-F238E27FC236}">
                  <a16:creationId xmlns:a16="http://schemas.microsoft.com/office/drawing/2014/main" id="{C57E1BBF-D83A-D0B1-927E-8975F1AE3C1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3" name="Google Shape;133;p4">
              <a:extLst>
                <a:ext uri="{FF2B5EF4-FFF2-40B4-BE49-F238E27FC236}">
                  <a16:creationId xmlns:a16="http://schemas.microsoft.com/office/drawing/2014/main" id="{0E137357-6FA3-CD0E-3563-BB9F66111EB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4" name="Google Shape;134;p4">
              <a:extLst>
                <a:ext uri="{FF2B5EF4-FFF2-40B4-BE49-F238E27FC236}">
                  <a16:creationId xmlns:a16="http://schemas.microsoft.com/office/drawing/2014/main" id="{55477820-53D9-E9ED-F854-6B772DA07D6E}"/>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5" name="Google Shape;135;p4">
              <a:extLst>
                <a:ext uri="{FF2B5EF4-FFF2-40B4-BE49-F238E27FC236}">
                  <a16:creationId xmlns:a16="http://schemas.microsoft.com/office/drawing/2014/main" id="{F9E02799-6DDD-99B5-EAB8-08269B643582}"/>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6" name="Google Shape;136;p4">
              <a:extLst>
                <a:ext uri="{FF2B5EF4-FFF2-40B4-BE49-F238E27FC236}">
                  <a16:creationId xmlns:a16="http://schemas.microsoft.com/office/drawing/2014/main" id="{C2F2D320-3A27-8E26-962F-AD6CAAC74ED2}"/>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38" name="Google Shape;138;p4">
            <a:extLst>
              <a:ext uri="{FF2B5EF4-FFF2-40B4-BE49-F238E27FC236}">
                <a16:creationId xmlns:a16="http://schemas.microsoft.com/office/drawing/2014/main" id="{E72AC41A-A4BA-1C7C-D3E4-7805C0BDAD90}"/>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E3922F2A-DD52-E6AC-9260-6086367C96E1}"/>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8" name="Rectangle 6"/>
          <p:cNvSpPr>
            <a:spLocks noChangeArrowheads="1"/>
          </p:cNvSpPr>
          <p:nvPr/>
        </p:nvSpPr>
        <p:spPr bwMode="auto">
          <a:xfrm>
            <a:off x="559259" y="3817111"/>
            <a:ext cx="23004126"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600" dirty="0">
                <a:latin typeface="Times New Roman" panose="02020603050405020304" pitchFamily="18" charset="0"/>
                <a:cs typeface="Times New Roman" panose="02020603050405020304" pitchFamily="18" charset="0"/>
              </a:rPr>
              <a:t>E-commerce has transformed how customers purchase products and interact with businesses. Every online transaction generates valuable data, including purchase frequency, spending patterns, order history, and time between purchases. However, this large volume of data can be difficult to interpret and does not clearly reveal different customer types.</a:t>
            </a:r>
          </a:p>
          <a:p>
            <a:endParaRPr lang="en-IN" sz="36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Customer segmentation </a:t>
            </a:r>
            <a:r>
              <a:rPr lang="en-IN" sz="3600" dirty="0">
                <a:latin typeface="Times New Roman" panose="02020603050405020304" pitchFamily="18" charset="0"/>
                <a:cs typeface="Times New Roman" panose="02020603050405020304" pitchFamily="18" charset="0"/>
              </a:rPr>
              <a:t>helps businesses divide customers into meaningful groups based on similarities in purchasing behaviour. This enables businesses to identify high-value, regular, and inactive customers and develop more targeted strategies.</a:t>
            </a:r>
          </a:p>
          <a:p>
            <a:endParaRPr lang="en-IN" sz="36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Traditional segmentation </a:t>
            </a:r>
            <a:r>
              <a:rPr lang="en-IN" sz="3600" dirty="0">
                <a:latin typeface="Times New Roman" panose="02020603050405020304" pitchFamily="18" charset="0"/>
                <a:cs typeface="Times New Roman" panose="02020603050405020304" pitchFamily="18" charset="0"/>
              </a:rPr>
              <a:t>often relies on manually defined rules or basic statistical techniques. With increasing customer data, Machine Learning provides a systematic and data-driven approach to identifying behavioural patterns.</a:t>
            </a:r>
          </a:p>
          <a:p>
            <a:endParaRPr lang="en-IN"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This project focuses on developing an </a:t>
            </a:r>
            <a:r>
              <a:rPr lang="en-IN" sz="3600" b="1" dirty="0">
                <a:latin typeface="Times New Roman" panose="02020603050405020304" pitchFamily="18" charset="0"/>
                <a:cs typeface="Times New Roman" panose="02020603050405020304" pitchFamily="18" charset="0"/>
              </a:rPr>
              <a:t>E-Commerce Customer Segmentation </a:t>
            </a:r>
            <a:r>
              <a:rPr lang="en-IN" sz="3600" dirty="0">
                <a:latin typeface="Times New Roman" panose="02020603050405020304" pitchFamily="18" charset="0"/>
                <a:cs typeface="Times New Roman" panose="02020603050405020304" pitchFamily="18" charset="0"/>
              </a:rPr>
              <a:t>using real-world online retail transaction data to generate meaningful customer insights and support data-driven decision-making.</a:t>
            </a:r>
          </a:p>
        </p:txBody>
      </p:sp>
    </p:spTree>
    <p:extLst>
      <p:ext uri="{BB962C8B-B14F-4D97-AF65-F5344CB8AC3E}">
        <p14:creationId xmlns:p14="http://schemas.microsoft.com/office/powerpoint/2010/main" val="2612639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B20BD739-CC18-9657-BB85-D33095AFAF7E}"/>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1D816100-1439-FE97-8528-25F40B224EE0}"/>
              </a:ext>
            </a:extLst>
          </p:cNvPr>
          <p:cNvSpPr txBox="1"/>
          <p:nvPr/>
        </p:nvSpPr>
        <p:spPr>
          <a:xfrm>
            <a:off x="2441663" y="580359"/>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Motivation</a:t>
            </a:r>
            <a:endParaRPr sz="6000" b="1" dirty="0">
              <a:solidFill>
                <a:schemeClr val="dk2"/>
              </a:solidFill>
              <a:latin typeface="Times New Roman"/>
              <a:ea typeface="Times New Roman"/>
              <a:cs typeface="Times New Roman"/>
              <a:sym typeface="Times New Roman"/>
            </a:endParaRPr>
          </a:p>
        </p:txBody>
      </p:sp>
      <p:grpSp>
        <p:nvGrpSpPr>
          <p:cNvPr id="130" name="Google Shape;130;p4">
            <a:extLst>
              <a:ext uri="{FF2B5EF4-FFF2-40B4-BE49-F238E27FC236}">
                <a16:creationId xmlns:a16="http://schemas.microsoft.com/office/drawing/2014/main" id="{E1B2371B-924A-067F-E018-11E9A639526C}"/>
              </a:ext>
            </a:extLst>
          </p:cNvPr>
          <p:cNvGrpSpPr/>
          <p:nvPr/>
        </p:nvGrpSpPr>
        <p:grpSpPr>
          <a:xfrm>
            <a:off x="1730736" y="1565158"/>
            <a:ext cx="6266108" cy="45719"/>
            <a:chOff x="1775295" y="2028842"/>
            <a:chExt cx="3631535" cy="45719"/>
          </a:xfrm>
        </p:grpSpPr>
        <p:sp>
          <p:nvSpPr>
            <p:cNvPr id="131" name="Google Shape;131;p4">
              <a:extLst>
                <a:ext uri="{FF2B5EF4-FFF2-40B4-BE49-F238E27FC236}">
                  <a16:creationId xmlns:a16="http://schemas.microsoft.com/office/drawing/2014/main" id="{068370FB-2682-4F03-AC9B-1038597BB754}"/>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2" name="Google Shape;132;p4">
              <a:extLst>
                <a:ext uri="{FF2B5EF4-FFF2-40B4-BE49-F238E27FC236}">
                  <a16:creationId xmlns:a16="http://schemas.microsoft.com/office/drawing/2014/main" id="{57FD6F08-4C5F-EBFF-8053-1CD303DF7BAA}"/>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3" name="Google Shape;133;p4">
              <a:extLst>
                <a:ext uri="{FF2B5EF4-FFF2-40B4-BE49-F238E27FC236}">
                  <a16:creationId xmlns:a16="http://schemas.microsoft.com/office/drawing/2014/main" id="{7EBB7E43-25D9-FC4F-3935-664FB9FD81F0}"/>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4" name="Google Shape;134;p4">
              <a:extLst>
                <a:ext uri="{FF2B5EF4-FFF2-40B4-BE49-F238E27FC236}">
                  <a16:creationId xmlns:a16="http://schemas.microsoft.com/office/drawing/2014/main" id="{31AA4181-FD48-6442-2671-D5B2EB8E1663}"/>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5" name="Google Shape;135;p4">
              <a:extLst>
                <a:ext uri="{FF2B5EF4-FFF2-40B4-BE49-F238E27FC236}">
                  <a16:creationId xmlns:a16="http://schemas.microsoft.com/office/drawing/2014/main" id="{E1D8E6AB-9FF0-7BCD-0CB6-B8DC7866FBC6}"/>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6" name="Google Shape;136;p4">
              <a:extLst>
                <a:ext uri="{FF2B5EF4-FFF2-40B4-BE49-F238E27FC236}">
                  <a16:creationId xmlns:a16="http://schemas.microsoft.com/office/drawing/2014/main" id="{9AB8E5CE-ECEF-28AB-6E15-491FDA204801}"/>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38" name="Google Shape;138;p4">
            <a:extLst>
              <a:ext uri="{FF2B5EF4-FFF2-40B4-BE49-F238E27FC236}">
                <a16:creationId xmlns:a16="http://schemas.microsoft.com/office/drawing/2014/main" id="{ADD1E739-050E-02BB-BDF3-E0DAEB44871E}"/>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AE40EA03-228E-DF81-3645-BD778A8C0783}"/>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5" name="Rectangle 3"/>
          <p:cNvSpPr>
            <a:spLocks noChangeArrowheads="1"/>
          </p:cNvSpPr>
          <p:nvPr/>
        </p:nvSpPr>
        <p:spPr bwMode="auto">
          <a:xfrm>
            <a:off x="905595" y="2972837"/>
            <a:ext cx="21417585" cy="9356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Most existing studies use RFM with traditional clustering methods like K-Means for customer segmentation. [3], [5], [6], [10], [11]</a:t>
            </a:r>
          </a:p>
          <a:p>
            <a:pPr lvl="0"/>
            <a:endParaRPr lang="en-IN" sz="43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Deep Learning has shown potential to learn better representations for clustering. [1], [2]</a:t>
            </a:r>
          </a:p>
          <a:p>
            <a:pPr lvl="0"/>
            <a:endParaRPr lang="en-IN" sz="43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Deep representations can help handle complex and high-dimensional customer information. [8]</a:t>
            </a:r>
          </a:p>
          <a:p>
            <a:pPr lvl="0"/>
            <a:endParaRPr lang="en-IN" sz="43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Deep Embedded Clustering has shown better clustering performance than K-Means in comparative research. [11]</a:t>
            </a:r>
          </a:p>
          <a:p>
            <a:pPr lvl="0"/>
            <a:endParaRPr lang="en-IN" sz="43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Combining additional behavioural features with Deep Learning can improve customer segmentation. [12]</a:t>
            </a:r>
          </a:p>
          <a:p>
            <a:pPr lvl="0"/>
            <a:endParaRPr lang="en-IN" sz="4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2131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04BAC8B8-1755-13EF-21AD-E0D6B2DAA1CD}"/>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D6D7CAB8-551A-EF82-350D-AEBA22CAAABF}"/>
              </a:ext>
            </a:extLst>
          </p:cNvPr>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Problem Statement</a:t>
            </a:r>
            <a:endParaRPr sz="6000" b="1" dirty="0">
              <a:solidFill>
                <a:schemeClr val="dk2"/>
              </a:solidFill>
              <a:latin typeface="Times New Roman"/>
              <a:ea typeface="Times New Roman"/>
              <a:cs typeface="Times New Roman"/>
              <a:sym typeface="Times New Roman"/>
            </a:endParaRPr>
          </a:p>
        </p:txBody>
      </p:sp>
      <p:grpSp>
        <p:nvGrpSpPr>
          <p:cNvPr id="130" name="Google Shape;130;p4">
            <a:extLst>
              <a:ext uri="{FF2B5EF4-FFF2-40B4-BE49-F238E27FC236}">
                <a16:creationId xmlns:a16="http://schemas.microsoft.com/office/drawing/2014/main" id="{43BD5865-0FD1-B2EE-8737-21547F55F4DB}"/>
              </a:ext>
            </a:extLst>
          </p:cNvPr>
          <p:cNvGrpSpPr/>
          <p:nvPr/>
        </p:nvGrpSpPr>
        <p:grpSpPr>
          <a:xfrm>
            <a:off x="1730736" y="1565158"/>
            <a:ext cx="6266108" cy="45719"/>
            <a:chOff x="1775295" y="2028842"/>
            <a:chExt cx="3631535" cy="45719"/>
          </a:xfrm>
        </p:grpSpPr>
        <p:sp>
          <p:nvSpPr>
            <p:cNvPr id="131" name="Google Shape;131;p4">
              <a:extLst>
                <a:ext uri="{FF2B5EF4-FFF2-40B4-BE49-F238E27FC236}">
                  <a16:creationId xmlns:a16="http://schemas.microsoft.com/office/drawing/2014/main" id="{A0B7EBFD-886A-5DB7-E5BB-D738CF548639}"/>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2" name="Google Shape;132;p4">
              <a:extLst>
                <a:ext uri="{FF2B5EF4-FFF2-40B4-BE49-F238E27FC236}">
                  <a16:creationId xmlns:a16="http://schemas.microsoft.com/office/drawing/2014/main" id="{59080229-9833-5EEE-2A0E-5FA05F20769B}"/>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3" name="Google Shape;133;p4">
              <a:extLst>
                <a:ext uri="{FF2B5EF4-FFF2-40B4-BE49-F238E27FC236}">
                  <a16:creationId xmlns:a16="http://schemas.microsoft.com/office/drawing/2014/main" id="{BE11D1CF-8DB8-3D16-825C-971CC02F07D4}"/>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4" name="Google Shape;134;p4">
              <a:extLst>
                <a:ext uri="{FF2B5EF4-FFF2-40B4-BE49-F238E27FC236}">
                  <a16:creationId xmlns:a16="http://schemas.microsoft.com/office/drawing/2014/main" id="{AA15A494-B2BE-B0ED-3880-2F879740C01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5" name="Google Shape;135;p4">
              <a:extLst>
                <a:ext uri="{FF2B5EF4-FFF2-40B4-BE49-F238E27FC236}">
                  <a16:creationId xmlns:a16="http://schemas.microsoft.com/office/drawing/2014/main" id="{A54858AC-F05F-C52B-C02C-28C99BC4B85F}"/>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6" name="Google Shape;136;p4">
              <a:extLst>
                <a:ext uri="{FF2B5EF4-FFF2-40B4-BE49-F238E27FC236}">
                  <a16:creationId xmlns:a16="http://schemas.microsoft.com/office/drawing/2014/main" id="{F9ABA283-1EF9-5EDC-B528-48DFFE6C36C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38" name="Google Shape;138;p4">
            <a:extLst>
              <a:ext uri="{FF2B5EF4-FFF2-40B4-BE49-F238E27FC236}">
                <a16:creationId xmlns:a16="http://schemas.microsoft.com/office/drawing/2014/main" id="{B7A570BC-5DE1-3406-10ED-5AAC0702B882}"/>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139" name="Google Shape;139;p4">
            <a:extLst>
              <a:ext uri="{FF2B5EF4-FFF2-40B4-BE49-F238E27FC236}">
                <a16:creationId xmlns:a16="http://schemas.microsoft.com/office/drawing/2014/main" id="{C4AFFE1B-682F-1A8D-5527-BA4A42ECD146}"/>
              </a:ext>
            </a:extLst>
          </p:cNvPr>
          <p:cNvSpPr/>
          <p:nvPr/>
        </p:nvSpPr>
        <p:spPr>
          <a:xfrm>
            <a:off x="1038957" y="4375611"/>
            <a:ext cx="22117050" cy="3046948"/>
          </a:xfrm>
          <a:prstGeom prst="rect">
            <a:avLst/>
          </a:prstGeom>
          <a:noFill/>
          <a:ln>
            <a:noFill/>
          </a:ln>
        </p:spPr>
        <p:txBody>
          <a:bodyPr spcFirstLastPara="1" wrap="square" lIns="91425" tIns="45700" rIns="91425" bIns="45700" anchor="t" anchorCtr="0">
            <a:spAutoFit/>
          </a:bodyPr>
          <a:lstStyle/>
          <a:p>
            <a:r>
              <a:rPr lang="en-IN" sz="4800" i="1" dirty="0">
                <a:latin typeface="Times New Roman" panose="02020603050405020304" pitchFamily="18" charset="0"/>
                <a:cs typeface="Times New Roman" panose="02020603050405020304" pitchFamily="18" charset="0"/>
              </a:rPr>
              <a:t>To design, develop, and evaluate an intelligent e-commerce customer analytics system that </a:t>
            </a:r>
            <a:r>
              <a:rPr lang="en-IN" sz="4800" i="1" dirty="0" err="1">
                <a:latin typeface="Times New Roman" panose="02020603050405020304" pitchFamily="18" charset="0"/>
                <a:cs typeface="Times New Roman" panose="02020603050405020304" pitchFamily="18" charset="0"/>
              </a:rPr>
              <a:t>analyzes</a:t>
            </a:r>
            <a:r>
              <a:rPr lang="en-IN" sz="4800" i="1" dirty="0">
                <a:latin typeface="Times New Roman" panose="02020603050405020304" pitchFamily="18" charset="0"/>
                <a:cs typeface="Times New Roman" panose="02020603050405020304" pitchFamily="18" charset="0"/>
              </a:rPr>
              <a:t> transaction data to identify meaningful customer segments based on purchasing behaviour, and utilizes deep learning-based representations to improve customer profiling and segmentation.</a:t>
            </a: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61A25BF8-7B36-F7F2-5A47-E42BE357958C}"/>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Tree>
    <p:extLst>
      <p:ext uri="{BB962C8B-B14F-4D97-AF65-F5344CB8AC3E}">
        <p14:creationId xmlns:p14="http://schemas.microsoft.com/office/powerpoint/2010/main" val="1425017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p:nvPr/>
        </p:nvSpPr>
        <p:spPr>
          <a:xfrm>
            <a:off x="1615186" y="595215"/>
            <a:ext cx="1800285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Problem Objectives</a:t>
            </a:r>
            <a:endParaRPr sz="2800" b="1" dirty="0">
              <a:solidFill>
                <a:schemeClr val="dk2"/>
              </a:solidFill>
              <a:latin typeface="Times New Roman"/>
              <a:ea typeface="Times New Roman"/>
              <a:cs typeface="Times New Roman"/>
              <a:sym typeface="Times New Roman"/>
            </a:endParaRPr>
          </a:p>
        </p:txBody>
      </p:sp>
      <p:grpSp>
        <p:nvGrpSpPr>
          <p:cNvPr id="145" name="Google Shape;145;p5"/>
          <p:cNvGrpSpPr/>
          <p:nvPr/>
        </p:nvGrpSpPr>
        <p:grpSpPr>
          <a:xfrm>
            <a:off x="1730735" y="1783761"/>
            <a:ext cx="6581991" cy="45719"/>
            <a:chOff x="1775295" y="2028842"/>
            <a:chExt cx="3631535" cy="45719"/>
          </a:xfrm>
        </p:grpSpPr>
        <p:sp>
          <p:nvSpPr>
            <p:cNvPr id="146" name="Google Shape;146;p5"/>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7" name="Google Shape;147;p5"/>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8" name="Google Shape;148;p5"/>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9" name="Google Shape;149;p5"/>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0" name="Google Shape;150;p5"/>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1" name="Google Shape;151;p5"/>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52" name="Google Shape;152;p5"/>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3" name="Google Shape;167;p6">
            <a:extLst>
              <a:ext uri="{FF2B5EF4-FFF2-40B4-BE49-F238E27FC236}">
                <a16:creationId xmlns:a16="http://schemas.microsoft.com/office/drawing/2014/main" id="{67411104-D289-7885-D1DE-7D7ADBCACD1E}"/>
              </a:ext>
            </a:extLst>
          </p:cNvPr>
          <p:cNvSpPr/>
          <p:nvPr/>
        </p:nvSpPr>
        <p:spPr>
          <a:xfrm>
            <a:off x="468923" y="2188828"/>
            <a:ext cx="22001298" cy="2585283"/>
          </a:xfrm>
          <a:prstGeom prst="rect">
            <a:avLst/>
          </a:prstGeom>
          <a:noFill/>
          <a:ln>
            <a:noFill/>
          </a:ln>
        </p:spPr>
        <p:txBody>
          <a:bodyPr spcFirstLastPara="1" wrap="square" lIns="91425" tIns="45700" rIns="91425" bIns="45700" anchor="t" anchorCtr="0">
            <a:spAutoFit/>
          </a:bodyPr>
          <a:lstStyle/>
          <a:p>
            <a:r>
              <a:rPr lang="en-US" sz="3600" b="1" dirty="0">
                <a:solidFill>
                  <a:schemeClr val="bg2"/>
                </a:solidFill>
                <a:latin typeface="Times New Roman" panose="02020603050405020304" pitchFamily="18" charset="0"/>
                <a:ea typeface="Times New Roman"/>
                <a:cs typeface="Times New Roman" panose="02020603050405020304" pitchFamily="18" charset="0"/>
                <a:sym typeface="Times New Roman"/>
              </a:rPr>
              <a:t>Aim:  </a:t>
            </a:r>
            <a:r>
              <a:rPr lang="en-IN" sz="3600" dirty="0">
                <a:solidFill>
                  <a:schemeClr val="bg2"/>
                </a:solidFill>
                <a:latin typeface="Times New Roman" panose="02020603050405020304" pitchFamily="18" charset="0"/>
                <a:cs typeface="Times New Roman" panose="02020603050405020304" pitchFamily="18" charset="0"/>
              </a:rPr>
              <a:t>“To develop an intelligent customer segmentation that uses machine learning and Deep Learning techniques to understand customer behaviour, identify distinct customer groups, and support data-driven e-commerce decision-making.”</a:t>
            </a:r>
          </a:p>
          <a:p>
            <a:pPr marL="914216" marR="0" lvl="1" algn="l" rtl="0">
              <a:lnSpc>
                <a:spcPct val="150000"/>
              </a:lnSpc>
              <a:spcBef>
                <a:spcPts val="0"/>
              </a:spcBef>
              <a:spcAft>
                <a:spcPts val="0"/>
              </a:spcAft>
            </a:pPr>
            <a:endParaRPr lang="en-US" sz="3600" b="1" dirty="0">
              <a:solidFill>
                <a:schemeClr val="bg2"/>
              </a:solidFill>
              <a:latin typeface="Times New Roman" panose="02020603050405020304" pitchFamily="18" charset="0"/>
              <a:ea typeface="Times New Roman"/>
              <a:cs typeface="Times New Roman" panose="02020603050405020304" pitchFamily="18" charset="0"/>
              <a:sym typeface="Times New Roman"/>
            </a:endParaRPr>
          </a:p>
        </p:txBody>
      </p:sp>
      <p:sp>
        <p:nvSpPr>
          <p:cNvPr id="16" name="TextBox 15">
            <a:extLst>
              <a:ext uri="{FF2B5EF4-FFF2-40B4-BE49-F238E27FC236}">
                <a16:creationId xmlns:a16="http://schemas.microsoft.com/office/drawing/2014/main" id="{1588D200-3D54-17CE-09E2-AF711BF970B3}"/>
              </a:ext>
            </a:extLst>
          </p:cNvPr>
          <p:cNvSpPr txBox="1"/>
          <p:nvPr/>
        </p:nvSpPr>
        <p:spPr>
          <a:xfrm>
            <a:off x="547809" y="4478772"/>
            <a:ext cx="23282031" cy="5632311"/>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Objectives:</a:t>
            </a:r>
          </a:p>
          <a:p>
            <a:pPr>
              <a:buNone/>
            </a:pPr>
            <a:endParaRPr lang="en-IN" sz="36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collect, preprocess, and analyze e-commerce customer transaction data to identify relevant customer attributes, purchasing patterns, and behavioral features for customer analytics. </a:t>
            </a:r>
          </a:p>
          <a:p>
            <a:pPr marL="342900" indent="-342900">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design and develop an AI-based customer segmentation model using suitable clustering techniques and deep learning-based representations to group customers according to their purchasing behavior. </a:t>
            </a:r>
          </a:p>
          <a:p>
            <a:endParaRPr lang="en-US" sz="3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To rigorously evaluate and benchmark the proposed deep autoencoder framework against traditional baselines and linear dimensionality reduction techniques using standard clustering validation metrics.</a:t>
            </a:r>
            <a:endParaRPr lang="en-IN"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099AD6A-D465-BD5B-424B-0340F8C9FC3D}"/>
            </a:ext>
          </a:extLst>
        </p:cNvPr>
        <p:cNvGrpSpPr/>
        <p:nvPr/>
      </p:nvGrpSpPr>
      <p:grpSpPr>
        <a:xfrm>
          <a:off x="0" y="0"/>
          <a:ext cx="0" cy="0"/>
          <a:chOff x="0" y="0"/>
          <a:chExt cx="0" cy="0"/>
        </a:xfrm>
      </p:grpSpPr>
      <p:sp>
        <p:nvSpPr>
          <p:cNvPr id="144" name="Google Shape;144;p5">
            <a:extLst>
              <a:ext uri="{FF2B5EF4-FFF2-40B4-BE49-F238E27FC236}">
                <a16:creationId xmlns:a16="http://schemas.microsoft.com/office/drawing/2014/main" id="{AE302573-89E4-523B-F8CE-BEDD216E394A}"/>
              </a:ext>
            </a:extLst>
          </p:cNvPr>
          <p:cNvSpPr txBox="1"/>
          <p:nvPr/>
        </p:nvSpPr>
        <p:spPr>
          <a:xfrm>
            <a:off x="1615186" y="595215"/>
            <a:ext cx="1800285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a:ea typeface="Times New Roman"/>
                <a:cs typeface="Times New Roman"/>
                <a:sym typeface="Times New Roman"/>
              </a:rPr>
              <a:t>LITERATURE REVIEW</a:t>
            </a:r>
            <a:endParaRPr sz="5400" b="1" dirty="0">
              <a:solidFill>
                <a:schemeClr val="dk2"/>
              </a:solidFill>
              <a:latin typeface="Times New Roman"/>
              <a:ea typeface="Times New Roman"/>
              <a:cs typeface="Times New Roman"/>
              <a:sym typeface="Times New Roman"/>
            </a:endParaRPr>
          </a:p>
        </p:txBody>
      </p:sp>
      <p:grpSp>
        <p:nvGrpSpPr>
          <p:cNvPr id="145" name="Google Shape;145;p5">
            <a:extLst>
              <a:ext uri="{FF2B5EF4-FFF2-40B4-BE49-F238E27FC236}">
                <a16:creationId xmlns:a16="http://schemas.microsoft.com/office/drawing/2014/main" id="{DC32254B-C8F7-7B7E-E734-060FF80BB161}"/>
              </a:ext>
            </a:extLst>
          </p:cNvPr>
          <p:cNvGrpSpPr/>
          <p:nvPr/>
        </p:nvGrpSpPr>
        <p:grpSpPr>
          <a:xfrm>
            <a:off x="1730735" y="1783761"/>
            <a:ext cx="6581991" cy="45719"/>
            <a:chOff x="1775295" y="2028842"/>
            <a:chExt cx="3631535" cy="45719"/>
          </a:xfrm>
        </p:grpSpPr>
        <p:sp>
          <p:nvSpPr>
            <p:cNvPr id="146" name="Google Shape;146;p5">
              <a:extLst>
                <a:ext uri="{FF2B5EF4-FFF2-40B4-BE49-F238E27FC236}">
                  <a16:creationId xmlns:a16="http://schemas.microsoft.com/office/drawing/2014/main" id="{439ABAA6-2DE1-981B-A3B5-5F327E027579}"/>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7" name="Google Shape;147;p5">
              <a:extLst>
                <a:ext uri="{FF2B5EF4-FFF2-40B4-BE49-F238E27FC236}">
                  <a16:creationId xmlns:a16="http://schemas.microsoft.com/office/drawing/2014/main" id="{22A798E2-111F-78EE-3544-716F0B88F77B}"/>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8" name="Google Shape;148;p5">
              <a:extLst>
                <a:ext uri="{FF2B5EF4-FFF2-40B4-BE49-F238E27FC236}">
                  <a16:creationId xmlns:a16="http://schemas.microsoft.com/office/drawing/2014/main" id="{0E4F1FE5-160D-D2DC-C5A9-0C82F113A0FC}"/>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9" name="Google Shape;149;p5">
              <a:extLst>
                <a:ext uri="{FF2B5EF4-FFF2-40B4-BE49-F238E27FC236}">
                  <a16:creationId xmlns:a16="http://schemas.microsoft.com/office/drawing/2014/main" id="{BA9EC707-0CA4-60B9-871F-498EBE9BD55A}"/>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0" name="Google Shape;150;p5">
              <a:extLst>
                <a:ext uri="{FF2B5EF4-FFF2-40B4-BE49-F238E27FC236}">
                  <a16:creationId xmlns:a16="http://schemas.microsoft.com/office/drawing/2014/main" id="{8B4022D5-A7DE-3BD8-AD5F-5626DA41C746}"/>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1" name="Google Shape;151;p5">
              <a:extLst>
                <a:ext uri="{FF2B5EF4-FFF2-40B4-BE49-F238E27FC236}">
                  <a16:creationId xmlns:a16="http://schemas.microsoft.com/office/drawing/2014/main" id="{7023F7C2-4414-BB5B-580A-6EC4BD2F2C7F}"/>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52" name="Google Shape;152;p5">
            <a:extLst>
              <a:ext uri="{FF2B5EF4-FFF2-40B4-BE49-F238E27FC236}">
                <a16:creationId xmlns:a16="http://schemas.microsoft.com/office/drawing/2014/main" id="{B87FD0BB-643A-ECF0-1F67-666FB63FA1E3}"/>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4E10F8A2-218E-19C9-C812-2FF0EEC9441E}"/>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3" name="Google Shape;167;p6">
            <a:extLst>
              <a:ext uri="{FF2B5EF4-FFF2-40B4-BE49-F238E27FC236}">
                <a16:creationId xmlns:a16="http://schemas.microsoft.com/office/drawing/2014/main" id="{B857CACF-DAD1-5FFF-C5DC-4A24D02C4586}"/>
              </a:ext>
            </a:extLst>
          </p:cNvPr>
          <p:cNvSpPr/>
          <p:nvPr/>
        </p:nvSpPr>
        <p:spPr>
          <a:xfrm>
            <a:off x="905595" y="3204046"/>
            <a:ext cx="22001298" cy="8463815"/>
          </a:xfrm>
          <a:prstGeom prst="rect">
            <a:avLst/>
          </a:prstGeom>
          <a:noFill/>
          <a:ln>
            <a:noFill/>
          </a:ln>
        </p:spPr>
        <p:txBody>
          <a:bodyPr spcFirstLastPara="1" wrap="square" lIns="91425" tIns="45700" rIns="91425" bIns="45700" anchor="t" anchorCtr="0">
            <a:spAutoFit/>
          </a:bodyPr>
          <a:lstStyle/>
          <a:p>
            <a:pPr marL="457200"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Table I – Traditional Segmentation and Deep Learning Foundations</a:t>
            </a:r>
          </a:p>
          <a:p>
            <a:pPr lvl="0"/>
            <a:r>
              <a:rPr lang="en-IN" sz="3200" dirty="0">
                <a:latin typeface="Times New Roman" panose="02020603050405020304" pitchFamily="18" charset="0"/>
                <a:cs typeface="Times New Roman" panose="02020603050405020304" pitchFamily="18" charset="0"/>
              </a:rPr>
              <a:t>Early studies focused on RFM and traditional clustering methods for customer segmentation.</a:t>
            </a:r>
          </a:p>
          <a:p>
            <a:pPr lvl="0"/>
            <a:r>
              <a:rPr lang="en-IN" sz="3200" dirty="0">
                <a:latin typeface="Times New Roman" panose="02020603050405020304" pitchFamily="18" charset="0"/>
                <a:cs typeface="Times New Roman" panose="02020603050405020304" pitchFamily="18" charset="0"/>
              </a:rPr>
              <a:t>[1] and [2] introduced Deep Learning-based clustering and showed that neural networks can learn meaningful data representations for clustering.</a:t>
            </a:r>
          </a:p>
          <a:p>
            <a:pPr lvl="0"/>
            <a:r>
              <a:rPr lang="en-IN" sz="3200" dirty="0">
                <a:latin typeface="Times New Roman" panose="02020603050405020304" pitchFamily="18" charset="0"/>
                <a:cs typeface="Times New Roman" panose="02020603050405020304" pitchFamily="18" charset="0"/>
              </a:rPr>
              <a:t>[3], [4] and [5] mainly focused on improving traditional RFM-based segmentation and clustering methods.</a:t>
            </a:r>
          </a:p>
          <a:p>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Table II – ML-Based Customer Analysis and Advanced Segmentation</a:t>
            </a:r>
          </a:p>
          <a:p>
            <a:r>
              <a:rPr lang="en-IN" sz="3200" dirty="0">
                <a:latin typeface="Times New Roman" panose="02020603050405020304" pitchFamily="18" charset="0"/>
                <a:cs typeface="Times New Roman" panose="02020603050405020304" pitchFamily="18" charset="0"/>
              </a:rPr>
              <a:t>[6] and [9] continued using RFM with K-Means for customer segmentation, while [7] integrated RFM with association rules and machine learning.</a:t>
            </a:r>
          </a:p>
          <a:p>
            <a:r>
              <a:rPr lang="en-IN" sz="3200" dirty="0">
                <a:latin typeface="Times New Roman" panose="02020603050405020304" pitchFamily="18" charset="0"/>
                <a:cs typeface="Times New Roman" panose="02020603050405020304" pitchFamily="18" charset="0"/>
              </a:rPr>
              <a:t>[8] showed that Deep Learning and semantic representations can improve segmentation for complex customer information.</a:t>
            </a:r>
          </a:p>
          <a:p>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Table III – Recent Deep Learning and Behavioural Approaches</a:t>
            </a:r>
          </a:p>
          <a:p>
            <a:pPr lvl="0"/>
            <a:r>
              <a:rPr lang="en-IN" sz="3200" dirty="0">
                <a:latin typeface="Times New Roman" panose="02020603050405020304" pitchFamily="18" charset="0"/>
                <a:cs typeface="Times New Roman" panose="02020603050405020304" pitchFamily="18" charset="0"/>
              </a:rPr>
              <a:t>[10] applied data preprocessing, RFM and K-Means to the UCI Online Retail II dataset.</a:t>
            </a:r>
          </a:p>
          <a:p>
            <a:pPr lvl="0"/>
            <a:r>
              <a:rPr lang="en-IN" sz="3200" dirty="0">
                <a:latin typeface="Times New Roman" panose="02020603050405020304" pitchFamily="18" charset="0"/>
                <a:cs typeface="Times New Roman" panose="02020603050405020304" pitchFamily="18" charset="0"/>
              </a:rPr>
              <a:t>[11] compared Deep Embedded Clustering with K-Means and reported better clustering evaluation results for DEC.</a:t>
            </a:r>
          </a:p>
          <a:p>
            <a:pPr lvl="0"/>
            <a:r>
              <a:rPr lang="en-IN" sz="3200" dirty="0">
                <a:latin typeface="Times New Roman" panose="02020603050405020304" pitchFamily="18" charset="0"/>
                <a:cs typeface="Times New Roman" panose="02020603050405020304" pitchFamily="18" charset="0"/>
              </a:rPr>
              <a:t>[12] extended RFM with additional behavioural features and combined them with Deep Learning for segmentation.</a:t>
            </a:r>
          </a:p>
        </p:txBody>
      </p:sp>
    </p:spTree>
    <p:extLst>
      <p:ext uri="{BB962C8B-B14F-4D97-AF65-F5344CB8AC3E}">
        <p14:creationId xmlns:p14="http://schemas.microsoft.com/office/powerpoint/2010/main" val="1511115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4"/>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Literature Review Table- I</a:t>
            </a:r>
            <a:endParaRPr sz="6000" b="1" dirty="0">
              <a:solidFill>
                <a:schemeClr val="dk2"/>
              </a:solidFill>
              <a:latin typeface="Times New Roman"/>
              <a:ea typeface="Times New Roman"/>
              <a:cs typeface="Times New Roman"/>
              <a:sym typeface="Times New Roman"/>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967A6A6-1691-BFBF-10D8-BB3C7A571E62}"/>
                  </a:ext>
                </a:extLst>
              </p:cNvPr>
              <p:cNvGraphicFramePr>
                <a:graphicFrameLocks noGrp="1"/>
              </p:cNvGraphicFramePr>
              <p:nvPr>
                <p:extLst>
                  <p:ext uri="{D42A27DB-BD31-4B8C-83A1-F6EECF244321}">
                    <p14:modId xmlns:p14="http://schemas.microsoft.com/office/powerpoint/2010/main" val="4111096131"/>
                  </p:ext>
                </p:extLst>
              </p:nvPr>
            </p:nvGraphicFramePr>
            <p:xfrm>
              <a:off x="492369" y="2393848"/>
              <a:ext cx="23560327" cy="11118422"/>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82900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253578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Xie, Girshick &amp; Farhadi (2016)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ICML / PMLR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Deep Embedded Clustering (DEC); neural network learns a low-dimensional embedding and cluster assignments jointly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Image and text benchmark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Clustering Accuracy (~85% - 88%), Silhouette Score: 0.168 (5.25x improvement over K-means)</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Demonstrated that deep neural networks can learn feature representations specifically suited for clustering, establishing an important foundation for deep clustering. (</a:t>
                          </a:r>
                          <a:r>
                            <a:rPr lang="en-IN" sz="2000" b="0" dirty="0">
                              <a:solidFill>
                                <a:srgbClr val="111111"/>
                              </a:solidFill>
                              <a:latin typeface="Times New Roman" panose="02020603050405020304" pitchFamily="18" charset="0"/>
                              <a:cs typeface="Times New Roman" panose="02020603050405020304" pitchFamily="18" charset="0"/>
                              <a:hlinkClick r:id="rId4" tooltip="Unsupervised Deep Embedding for Clustering Analysis">
                                <a:extLst>
                                  <a:ext uri="{A12FA001-AC4F-418D-AE19-62706E023703}">
                                    <ahyp:hlinkClr xmlns:ahyp="http://schemas.microsoft.com/office/drawing/2018/hyperlinkcolor" val="tx"/>
                                  </a:ext>
                                </a:extLst>
                              </a:hlinkClick>
                            </a:rPr>
                            <a:t>Proceedings of Machine Learning Research</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Guo et al. (2017)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IJCAI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Improved Deep Embedded Clustering (IDEC); under-complete autoencoder + clustering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Benchmark image/text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b="1"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DEC Accuracy / NMI:</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MNIST dataset: 88.06% / 86.72%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USPS dataset: 76.05% / 78.46%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REUTERS-10K dataset: 75.64% / 49.81%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preserving the local structure of the original data during deep clustering can improve the learned representation and clustering quality. (</a:t>
                          </a:r>
                          <a:r>
                            <a:rPr lang="en-IN" sz="2000" b="0" dirty="0">
                              <a:solidFill>
                                <a:srgbClr val="111111"/>
                              </a:solidFill>
                              <a:latin typeface="Times New Roman" panose="02020603050405020304" pitchFamily="18" charset="0"/>
                              <a:cs typeface="Times New Roman" panose="02020603050405020304" pitchFamily="18" charset="0"/>
                              <a:hlinkClick r:id="rId5" tooltip="Improved Deep Embedded Clustering with Local Structure Preservation | IJCAI">
                                <a:extLst>
                                  <a:ext uri="{A12FA001-AC4F-418D-AE19-62706E023703}">
                                    <ahyp:hlinkClr xmlns:ahyp="http://schemas.microsoft.com/office/drawing/2018/hyperlinkcolor" val="tx"/>
                                  </a:ext>
                                </a:extLst>
                              </a:hlinkClick>
                            </a:rPr>
                            <a:t>IJCAI</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8125432"/>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Anitha &amp; Patil (2022)</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of King Saud University – Computer and Information Sciences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RFM feature construction followed by K-Means clustering; cluster validation using Silhouette Coefficient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Retail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Silhouette Score: 0.47 (Optimal </a:t>
                          </a:r>
                          <a14:m>
                            <m:oMath xmlns:m="http://schemas.openxmlformats.org/officeDocument/2006/math">
                              <m:r>
                                <a:rPr lang="en-IN" sz="1400" b="0" i="1" u="none" strike="noStrike" cap="none" smtClean="0">
                                  <a:solidFill>
                                    <a:schemeClr val="bg2"/>
                                  </a:solidFill>
                                  <a:latin typeface="Cambria Math" panose="02040503050406030204" pitchFamily="18" charset="0"/>
                                  <a:ea typeface="Lato Light"/>
                                  <a:cs typeface="Lato Light"/>
                                  <a:sym typeface="Arial"/>
                                </a:rPr>
                                <m:t>𝐾</m:t>
                              </m:r>
                              <m:r>
                                <a:rPr lang="en-IN" sz="1400" b="0" i="0" u="none" strike="noStrike" cap="none">
                                  <a:solidFill>
                                    <a:schemeClr val="bg2"/>
                                  </a:solidFill>
                                  <a:latin typeface="Cambria Math" panose="02040503050406030204" pitchFamily="18" charset="0"/>
                                  <a:ea typeface="Lato Light"/>
                                  <a:cs typeface="Lato Light"/>
                                  <a:sym typeface="Arial"/>
                                </a:rPr>
                                <m:t>=3</m:t>
                              </m:r>
                            </m:oMath>
                          </a14:m>
                          <a:r>
                            <a:rPr lang="en-IN" sz="2000" dirty="0">
                              <a:solidFill>
                                <a:schemeClr val="bg2"/>
                              </a:solidFill>
                              <a:latin typeface="Times New Roman" panose="02020603050405020304" pitchFamily="18" charset="0"/>
                              <a:cs typeface="Times New Roman" panose="02020603050405020304" pitchFamily="18" charset="0"/>
                            </a:rPr>
                            <a:t> or </a:t>
                          </a:r>
                          <a14:m>
                            <m:oMath xmlns:m="http://schemas.openxmlformats.org/officeDocument/2006/math">
                              <m:r>
                                <a:rPr lang="en-IN" sz="1400" b="0" i="1" u="none" strike="noStrike" cap="none" smtClean="0">
                                  <a:solidFill>
                                    <a:schemeClr val="bg2"/>
                                  </a:solidFill>
                                  <a:latin typeface="Cambria Math" panose="02040503050406030204" pitchFamily="18" charset="0"/>
                                  <a:ea typeface="Lato Light"/>
                                  <a:cs typeface="Lato Light"/>
                                  <a:sym typeface="Arial"/>
                                </a:rPr>
                                <m:t>𝐾</m:t>
                              </m:r>
                              <m:r>
                                <a:rPr lang="en-IN" sz="1400" b="0" i="0" u="none" strike="noStrike" cap="none">
                                  <a:solidFill>
                                    <a:schemeClr val="bg2"/>
                                  </a:solidFill>
                                  <a:latin typeface="Cambria Math" panose="02040503050406030204" pitchFamily="18" charset="0"/>
                                  <a:ea typeface="Lato Light"/>
                                  <a:cs typeface="Lato Light"/>
                                  <a:sym typeface="Arial"/>
                                </a:rPr>
                                <m:t>=5</m:t>
                              </m:r>
                            </m:oMath>
                          </a14:m>
                          <a:r>
                            <a:rPr lang="en-IN" sz="2000" dirty="0">
                              <a:solidFill>
                                <a:schemeClr val="bg2"/>
                              </a:solidFill>
                              <a:latin typeface="Times New Roman" panose="02020603050405020304" pitchFamily="18" charset="0"/>
                              <a:cs typeface="Times New Roman" panose="02020603050405020304" pitchFamily="18" charset="0"/>
                            </a:rPr>
                            <a:t>)</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Demonstrated that RFM + K-Means can reveal differences in customer purchasing behavior and support identification of valuable customer groups. (</a:t>
                          </a:r>
                          <a:r>
                            <a:rPr lang="en-IN" sz="2000" b="0">
                              <a:solidFill>
                                <a:srgbClr val="111111"/>
                              </a:solidFill>
                              <a:latin typeface="Times New Roman" panose="02020603050405020304" pitchFamily="18" charset="0"/>
                              <a:cs typeface="Times New Roman" panose="02020603050405020304" pitchFamily="18" charset="0"/>
                              <a:hlinkClick r:id="rId6" tooltip="RFM model for customer purchase behavior using K-Means algorithm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r h="2194426">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Wu et al.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Computational Intelligence and Neuroscience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Improved RFM model + improved K-Medoids; CH index used for determining cluster count; optimized medoid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E-commerce platform transaction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1"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Improved K-medoids Accuracy:</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Breast cancer dataset: 86.8%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Iris plants dataset: 84.0% </a:t>
                          </a:r>
                        </a:p>
                        <a:p>
                          <a:r>
                            <a:rPr lang="en-IN" sz="2000" dirty="0">
                              <a:solidFill>
                                <a:schemeClr val="bg2"/>
                              </a:solidFill>
                              <a:latin typeface="Times New Roman" panose="02020603050405020304" pitchFamily="18" charset="0"/>
                              <a:cs typeface="Times New Roman" panose="02020603050405020304" pitchFamily="18" charset="0"/>
                            </a:rPr>
                            <a:t>K-Means Silhouette Score: 0.470</a:t>
                          </a:r>
                          <a:endPar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extending RFM and improving clustering can address limitations of basic customer segmentation, particularly sensitivity to noise and artificial K selection. (</a:t>
                          </a:r>
                          <a:r>
                            <a:rPr lang="en-IN" sz="2000" b="0" dirty="0">
                              <a:solidFill>
                                <a:srgbClr val="111111"/>
                              </a:solidFill>
                              <a:latin typeface="Times New Roman" panose="02020603050405020304" pitchFamily="18" charset="0"/>
                              <a:cs typeface="Times New Roman" panose="02020603050405020304" pitchFamily="18" charset="0"/>
                              <a:hlinkClick r:id="rId7" tooltip="Research on Segmenting E‐Commerce Customer through an Improved K‐Medoids Clustering Algorithm - Wu - 2022 - Computational Intelligence and Neuroscience - Wiley Online Library">
                                <a:extLst>
                                  <a:ext uri="{A12FA001-AC4F-418D-AE19-62706E023703}">
                                    <ahyp:hlinkClr xmlns:ahyp="http://schemas.microsoft.com/office/drawing/2018/hyperlinkcolor" val="tx"/>
                                  </a:ext>
                                </a:extLst>
                              </a:hlinkClick>
                            </a:rPr>
                            <a:t>Wiley Online Library</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144783"/>
                      </a:ext>
                    </a:extLst>
                  </a:tr>
                  <a:tr h="185307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Rajput &amp; Singh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IEEE – Confluence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K-Means clustering with customer attributes; Elbow Method used to determine number of clusters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Real-world e-commerce customer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K-means Silhouette Score: 0.29268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Hierarchical Clustering Silhouette Score: 0.25372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K-Means can identify hidden customer groups and help businesses understand which customer groups may require different strategies. (</a:t>
                          </a:r>
                          <a:r>
                            <a:rPr lang="en-IN" sz="2000" b="0" dirty="0">
                              <a:solidFill>
                                <a:srgbClr val="111111"/>
                              </a:solidFill>
                              <a:latin typeface="Times New Roman" panose="02020603050405020304" pitchFamily="18" charset="0"/>
                              <a:cs typeface="Times New Roman" panose="02020603050405020304" pitchFamily="18" charset="0"/>
                              <a:hlinkClick r:id="rId8" tooltip="Customer Segmentation of E-commerce data using K-means Clustering Algorithm | IEEE Conference Publication | IEEE Xplore">
                                <a:extLst>
                                  <a:ext uri="{A12FA001-AC4F-418D-AE19-62706E023703}">
                                    <ahyp:hlinkClr xmlns:ahyp="http://schemas.microsoft.com/office/drawing/2018/hyperlinkcolor" val="tx"/>
                                  </a:ext>
                                </a:extLst>
                              </a:hlinkClick>
                            </a:rPr>
                            <a:t>IEEE Xplore</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5842643"/>
                      </a:ext>
                    </a:extLst>
                  </a:tr>
                </a:tbl>
              </a:graphicData>
            </a:graphic>
          </p:graphicFrame>
        </mc:Choice>
        <mc:Fallback xmlns="">
          <p:graphicFrame>
            <p:nvGraphicFramePr>
              <p:cNvPr id="4" name="Table 3">
                <a:extLst>
                  <a:ext uri="{FF2B5EF4-FFF2-40B4-BE49-F238E27FC236}">
                    <a16:creationId xmlns:a16="http://schemas.microsoft.com/office/drawing/2014/main" id="{3967A6A6-1691-BFBF-10D8-BB3C7A571E62}"/>
                  </a:ext>
                </a:extLst>
              </p:cNvPr>
              <p:cNvGraphicFramePr>
                <a:graphicFrameLocks noGrp="1"/>
              </p:cNvGraphicFramePr>
              <p:nvPr>
                <p:extLst>
                  <p:ext uri="{D42A27DB-BD31-4B8C-83A1-F6EECF244321}">
                    <p14:modId xmlns:p14="http://schemas.microsoft.com/office/powerpoint/2010/main" val="4111096131"/>
                  </p:ext>
                </p:extLst>
              </p:nvPr>
            </p:nvGraphicFramePr>
            <p:xfrm>
              <a:off x="492369" y="2393848"/>
              <a:ext cx="23560327" cy="11118422"/>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82900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253578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Xie, Girshick &amp; Farhadi (2016)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ICML / PMLR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Deep Embedded Clustering (DEC); neural network learns a low-dimensional embedding and cluster assignments jointly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Image and text benchmark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Clustering Accuracy (~85% - 88%), Silhouette Score: 0.168 (5.25x improvement over K-means)</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Demonstrated that deep neural networks can learn feature representations specifically suited for clustering, establishing an important foundation for deep clustering. (</a:t>
                          </a:r>
                          <a:r>
                            <a:rPr lang="en-IN" sz="2000" b="0" dirty="0">
                              <a:solidFill>
                                <a:srgbClr val="111111"/>
                              </a:solidFill>
                              <a:latin typeface="Times New Roman" panose="02020603050405020304" pitchFamily="18" charset="0"/>
                              <a:cs typeface="Times New Roman" panose="02020603050405020304" pitchFamily="18" charset="0"/>
                              <a:hlinkClick r:id="rId9" tooltip="Unsupervised Deep Embedding for Clustering Analysis">
                                <a:extLst>
                                  <a:ext uri="{A12FA001-AC4F-418D-AE19-62706E023703}">
                                    <ahyp:hlinkClr xmlns:ahyp="http://schemas.microsoft.com/office/drawing/2018/hyperlinkcolor" val="tx"/>
                                  </a:ext>
                                </a:extLst>
                              </a:hlinkClick>
                            </a:rPr>
                            <a:t>Proceedings of Machine Learning Research</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Guo et al. (2017)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IJCAI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Improved Deep Embedded Clustering (IDEC); under-complete autoencoder + clustering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Benchmark image/text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b="1"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DEC Accuracy / NMI:</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MNIST dataset: 88.06% / 86.72%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USPS dataset: 76.05% / 78.46%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REUTERS-10K dataset: 75.64% / 49.81%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preserving the local structure of the original data during deep clustering can improve the learned representation and clustering quality. (</a:t>
                          </a:r>
                          <a:r>
                            <a:rPr lang="en-IN" sz="2000" b="0" dirty="0">
                              <a:solidFill>
                                <a:srgbClr val="111111"/>
                              </a:solidFill>
                              <a:latin typeface="Times New Roman" panose="02020603050405020304" pitchFamily="18" charset="0"/>
                              <a:cs typeface="Times New Roman" panose="02020603050405020304" pitchFamily="18" charset="0"/>
                              <a:hlinkClick r:id="rId10" tooltip="Improved Deep Embedded Clustering with Local Structure Preservation | IJCAI">
                                <a:extLst>
                                  <a:ext uri="{A12FA001-AC4F-418D-AE19-62706E023703}">
                                    <ahyp:hlinkClr xmlns:ahyp="http://schemas.microsoft.com/office/drawing/2018/hyperlinkcolor" val="tx"/>
                                  </a:ext>
                                </a:extLst>
                              </a:hlinkClick>
                            </a:rPr>
                            <a:t>IJCAI</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8125432"/>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Anitha &amp; Patil (2022)</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of King Saud University – Computer and Information Sciences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RFM feature construction followed by K-Means clustering; cluster validation using Silhouette Coefficient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Retail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390726" t="-280984" r="-107264" b="-218361"/>
                          </a:stretch>
                        </a:blip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Demonstrated that RFM + K-Means can reveal differences in customer purchasing behavior and support identification of valuable customer groups. (</a:t>
                          </a:r>
                          <a:r>
                            <a:rPr lang="en-IN" sz="2000" b="0">
                              <a:solidFill>
                                <a:srgbClr val="111111"/>
                              </a:solidFill>
                              <a:latin typeface="Times New Roman" panose="02020603050405020304" pitchFamily="18" charset="0"/>
                              <a:cs typeface="Times New Roman" panose="02020603050405020304" pitchFamily="18" charset="0"/>
                              <a:hlinkClick r:id="rId12" tooltip="RFM model for customer purchase behavior using K-Means algorithm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r h="2194426">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Wu et al.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Computational Intelligence and Neuroscience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Improved RFM model + improved K-Medoids; CH index used for determining cluster count; optimized medoid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E-commerce platform transaction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1"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Improved K-medoids Accuracy:</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Breast cancer dataset: 86.8%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Iris plants dataset: 84.0% </a:t>
                          </a:r>
                        </a:p>
                        <a:p>
                          <a:r>
                            <a:rPr lang="en-IN" sz="2000" dirty="0">
                              <a:solidFill>
                                <a:schemeClr val="bg2"/>
                              </a:solidFill>
                              <a:latin typeface="Times New Roman" panose="02020603050405020304" pitchFamily="18" charset="0"/>
                              <a:cs typeface="Times New Roman" panose="02020603050405020304" pitchFamily="18" charset="0"/>
                            </a:rPr>
                            <a:t>K-Means Silhouette Score: 0.470</a:t>
                          </a:r>
                          <a:endPar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extending RFM and improving clustering can address limitations of basic customer segmentation, particularly sensitivity to noise and artificial K selection. (</a:t>
                          </a:r>
                          <a:r>
                            <a:rPr lang="en-IN" sz="2000" b="0" dirty="0">
                              <a:solidFill>
                                <a:srgbClr val="111111"/>
                              </a:solidFill>
                              <a:latin typeface="Times New Roman" panose="02020603050405020304" pitchFamily="18" charset="0"/>
                              <a:cs typeface="Times New Roman" panose="02020603050405020304" pitchFamily="18" charset="0"/>
                              <a:hlinkClick r:id="rId13" tooltip="Research on Segmenting E‐Commerce Customer through an Improved K‐Medoids Clustering Algorithm - Wu - 2022 - Computational Intelligence and Neuroscience - Wiley Online Library">
                                <a:extLst>
                                  <a:ext uri="{A12FA001-AC4F-418D-AE19-62706E023703}">
                                    <ahyp:hlinkClr xmlns:ahyp="http://schemas.microsoft.com/office/drawing/2018/hyperlinkcolor" val="tx"/>
                                  </a:ext>
                                </a:extLst>
                              </a:hlinkClick>
                            </a:rPr>
                            <a:t>Wiley Online Library</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144783"/>
                      </a:ext>
                    </a:extLst>
                  </a:tr>
                  <a:tr h="185307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Rajput &amp; Singh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IEEE – Confluence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K-Means clustering with customer attributes; Elbow Method used to determine number of clusters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Real-world e-commerce customer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K-means Silhouette Score: 0.29268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Hierarchical Clustering Silhouette Score: 0.25372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K-Means can identify hidden customer groups and help businesses understand which customer groups may require different strategies. (</a:t>
                          </a:r>
                          <a:r>
                            <a:rPr lang="en-IN" sz="2000" b="0" dirty="0">
                              <a:solidFill>
                                <a:srgbClr val="111111"/>
                              </a:solidFill>
                              <a:latin typeface="Times New Roman" panose="02020603050405020304" pitchFamily="18" charset="0"/>
                              <a:cs typeface="Times New Roman" panose="02020603050405020304" pitchFamily="18" charset="0"/>
                              <a:hlinkClick r:id="rId14" tooltip="Customer Segmentation of E-commerce data using K-means Clustering Algorithm | IEEE Conference Publication | IEEE Xplore">
                                <a:extLst>
                                  <a:ext uri="{A12FA001-AC4F-418D-AE19-62706E023703}">
                                    <ahyp:hlinkClr xmlns:ahyp="http://schemas.microsoft.com/office/drawing/2018/hyperlinkcolor" val="tx"/>
                                  </a:ext>
                                </a:extLst>
                              </a:hlinkClick>
                            </a:rPr>
                            <a:t>IEEE Xplore</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5842643"/>
                      </a:ext>
                    </a:extLst>
                  </a:tr>
                </a:tbl>
              </a:graphicData>
            </a:graphic>
          </p:graphicFrame>
        </mc:Fallback>
      </mc:AlternateContent>
    </p:spTree>
    <p:extLst>
      <p:ext uri="{BB962C8B-B14F-4D97-AF65-F5344CB8AC3E}">
        <p14:creationId xmlns:p14="http://schemas.microsoft.com/office/powerpoint/2010/main" val="578270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5F4C356C-B3D3-2C39-723B-702C2BC739EA}"/>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9E62BBA7-162B-EEA0-4E56-D0B865367F39}"/>
              </a:ext>
            </a:extLst>
          </p:cNvPr>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Literature Review Table- II</a:t>
            </a:r>
            <a:endParaRPr sz="6000" b="1" dirty="0">
              <a:solidFill>
                <a:schemeClr val="dk2"/>
              </a:solidFill>
              <a:latin typeface="Times New Roman"/>
              <a:ea typeface="Times New Roman"/>
              <a:cs typeface="Times New Roman"/>
              <a:sym typeface="Times New Roman"/>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10B3325E-8BBA-ED61-96C2-7D23D58FE1BA}"/>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280A997-580A-5759-20C9-0C5E705F8719}"/>
                  </a:ext>
                </a:extLst>
              </p:cNvPr>
              <p:cNvGraphicFramePr>
                <a:graphicFrameLocks noGrp="1"/>
              </p:cNvGraphicFramePr>
              <p:nvPr>
                <p:extLst>
                  <p:ext uri="{D42A27DB-BD31-4B8C-83A1-F6EECF244321}">
                    <p14:modId xmlns:p14="http://schemas.microsoft.com/office/powerpoint/2010/main" val="3800227848"/>
                  </p:ext>
                </p:extLst>
              </p:nvPr>
            </p:nvGraphicFramePr>
            <p:xfrm>
              <a:off x="492369" y="2393848"/>
              <a:ext cx="23560327" cy="9430306"/>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82900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253578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Mehta &amp; Sehgal (2024)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of Business Thought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analysis + K-Means for retail micro-segmentation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B2C Indian retail data; 2,140 regular customers and over 10 million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Quantitative validation metrics (e.g., exact Silhouette score) are not numerically reported. </a:t>
                          </a:r>
                        </a:p>
                        <a:p>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Elbow plot utilized to determine </a:t>
                          </a:r>
                          <a14:m>
                            <m:oMath xmlns:m="http://schemas.openxmlformats.org/officeDocument/2006/math">
                              <m:r>
                                <a:rPr lang="en-IN" sz="2000" b="0" i="1" u="none" strike="noStrike" cap="none" smtClean="0">
                                  <a:solidFill>
                                    <a:schemeClr val="bg2"/>
                                  </a:solidFill>
                                  <a:latin typeface="Cambria Math" panose="02040503050406030204" pitchFamily="18" charset="0"/>
                                  <a:ea typeface="Lato Light"/>
                                  <a:cs typeface="Lato Light"/>
                                  <a:sym typeface="Arial"/>
                                </a:rPr>
                                <m:t>𝑘</m:t>
                              </m:r>
                              <m:r>
                                <a:rPr lang="en-IN" sz="2000" b="0" i="0" u="none" strike="noStrike" cap="none" smtClean="0">
                                  <a:solidFill>
                                    <a:schemeClr val="bg2"/>
                                  </a:solidFill>
                                  <a:latin typeface="Cambria Math" panose="02040503050406030204" pitchFamily="18" charset="0"/>
                                  <a:ea typeface="Lato Light"/>
                                  <a:cs typeface="Lato Light"/>
                                  <a:sym typeface="Arial"/>
                                </a:rPr>
                                <m:t>=3</m:t>
                              </m:r>
                            </m:oMath>
                          </a14:m>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clusters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The study shows that K-Means-based RFM micro-segmentation can identify groups of highly contributing and low-contributing retail customers. (</a:t>
                          </a:r>
                          <a:r>
                            <a:rPr lang="en-IN" sz="2000" b="0">
                              <a:solidFill>
                                <a:srgbClr val="111111"/>
                              </a:solidFill>
                              <a:latin typeface="Times New Roman" panose="02020603050405020304" pitchFamily="18" charset="0"/>
                              <a:cs typeface="Times New Roman" panose="02020603050405020304" pitchFamily="18" charset="0"/>
                              <a:hlinkClick r:id="rId4" tooltip="A Study on Micro-Segmentation of Retail Customers Using K-Means Clustering | Journal of Business Thought">
                                <a:extLst>
                                  <a:ext uri="{A12FA001-AC4F-418D-AE19-62706E023703}">
                                    <ahyp:hlinkClr xmlns:ahyp="http://schemas.microsoft.com/office/drawing/2018/hyperlinkcolor" val="tx"/>
                                  </a:ext>
                                </a:extLst>
                              </a:hlinkClick>
                            </a:rPr>
                            <a:t>DOI</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Pai, Lin &amp; Lu (2025/2026)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Quality &amp;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 association rule mining + machine learning for e-commerce customer-value 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Digital e-commerce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dirty="0">
                              <a:solidFill>
                                <a:schemeClr val="bg2"/>
                              </a:solidFill>
                              <a:latin typeface="Times New Roman" panose="02020603050405020304" pitchFamily="18" charset="0"/>
                              <a:cs typeface="Times New Roman" panose="02020603050405020304" pitchFamily="18" charset="0"/>
                            </a:rPr>
                            <a:t>Random Forest &amp; </a:t>
                          </a:r>
                          <a:r>
                            <a:rPr lang="en-IN" sz="2000" b="0" dirty="0" err="1">
                              <a:solidFill>
                                <a:schemeClr val="bg2"/>
                              </a:solidFill>
                              <a:latin typeface="Times New Roman" panose="02020603050405020304" pitchFamily="18" charset="0"/>
                              <a:cs typeface="Times New Roman" panose="02020603050405020304" pitchFamily="18" charset="0"/>
                            </a:rPr>
                            <a:t>XGBoost</a:t>
                          </a:r>
                          <a:r>
                            <a:rPr lang="en-IN" sz="2000" b="0" dirty="0">
                              <a:solidFill>
                                <a:schemeClr val="bg2"/>
                              </a:solidFill>
                              <a:latin typeface="Times New Roman" panose="02020603050405020304" pitchFamily="18" charset="0"/>
                              <a:cs typeface="Times New Roman" panose="02020603050405020304" pitchFamily="18" charset="0"/>
                            </a:rPr>
                            <a:t> Ensemble Accuracy: 97.19%</a:t>
                          </a:r>
                        </a:p>
                        <a:p>
                          <a:br>
                            <a:rPr lang="en-IN" sz="2000" b="0" dirty="0">
                              <a:solidFill>
                                <a:schemeClr val="bg2"/>
                              </a:solidFill>
                              <a:latin typeface="Times New Roman" panose="02020603050405020304" pitchFamily="18" charset="0"/>
                              <a:cs typeface="Times New Roman" panose="02020603050405020304" pitchFamily="18" charset="0"/>
                            </a:rPr>
                          </a:b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dirty="0">
                              <a:solidFill>
                                <a:schemeClr val="bg2"/>
                              </a:solidFill>
                              <a:latin typeface="Times New Roman" panose="02020603050405020304" pitchFamily="18" charset="0"/>
                              <a:cs typeface="Times New Roman" panose="02020603050405020304" pitchFamily="18" charset="0"/>
                            </a:rPr>
                            <a:t>AUC Score: 0.9953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The study integrates customer-value segmentation with purchase-pattern analysis, showing that combining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segmentation and machine learning can generate richer business insights. (</a:t>
                          </a:r>
                          <a:r>
                            <a:rPr lang="en-IN" sz="2000" b="0" dirty="0">
                              <a:solidFill>
                                <a:srgbClr val="111111"/>
                              </a:solidFill>
                              <a:latin typeface="Times New Roman" panose="02020603050405020304" pitchFamily="18" charset="0"/>
                              <a:cs typeface="Times New Roman" panose="02020603050405020304" pitchFamily="18" charset="0"/>
                              <a:hlinkClick r:id="rId5" tooltip="Integration of association rule mining and RFM analysis with machine learning for e-commerce customer value segmentation: a sustainable retail perspective | Quality &amp; Quantity | Springer Nature Link">
                                <a:extLst>
                                  <a:ext uri="{A12FA001-AC4F-418D-AE19-62706E023703}">
                                    <ahyp:hlinkClr xmlns:ahyp="http://schemas.microsoft.com/office/drawing/2018/hyperlinkcolor" val="tx"/>
                                  </a:ext>
                                </a:extLst>
                              </a:hlinkClick>
                            </a:rPr>
                            <a:t>DOI</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r h="219442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Wang et al.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Alexandria Engineering Journal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Improved Deep Embedded Clustering with BERT, LDA and multimodal semantic representations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Retail customer review/text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r>
                            <a:rPr lang="en-IN" sz="2000" b="0" dirty="0">
                              <a:solidFill>
                                <a:schemeClr val="bg2"/>
                              </a:solidFill>
                              <a:latin typeface="Times New Roman" panose="02020603050405020304" pitchFamily="18" charset="0"/>
                              <a:cs typeface="Times New Roman" panose="02020603050405020304" pitchFamily="18" charset="0"/>
                            </a:rPr>
                            <a:t>Silhouette Coefficient: 97.85 at 250 epochs, 0.1895 in the 5th experiment, 0.87 in overall evaluation.</a:t>
                          </a:r>
                          <a:r>
                            <a:rPr lang="en-IN" sz="2000" b="0" baseline="-25000" dirty="0">
                              <a:solidFill>
                                <a:schemeClr val="bg2"/>
                              </a:solidFill>
                              <a:latin typeface="Times New Roman" panose="02020603050405020304" pitchFamily="18" charset="0"/>
                              <a:cs typeface="Times New Roman" panose="02020603050405020304" pitchFamily="18" charset="0"/>
                            </a:rPr>
                            <a:t>.</a:t>
                          </a:r>
                        </a:p>
                        <a:p>
                          <a:pPr lvl="0"/>
                          <a:r>
                            <a:rPr lang="en-IN" sz="2000" b="0" dirty="0" err="1">
                              <a:solidFill>
                                <a:schemeClr val="bg2"/>
                              </a:solidFill>
                              <a:latin typeface="Times New Roman" panose="02020603050405020304" pitchFamily="18" charset="0"/>
                              <a:cs typeface="Times New Roman" panose="02020603050405020304" pitchFamily="18" charset="0"/>
                            </a:rPr>
                            <a:t>Calinski-Harabasz</a:t>
                          </a:r>
                          <a:r>
                            <a:rPr lang="en-IN" sz="2000" b="0" dirty="0">
                              <a:solidFill>
                                <a:schemeClr val="bg2"/>
                              </a:solidFill>
                              <a:latin typeface="Times New Roman" panose="02020603050405020304" pitchFamily="18" charset="0"/>
                              <a:cs typeface="Times New Roman" panose="02020603050405020304" pitchFamily="18" charset="0"/>
                            </a:rPr>
                            <a:t> (CH) index: 2236.22 </a:t>
                          </a:r>
                        </a:p>
                        <a:p>
                          <a:pPr lvl="0"/>
                          <a:r>
                            <a:rPr lang="en-IN" sz="2000" b="0" dirty="0">
                              <a:solidFill>
                                <a:schemeClr val="bg2"/>
                              </a:solidFill>
                              <a:latin typeface="Times New Roman" panose="02020603050405020304" pitchFamily="18" charset="0"/>
                              <a:cs typeface="Times New Roman" panose="02020603050405020304" pitchFamily="18" charset="0"/>
                            </a:rPr>
                            <a:t>Davies-Bouldin Index (DBI): 0.65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Shows that traditional K-Means-style methods have difficulty with high-dimensional textual information and that deep semantic representations can improve customer segmentation. (</a:t>
                          </a:r>
                          <a:r>
                            <a:rPr lang="en-IN" sz="2000" b="0">
                              <a:solidFill>
                                <a:srgbClr val="111111"/>
                              </a:solidFill>
                              <a:latin typeface="Times New Roman" panose="02020603050405020304" pitchFamily="18" charset="0"/>
                              <a:cs typeface="Times New Roman" panose="02020603050405020304" pitchFamily="18" charset="0"/>
                              <a:hlinkClick r:id="rId6" tooltip="Deep segmentation of retail customers based on improved DEC and multimodal semantic representation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144783"/>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Kijwattanaphokin &amp; Lhaochot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of Logistics and Supply Chain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scoring + normalization + K-Means; Elbow Method for cluster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406,573 online retail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RFM Groups: Lost (2,596), At Risk (572), Loyal (509), Potential Loyalists (385), Champions (306). </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K-Means Clusters: Cluster 3 (3,130), Cluster 0 (1,087), Cluster 1 (143), Cluster 2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Finds that RFM provides interpretable groups while K-Means can expose deeper structural differences in customer </a:t>
                          </a:r>
                          <a:r>
                            <a:rPr lang="en-IN" sz="2000" b="0" dirty="0" err="1">
                              <a:solidFill>
                                <a:srgbClr val="111111"/>
                              </a:solidFill>
                              <a:latin typeface="Times New Roman" panose="02020603050405020304" pitchFamily="18" charset="0"/>
                              <a:cs typeface="Times New Roman" panose="02020603050405020304" pitchFamily="18" charset="0"/>
                            </a:rPr>
                            <a:t>behavior</a:t>
                          </a:r>
                          <a:r>
                            <a:rPr lang="en-IN" sz="2000" b="0" dirty="0">
                              <a:solidFill>
                                <a:srgbClr val="111111"/>
                              </a:solidFill>
                              <a:latin typeface="Times New Roman" panose="02020603050405020304" pitchFamily="18" charset="0"/>
                              <a:cs typeface="Times New Roman" panose="02020603050405020304" pitchFamily="18" charset="0"/>
                            </a:rPr>
                            <a:t>; the combined approach improves segmentation usefulness. (</a:t>
                          </a:r>
                          <a:r>
                            <a:rPr lang="en-IN" sz="2000" b="0" dirty="0">
                              <a:solidFill>
                                <a:srgbClr val="111111"/>
                              </a:solidFill>
                              <a:latin typeface="Times New Roman" panose="02020603050405020304" pitchFamily="18" charset="0"/>
                              <a:cs typeface="Times New Roman" panose="02020603050405020304" pitchFamily="18" charset="0"/>
                              <a:hlinkClick r:id="rId7" tooltip="Customer Segmentation Using a Hybrid Approach of K-Means Clustering and RFM: An Online Retail Case Study | Thai-Journal Online">
                                <a:extLst>
                                  <a:ext uri="{A12FA001-AC4F-418D-AE19-62706E023703}">
                                    <ahyp:hlinkClr xmlns:ahyp="http://schemas.microsoft.com/office/drawing/2018/hyperlinkcolor" val="tx"/>
                                  </a:ext>
                                </a:extLst>
                              </a:hlinkClick>
                            </a:rPr>
                            <a:t>Thai-Journal Online</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5842643"/>
                      </a:ext>
                    </a:extLst>
                  </a:tr>
                </a:tbl>
              </a:graphicData>
            </a:graphic>
          </p:graphicFrame>
        </mc:Choice>
        <mc:Fallback xmlns="">
          <p:graphicFrame>
            <p:nvGraphicFramePr>
              <p:cNvPr id="4" name="Table 3">
                <a:extLst>
                  <a:ext uri="{FF2B5EF4-FFF2-40B4-BE49-F238E27FC236}">
                    <a16:creationId xmlns:a16="http://schemas.microsoft.com/office/drawing/2014/main" id="{8280A997-580A-5759-20C9-0C5E705F8719}"/>
                  </a:ext>
                </a:extLst>
              </p:cNvPr>
              <p:cNvGraphicFramePr>
                <a:graphicFrameLocks noGrp="1"/>
              </p:cNvGraphicFramePr>
              <p:nvPr>
                <p:extLst>
                  <p:ext uri="{D42A27DB-BD31-4B8C-83A1-F6EECF244321}">
                    <p14:modId xmlns:p14="http://schemas.microsoft.com/office/powerpoint/2010/main" val="3800227848"/>
                  </p:ext>
                </p:extLst>
              </p:nvPr>
            </p:nvGraphicFramePr>
            <p:xfrm>
              <a:off x="492369" y="2393848"/>
              <a:ext cx="23560327" cy="9430306"/>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82900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253578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Mehta &amp; Sehgal (2024)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of Business Thought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analysis + K-Means for retail micro-segmentation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B2C Indian retail data; 2,140 regular customers and over 10 million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90726" t="-32933" r="-107264" b="-243750"/>
                          </a:stretch>
                        </a:blip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The study shows that K-Means-based RFM micro-segmentation can identify groups of highly contributing and low-contributing retail customers. (</a:t>
                          </a:r>
                          <a:r>
                            <a:rPr lang="en-IN" sz="2000" b="0">
                              <a:solidFill>
                                <a:srgbClr val="111111"/>
                              </a:solidFill>
                              <a:latin typeface="Times New Roman" panose="02020603050405020304" pitchFamily="18" charset="0"/>
                              <a:cs typeface="Times New Roman" panose="02020603050405020304" pitchFamily="18" charset="0"/>
                              <a:hlinkClick r:id="rId9" tooltip="A Study on Micro-Segmentation of Retail Customers Using K-Means Clustering | Journal of Business Thought">
                                <a:extLst>
                                  <a:ext uri="{A12FA001-AC4F-418D-AE19-62706E023703}">
                                    <ahyp:hlinkClr xmlns:ahyp="http://schemas.microsoft.com/office/drawing/2018/hyperlinkcolor" val="tx"/>
                                  </a:ext>
                                </a:extLst>
                              </a:hlinkClick>
                            </a:rPr>
                            <a:t>DOI</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192024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Pai, Lin &amp; Lu (2025/2026)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Quality &amp;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 association rule mining + machine learning for e-commerce customer-value 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Digital e-commerce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dirty="0">
                              <a:solidFill>
                                <a:schemeClr val="bg2"/>
                              </a:solidFill>
                              <a:latin typeface="Times New Roman" panose="02020603050405020304" pitchFamily="18" charset="0"/>
                              <a:cs typeface="Times New Roman" panose="02020603050405020304" pitchFamily="18" charset="0"/>
                            </a:rPr>
                            <a:t>Random Forest &amp; </a:t>
                          </a:r>
                          <a:r>
                            <a:rPr lang="en-IN" sz="2000" b="0" dirty="0" err="1">
                              <a:solidFill>
                                <a:schemeClr val="bg2"/>
                              </a:solidFill>
                              <a:latin typeface="Times New Roman" panose="02020603050405020304" pitchFamily="18" charset="0"/>
                              <a:cs typeface="Times New Roman" panose="02020603050405020304" pitchFamily="18" charset="0"/>
                            </a:rPr>
                            <a:t>XGBoost</a:t>
                          </a:r>
                          <a:r>
                            <a:rPr lang="en-IN" sz="2000" b="0" dirty="0">
                              <a:solidFill>
                                <a:schemeClr val="bg2"/>
                              </a:solidFill>
                              <a:latin typeface="Times New Roman" panose="02020603050405020304" pitchFamily="18" charset="0"/>
                              <a:cs typeface="Times New Roman" panose="02020603050405020304" pitchFamily="18" charset="0"/>
                            </a:rPr>
                            <a:t> Ensemble Accuracy: 97.19%</a:t>
                          </a:r>
                        </a:p>
                        <a:p>
                          <a:br>
                            <a:rPr lang="en-IN" sz="2000" b="0" dirty="0">
                              <a:solidFill>
                                <a:schemeClr val="bg2"/>
                              </a:solidFill>
                              <a:latin typeface="Times New Roman" panose="02020603050405020304" pitchFamily="18" charset="0"/>
                              <a:cs typeface="Times New Roman" panose="02020603050405020304" pitchFamily="18" charset="0"/>
                            </a:rPr>
                          </a:b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dirty="0">
                              <a:solidFill>
                                <a:schemeClr val="bg2"/>
                              </a:solidFill>
                              <a:latin typeface="Times New Roman" panose="02020603050405020304" pitchFamily="18" charset="0"/>
                              <a:cs typeface="Times New Roman" panose="02020603050405020304" pitchFamily="18" charset="0"/>
                            </a:rPr>
                            <a:t>AUC Score: 0.9953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The study integrates customer-value segmentation with purchase-pattern analysis, showing that combining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segmentation and machine learning can generate richer business insights. (</a:t>
                          </a:r>
                          <a:r>
                            <a:rPr lang="en-IN" sz="2000" b="0" dirty="0">
                              <a:solidFill>
                                <a:srgbClr val="111111"/>
                              </a:solidFill>
                              <a:latin typeface="Times New Roman" panose="02020603050405020304" pitchFamily="18" charset="0"/>
                              <a:cs typeface="Times New Roman" panose="02020603050405020304" pitchFamily="18" charset="0"/>
                              <a:hlinkClick r:id="rId10" tooltip="Integration of association rule mining and RFM analysis with machine learning for e-commerce customer value segmentation: a sustainable retail perspective | Quality &amp; Quantity | Springer Nature Link">
                                <a:extLst>
                                  <a:ext uri="{A12FA001-AC4F-418D-AE19-62706E023703}">
                                    <ahyp:hlinkClr xmlns:ahyp="http://schemas.microsoft.com/office/drawing/2018/hyperlinkcolor" val="tx"/>
                                  </a:ext>
                                </a:extLst>
                              </a:hlinkClick>
                            </a:rPr>
                            <a:t>DOI</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r h="222504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Wang et al.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Alexandria Engineering Journal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Improved Deep Embedded Clustering with BERT, LDA and multimodal semantic representations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Retail customer review/text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r>
                            <a:rPr lang="en-IN" sz="2000" b="0" dirty="0">
                              <a:solidFill>
                                <a:schemeClr val="bg2"/>
                              </a:solidFill>
                              <a:latin typeface="Times New Roman" panose="02020603050405020304" pitchFamily="18" charset="0"/>
                              <a:cs typeface="Times New Roman" panose="02020603050405020304" pitchFamily="18" charset="0"/>
                            </a:rPr>
                            <a:t>Silhouette Coefficient: 97.85 at 250 epochs, 0.1895 in the 5th experiment, 0.87 in overall evaluation.</a:t>
                          </a:r>
                          <a:r>
                            <a:rPr lang="en-IN" sz="2000" b="0" baseline="-25000" dirty="0">
                              <a:solidFill>
                                <a:schemeClr val="bg2"/>
                              </a:solidFill>
                              <a:latin typeface="Times New Roman" panose="02020603050405020304" pitchFamily="18" charset="0"/>
                              <a:cs typeface="Times New Roman" panose="02020603050405020304" pitchFamily="18" charset="0"/>
                            </a:rPr>
                            <a:t>.</a:t>
                          </a:r>
                        </a:p>
                        <a:p>
                          <a:pPr lvl="0"/>
                          <a:r>
                            <a:rPr lang="en-IN" sz="2000" b="0" dirty="0" err="1">
                              <a:solidFill>
                                <a:schemeClr val="bg2"/>
                              </a:solidFill>
                              <a:latin typeface="Times New Roman" panose="02020603050405020304" pitchFamily="18" charset="0"/>
                              <a:cs typeface="Times New Roman" panose="02020603050405020304" pitchFamily="18" charset="0"/>
                            </a:rPr>
                            <a:t>Calinski-Harabasz</a:t>
                          </a:r>
                          <a:r>
                            <a:rPr lang="en-IN" sz="2000" b="0" dirty="0">
                              <a:solidFill>
                                <a:schemeClr val="bg2"/>
                              </a:solidFill>
                              <a:latin typeface="Times New Roman" panose="02020603050405020304" pitchFamily="18" charset="0"/>
                              <a:cs typeface="Times New Roman" panose="02020603050405020304" pitchFamily="18" charset="0"/>
                            </a:rPr>
                            <a:t> (CH) index: 2236.22 </a:t>
                          </a:r>
                        </a:p>
                        <a:p>
                          <a:pPr lvl="0"/>
                          <a:r>
                            <a:rPr lang="en-IN" sz="2000" b="0" dirty="0">
                              <a:solidFill>
                                <a:schemeClr val="bg2"/>
                              </a:solidFill>
                              <a:latin typeface="Times New Roman" panose="02020603050405020304" pitchFamily="18" charset="0"/>
                              <a:cs typeface="Times New Roman" panose="02020603050405020304" pitchFamily="18" charset="0"/>
                            </a:rPr>
                            <a:t>Davies-Bouldin Index (DBI): 0.65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Shows that traditional K-Means-style methods have difficulty with high-dimensional textual information and that deep semantic representations can improve customer segmentation. (</a:t>
                          </a:r>
                          <a:r>
                            <a:rPr lang="en-IN" sz="2000" b="0">
                              <a:solidFill>
                                <a:srgbClr val="111111"/>
                              </a:solidFill>
                              <a:latin typeface="Times New Roman" panose="02020603050405020304" pitchFamily="18" charset="0"/>
                              <a:cs typeface="Times New Roman" panose="02020603050405020304" pitchFamily="18" charset="0"/>
                              <a:hlinkClick r:id="rId11" tooltip="Deep segmentation of retail customers based on improved DEC and multimodal semantic representation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144783"/>
                      </a:ext>
                    </a:extLst>
                  </a:tr>
                  <a:tr h="192024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Kijwattanaphokin &amp; Lhaochot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of Logistics and Supply Chain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scoring + normalization + K-Means; Elbow Method for cluster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406,573 online retail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RFM Groups: Lost (2,596), At Risk (572), Loyal (509), Potential Loyalists (385), Champions (306). </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K-Means Clusters: Cluster 3 (3,130), Cluster 0 (1,087), Cluster 1 (143), Cluster 2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Finds that RFM provides interpretable groups while K-Means can expose deeper structural differences in customer </a:t>
                          </a:r>
                          <a:r>
                            <a:rPr lang="en-IN" sz="2000" b="0" dirty="0" err="1">
                              <a:solidFill>
                                <a:srgbClr val="111111"/>
                              </a:solidFill>
                              <a:latin typeface="Times New Roman" panose="02020603050405020304" pitchFamily="18" charset="0"/>
                              <a:cs typeface="Times New Roman" panose="02020603050405020304" pitchFamily="18" charset="0"/>
                            </a:rPr>
                            <a:t>behavior</a:t>
                          </a:r>
                          <a:r>
                            <a:rPr lang="en-IN" sz="2000" b="0" dirty="0">
                              <a:solidFill>
                                <a:srgbClr val="111111"/>
                              </a:solidFill>
                              <a:latin typeface="Times New Roman" panose="02020603050405020304" pitchFamily="18" charset="0"/>
                              <a:cs typeface="Times New Roman" panose="02020603050405020304" pitchFamily="18" charset="0"/>
                            </a:rPr>
                            <a:t>; the combined approach improves segmentation usefulness. (</a:t>
                          </a:r>
                          <a:r>
                            <a:rPr lang="en-IN" sz="2000" b="0" dirty="0">
                              <a:solidFill>
                                <a:srgbClr val="111111"/>
                              </a:solidFill>
                              <a:latin typeface="Times New Roman" panose="02020603050405020304" pitchFamily="18" charset="0"/>
                              <a:cs typeface="Times New Roman" panose="02020603050405020304" pitchFamily="18" charset="0"/>
                              <a:hlinkClick r:id="rId12" tooltip="Customer Segmentation Using a Hybrid Approach of K-Means Clustering and RFM: An Online Retail Case Study | Thai-Journal Online">
                                <a:extLst>
                                  <a:ext uri="{A12FA001-AC4F-418D-AE19-62706E023703}">
                                    <ahyp:hlinkClr xmlns:ahyp="http://schemas.microsoft.com/office/drawing/2018/hyperlinkcolor" val="tx"/>
                                  </a:ext>
                                </a:extLst>
                              </a:hlinkClick>
                            </a:rPr>
                            <a:t>Thai-Journal Online</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5842643"/>
                      </a:ext>
                    </a:extLst>
                  </a:tr>
                </a:tbl>
              </a:graphicData>
            </a:graphic>
          </p:graphicFrame>
        </mc:Fallback>
      </mc:AlternateContent>
    </p:spTree>
    <p:extLst>
      <p:ext uri="{BB962C8B-B14F-4D97-AF65-F5344CB8AC3E}">
        <p14:creationId xmlns:p14="http://schemas.microsoft.com/office/powerpoint/2010/main" val="1090186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CB44F2ED-B069-6108-78A6-B507C17B0C4D}"/>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464B79D0-6AD3-C472-B4B7-1F26043B5D15}"/>
              </a:ext>
            </a:extLst>
          </p:cNvPr>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Literature Review Table- III</a:t>
            </a:r>
            <a:endParaRPr sz="6000" b="1" dirty="0">
              <a:solidFill>
                <a:schemeClr val="dk2"/>
              </a:solidFill>
              <a:latin typeface="Times New Roman"/>
              <a:ea typeface="Times New Roman"/>
              <a:cs typeface="Times New Roman"/>
              <a:sym typeface="Times New Roman"/>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FB1F77A-F0B3-71A4-586E-2C3781D15885}"/>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8A5B961-D2C8-347F-AB87-1B4BCA86119F}"/>
                  </a:ext>
                </a:extLst>
              </p:cNvPr>
              <p:cNvGraphicFramePr>
                <a:graphicFrameLocks noGrp="1"/>
              </p:cNvGraphicFramePr>
              <p:nvPr>
                <p:extLst>
                  <p:ext uri="{D42A27DB-BD31-4B8C-83A1-F6EECF244321}">
                    <p14:modId xmlns:p14="http://schemas.microsoft.com/office/powerpoint/2010/main" val="3454450476"/>
                  </p:ext>
                </p:extLst>
              </p:nvPr>
            </p:nvGraphicFramePr>
            <p:xfrm>
              <a:off x="492369" y="2393847"/>
              <a:ext cx="23560327" cy="9246770"/>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1090998">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3337167">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err="1">
                              <a:solidFill>
                                <a:srgbClr val="111111"/>
                              </a:solidFill>
                              <a:latin typeface="Times New Roman" panose="02020603050405020304" pitchFamily="18" charset="0"/>
                              <a:cs typeface="Times New Roman" panose="02020603050405020304" pitchFamily="18" charset="0"/>
                            </a:rPr>
                            <a:t>Yusfa</a:t>
                          </a:r>
                          <a:r>
                            <a:rPr lang="en-IN" sz="2000" b="0" dirty="0">
                              <a:solidFill>
                                <a:srgbClr val="111111"/>
                              </a:solidFill>
                              <a:latin typeface="Times New Roman" panose="02020603050405020304" pitchFamily="18" charset="0"/>
                              <a:cs typeface="Times New Roman" panose="02020603050405020304" pitchFamily="18" charset="0"/>
                            </a:rPr>
                            <a:t>, </a:t>
                          </a:r>
                          <a:r>
                            <a:rPr lang="en-IN" sz="2000" b="0" dirty="0" err="1">
                              <a:solidFill>
                                <a:srgbClr val="111111"/>
                              </a:solidFill>
                              <a:latin typeface="Times New Roman" panose="02020603050405020304" pitchFamily="18" charset="0"/>
                              <a:cs typeface="Times New Roman" panose="02020603050405020304" pitchFamily="18" charset="0"/>
                            </a:rPr>
                            <a:t>Musyawwa</a:t>
                          </a:r>
                          <a:r>
                            <a:rPr lang="en-IN" sz="2000" b="0" dirty="0">
                              <a:solidFill>
                                <a:srgbClr val="111111"/>
                              </a:solidFill>
                              <a:latin typeface="Times New Roman" panose="02020603050405020304" pitchFamily="18" charset="0"/>
                              <a:cs typeface="Times New Roman" panose="02020603050405020304" pitchFamily="18" charset="0"/>
                            </a:rPr>
                            <a:t> &amp; Pratama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of Information Systems and Business 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 cleaning, outlier handling, RFM feature engineering, K-Means, Elbow Method and Silhouette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UCI Online Retail II; 525,000+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Silhouette Score: ~0.58 (</a:t>
                          </a:r>
                          <a14:m>
                            <m:oMath xmlns:m="http://schemas.openxmlformats.org/officeDocument/2006/math">
                              <m:r>
                                <a:rPr lang="en-IN" sz="2000" b="0" i="1" u="none" strike="noStrike" cap="none" smtClean="0">
                                  <a:solidFill>
                                    <a:schemeClr val="bg2"/>
                                  </a:solidFill>
                                  <a:latin typeface="Cambria Math" panose="02040503050406030204" pitchFamily="18" charset="0"/>
                                  <a:ea typeface="Lato Light"/>
                                  <a:cs typeface="Lato Light"/>
                                  <a:sym typeface="Arial"/>
                                </a:rPr>
                                <m:t>𝐾</m:t>
                              </m:r>
                              <m:r>
                                <a:rPr lang="en-IN" sz="2000" b="0" i="0" u="none" strike="noStrike" cap="none" smtClean="0">
                                  <a:solidFill>
                                    <a:schemeClr val="bg2"/>
                                  </a:solidFill>
                                  <a:latin typeface="Cambria Math" panose="02040503050406030204" pitchFamily="18" charset="0"/>
                                  <a:ea typeface="Lato Light"/>
                                  <a:cs typeface="Lato Light"/>
                                  <a:sym typeface="Arial"/>
                                </a:rPr>
                                <m:t>=3</m:t>
                              </m:r>
                            </m:oMath>
                          </a14:m>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 </a:t>
                          </a:r>
                          <a:br>
                            <a:rPr lang="en-IN" sz="2000" b="0" dirty="0">
                              <a:solidFill>
                                <a:schemeClr val="bg2"/>
                              </a:solidFill>
                              <a:latin typeface="Times New Roman" panose="02020603050405020304" pitchFamily="18" charset="0"/>
                              <a:cs typeface="Times New Roman" panose="02020603050405020304" pitchFamily="18" charset="0"/>
                            </a:rPr>
                          </a:b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Cluster 0 (Regular): 74.32%. </a:t>
                          </a:r>
                        </a:p>
                        <a:p>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Cluster 1 (Lost/At Risk): 25.17%. </a:t>
                          </a:r>
                          <a:br>
                            <a:rPr lang="en-IN" sz="2000" b="0" dirty="0">
                              <a:solidFill>
                                <a:schemeClr val="bg2"/>
                              </a:solidFill>
                              <a:latin typeface="Times New Roman" panose="02020603050405020304" pitchFamily="18" charset="0"/>
                              <a:cs typeface="Times New Roman" panose="02020603050405020304" pitchFamily="18" charset="0"/>
                            </a:rPr>
                          </a:b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Cluster 2 (High-Value Loyal): 0.51%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Demonstrates that Online Retail II can effectively support interpretable customer segmentation using RFM + K-Means. (</a:t>
                          </a:r>
                          <a:r>
                            <a:rPr lang="en-IN" sz="2000" b="0">
                              <a:solidFill>
                                <a:srgbClr val="111111"/>
                              </a:solidFill>
                              <a:latin typeface="Times New Roman" panose="02020603050405020304" pitchFamily="18" charset="0"/>
                              <a:cs typeface="Times New Roman" panose="02020603050405020304" pitchFamily="18" charset="0"/>
                              <a:hlinkClick r:id="rId4" tooltip="Customer Segmentation Using the K-Means Algorithm for Customer Intelligence and Marketing Strategy in an Online Retail Company (Case Study: Online Retail Dataset II) | Journal of Information Systems and Business Technology">
                                <a:extLst>
                                  <a:ext uri="{A12FA001-AC4F-418D-AE19-62706E023703}">
                                    <ahyp:hlinkClr xmlns:ahyp="http://schemas.microsoft.com/office/drawing/2018/hyperlinkcolor" val="tx"/>
                                  </a:ext>
                                </a:extLst>
                              </a:hlinkClick>
                            </a:rPr>
                            <a:t>PT Jurnal Cendekia Indonesia</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2438699">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err="1">
                              <a:solidFill>
                                <a:srgbClr val="111111"/>
                              </a:solidFill>
                              <a:latin typeface="Times New Roman" panose="02020603050405020304" pitchFamily="18" charset="0"/>
                              <a:cs typeface="Times New Roman" panose="02020603050405020304" pitchFamily="18" charset="0"/>
                            </a:rPr>
                            <a:t>Rahadian</a:t>
                          </a:r>
                          <a:r>
                            <a:rPr lang="en-IN" sz="2000" b="0" dirty="0">
                              <a:solidFill>
                                <a:srgbClr val="111111"/>
                              </a:solidFill>
                              <a:latin typeface="Times New Roman" panose="02020603050405020304" pitchFamily="18" charset="0"/>
                              <a:cs typeface="Times New Roman" panose="02020603050405020304" pitchFamily="18" charset="0"/>
                            </a:rPr>
                            <a:t> et al.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Procedia Computer Science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RFM + Deep Embedded Clustering (DEC) + K-Means + Customer Lifetime Value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670 customers, ~3,600 transactions from an educational-service MSME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dirty="0">
                              <a:solidFill>
                                <a:schemeClr val="bg2"/>
                              </a:solidFill>
                              <a:latin typeface="Times New Roman" panose="02020603050405020304" pitchFamily="18" charset="0"/>
                              <a:cs typeface="Times New Roman" panose="02020603050405020304" pitchFamily="18" charset="0"/>
                            </a:rPr>
                            <a:t>Performance (Deep Embedded Clustering - DEC):</a:t>
                          </a:r>
                        </a:p>
                        <a:p>
                          <a:pPr lvl="0"/>
                          <a:r>
                            <a:rPr lang="en-IN" sz="2000" b="0" dirty="0">
                              <a:solidFill>
                                <a:schemeClr val="bg2"/>
                              </a:solidFill>
                              <a:latin typeface="Times New Roman" panose="02020603050405020304" pitchFamily="18" charset="0"/>
                              <a:cs typeface="Times New Roman" panose="02020603050405020304" pitchFamily="18" charset="0"/>
                            </a:rPr>
                            <a:t>Silhouette Score: 0.449</a:t>
                          </a:r>
                        </a:p>
                        <a:p>
                          <a:pPr lvl="0"/>
                          <a:r>
                            <a:rPr lang="en-IN" sz="2000" b="0" dirty="0">
                              <a:solidFill>
                                <a:schemeClr val="bg2"/>
                              </a:solidFill>
                              <a:latin typeface="Times New Roman" panose="02020603050405020304" pitchFamily="18" charset="0"/>
                              <a:cs typeface="Times New Roman" panose="02020603050405020304" pitchFamily="18" charset="0"/>
                            </a:rPr>
                            <a:t>Davies-Bouldin Index (DBI): 0.794</a:t>
                          </a:r>
                        </a:p>
                        <a:p>
                          <a:pPr lvl="0"/>
                          <a:r>
                            <a:rPr lang="en-IN" sz="2000" b="0" dirty="0" err="1">
                              <a:solidFill>
                                <a:schemeClr val="bg2"/>
                              </a:solidFill>
                              <a:latin typeface="Times New Roman" panose="02020603050405020304" pitchFamily="18" charset="0"/>
                              <a:cs typeface="Times New Roman" panose="02020603050405020304" pitchFamily="18" charset="0"/>
                            </a:rPr>
                            <a:t>Calinski-Harabasz</a:t>
                          </a:r>
                          <a:r>
                            <a:rPr lang="en-IN" sz="2000" b="0" dirty="0">
                              <a:solidFill>
                                <a:schemeClr val="bg2"/>
                              </a:solidFill>
                              <a:latin typeface="Times New Roman" panose="02020603050405020304" pitchFamily="18" charset="0"/>
                              <a:cs typeface="Times New Roman" panose="02020603050405020304" pitchFamily="18" charset="0"/>
                            </a:rPr>
                            <a:t> Index (CHI): 196.0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DEC outperformed K-Means on the reported clustering evaluation measures and successfully identified high-CLV customer groups. (</a:t>
                          </a:r>
                          <a:r>
                            <a:rPr lang="en-IN" sz="2000" b="0">
                              <a:solidFill>
                                <a:srgbClr val="111111"/>
                              </a:solidFill>
                              <a:latin typeface="Times New Roman" panose="02020603050405020304" pitchFamily="18" charset="0"/>
                              <a:cs typeface="Times New Roman" panose="02020603050405020304" pitchFamily="18" charset="0"/>
                              <a:hlinkClick r:id="rId5" tooltip="Customer segmentation based on RFM, deep embedded clustering, and lifetime value analysis for loyalty strategy optimization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8125432"/>
                      </a:ext>
                    </a:extLst>
                  </a:tr>
                  <a:tr h="2379906">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Manikandan et al.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Discover Computing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Extended RFM with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features such as repurchase time, average order value and interpurchase time; deep-learning prediction model with segmentation 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Online retail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Silhouette Score: 0.633 (</a:t>
                          </a:r>
                          <a14:m>
                            <m:oMath xmlns:m="http://schemas.openxmlformats.org/officeDocument/2006/math">
                              <m:r>
                                <a:rPr lang="en-IN" sz="2000" b="0" i="1" u="none" strike="noStrike" cap="none" smtClean="0">
                                  <a:solidFill>
                                    <a:schemeClr val="bg2"/>
                                  </a:solidFill>
                                  <a:latin typeface="Cambria Math" panose="02040503050406030204" pitchFamily="18" charset="0"/>
                                  <a:ea typeface="Lato Light"/>
                                  <a:cs typeface="Lato Light"/>
                                  <a:sym typeface="Arial"/>
                                </a:rPr>
                                <m:t>𝐾</m:t>
                              </m:r>
                              <m:r>
                                <a:rPr lang="en-IN" sz="2000" b="0" i="0" u="none" strike="noStrike" cap="none" smtClean="0">
                                  <a:solidFill>
                                    <a:schemeClr val="bg2"/>
                                  </a:solidFill>
                                  <a:latin typeface="Cambria Math" panose="02040503050406030204" pitchFamily="18" charset="0"/>
                                  <a:ea typeface="Lato Light"/>
                                  <a:cs typeface="Lato Light"/>
                                  <a:sym typeface="Arial"/>
                                </a:rPr>
                                <m:t>=3</m:t>
                              </m:r>
                            </m:oMath>
                          </a14:m>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Overall Accuracy: 96.10%</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F-Score: 92.42%</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Inference Time: 3.84 </a:t>
                          </a:r>
                          <a:r>
                            <a:rPr lang="en-IN" sz="2000" b="0" i="0" u="none" strike="noStrike" cap="none" dirty="0" err="1">
                              <a:solidFill>
                                <a:schemeClr val="bg2"/>
                              </a:solidFill>
                              <a:effectLst/>
                              <a:latin typeface="Times New Roman" panose="02020603050405020304" pitchFamily="18" charset="0"/>
                              <a:ea typeface="Lato Light"/>
                              <a:cs typeface="Times New Roman" panose="02020603050405020304" pitchFamily="18" charset="0"/>
                              <a:sym typeface="Arial"/>
                            </a:rPr>
                            <a:t>ms</a:t>
                          </a:r>
                          <a:endPar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standard RFM can be extended with additional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variables and combined with deep learning for customer segmentation and purchase-</a:t>
                          </a:r>
                          <a:r>
                            <a:rPr lang="en-IN" sz="2000" b="0" dirty="0" err="1">
                              <a:solidFill>
                                <a:srgbClr val="111111"/>
                              </a:solidFill>
                              <a:latin typeface="Times New Roman" panose="02020603050405020304" pitchFamily="18" charset="0"/>
                              <a:cs typeface="Times New Roman" panose="02020603050405020304" pitchFamily="18" charset="0"/>
                            </a:rPr>
                            <a:t>behavior</a:t>
                          </a:r>
                          <a:r>
                            <a:rPr lang="en-IN" sz="2000" b="0" dirty="0">
                              <a:solidFill>
                                <a:srgbClr val="111111"/>
                              </a:solidFill>
                              <a:latin typeface="Times New Roman" panose="02020603050405020304" pitchFamily="18" charset="0"/>
                              <a:cs typeface="Times New Roman" panose="02020603050405020304" pitchFamily="18" charset="0"/>
                            </a:rPr>
                            <a:t> prediction. (</a:t>
                          </a:r>
                          <a:r>
                            <a:rPr lang="en-IN" sz="2000" b="0" dirty="0">
                              <a:solidFill>
                                <a:srgbClr val="111111"/>
                              </a:solidFill>
                              <a:latin typeface="Times New Roman" panose="02020603050405020304" pitchFamily="18" charset="0"/>
                              <a:cs typeface="Times New Roman" panose="02020603050405020304" pitchFamily="18" charset="0"/>
                              <a:hlinkClick r:id="rId6" tooltip="Deep learning-driven customer segmentation model for online retail industry based on extended RFM model | Discover Computing | Springer Nature Link">
                                <a:extLst>
                                  <a:ext uri="{A12FA001-AC4F-418D-AE19-62706E023703}">
                                    <ahyp:hlinkClr xmlns:ahyp="http://schemas.microsoft.com/office/drawing/2018/hyperlinkcolor" val="tx"/>
                                  </a:ext>
                                </a:extLst>
                              </a:hlinkClick>
                            </a:rPr>
                            <a:t>Springer Link</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bl>
              </a:graphicData>
            </a:graphic>
          </p:graphicFrame>
        </mc:Choice>
        <mc:Fallback xmlns="">
          <p:graphicFrame>
            <p:nvGraphicFramePr>
              <p:cNvPr id="4" name="Table 3">
                <a:extLst>
                  <a:ext uri="{FF2B5EF4-FFF2-40B4-BE49-F238E27FC236}">
                    <a16:creationId xmlns:a16="http://schemas.microsoft.com/office/drawing/2014/main" id="{68A5B961-D2C8-347F-AB87-1B4BCA86119F}"/>
                  </a:ext>
                </a:extLst>
              </p:cNvPr>
              <p:cNvGraphicFramePr>
                <a:graphicFrameLocks noGrp="1"/>
              </p:cNvGraphicFramePr>
              <p:nvPr>
                <p:extLst>
                  <p:ext uri="{D42A27DB-BD31-4B8C-83A1-F6EECF244321}">
                    <p14:modId xmlns:p14="http://schemas.microsoft.com/office/powerpoint/2010/main" val="3454450476"/>
                  </p:ext>
                </p:extLst>
              </p:nvPr>
            </p:nvGraphicFramePr>
            <p:xfrm>
              <a:off x="492369" y="2393847"/>
              <a:ext cx="23560327" cy="9246770"/>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1090998">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3337167">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err="1">
                              <a:solidFill>
                                <a:srgbClr val="111111"/>
                              </a:solidFill>
                              <a:latin typeface="Times New Roman" panose="02020603050405020304" pitchFamily="18" charset="0"/>
                              <a:cs typeface="Times New Roman" panose="02020603050405020304" pitchFamily="18" charset="0"/>
                            </a:rPr>
                            <a:t>Yusfa</a:t>
                          </a:r>
                          <a:r>
                            <a:rPr lang="en-IN" sz="2000" b="0" dirty="0">
                              <a:solidFill>
                                <a:srgbClr val="111111"/>
                              </a:solidFill>
                              <a:latin typeface="Times New Roman" panose="02020603050405020304" pitchFamily="18" charset="0"/>
                              <a:cs typeface="Times New Roman" panose="02020603050405020304" pitchFamily="18" charset="0"/>
                            </a:rPr>
                            <a:t>, </a:t>
                          </a:r>
                          <a:r>
                            <a:rPr lang="en-IN" sz="2000" b="0" dirty="0" err="1">
                              <a:solidFill>
                                <a:srgbClr val="111111"/>
                              </a:solidFill>
                              <a:latin typeface="Times New Roman" panose="02020603050405020304" pitchFamily="18" charset="0"/>
                              <a:cs typeface="Times New Roman" panose="02020603050405020304" pitchFamily="18" charset="0"/>
                            </a:rPr>
                            <a:t>Musyawwa</a:t>
                          </a:r>
                          <a:r>
                            <a:rPr lang="en-IN" sz="2000" b="0" dirty="0">
                              <a:solidFill>
                                <a:srgbClr val="111111"/>
                              </a:solidFill>
                              <a:latin typeface="Times New Roman" panose="02020603050405020304" pitchFamily="18" charset="0"/>
                              <a:cs typeface="Times New Roman" panose="02020603050405020304" pitchFamily="18" charset="0"/>
                            </a:rPr>
                            <a:t> &amp; Pratama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of Information Systems and Business 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 cleaning, outlier handling, RFM feature engineering, K-Means, Elbow Method and Silhouette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UCI Online Retail II; 525,000+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90726" t="-32847" r="-107264" b="-144708"/>
                          </a:stretch>
                        </a:blip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Demonstrates that Online Retail II can effectively support interpretable customer segmentation using RFM + K-Means. (</a:t>
                          </a:r>
                          <a:r>
                            <a:rPr lang="en-IN" sz="2000" b="0">
                              <a:solidFill>
                                <a:srgbClr val="111111"/>
                              </a:solidFill>
                              <a:latin typeface="Times New Roman" panose="02020603050405020304" pitchFamily="18" charset="0"/>
                              <a:cs typeface="Times New Roman" panose="02020603050405020304" pitchFamily="18" charset="0"/>
                              <a:hlinkClick r:id="rId8" tooltip="Customer Segmentation Using the K-Means Algorithm for Customer Intelligence and Marketing Strategy in an Online Retail Company (Case Study: Online Retail Dataset II) | Journal of Information Systems and Business Technology">
                                <a:extLst>
                                  <a:ext uri="{A12FA001-AC4F-418D-AE19-62706E023703}">
                                    <ahyp:hlinkClr xmlns:ahyp="http://schemas.microsoft.com/office/drawing/2018/hyperlinkcolor" val="tx"/>
                                  </a:ext>
                                </a:extLst>
                              </a:hlinkClick>
                            </a:rPr>
                            <a:t>PT Jurnal Cendekia Indonesia</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2438699">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Rahadian et al.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Procedia Computer Science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RFM + Deep Embedded Clustering (DEC) + K-Means + Customer Lifetime Value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670 customers, ~3,600 transactions from an educational-service MSME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dirty="0">
                              <a:solidFill>
                                <a:schemeClr val="bg2"/>
                              </a:solidFill>
                              <a:latin typeface="Times New Roman" panose="02020603050405020304" pitchFamily="18" charset="0"/>
                              <a:cs typeface="Times New Roman" panose="02020603050405020304" pitchFamily="18" charset="0"/>
                            </a:rPr>
                            <a:t>Performance (Deep Embedded Clustering - DEC):</a:t>
                          </a:r>
                        </a:p>
                        <a:p>
                          <a:pPr lvl="0"/>
                          <a:r>
                            <a:rPr lang="en-IN" sz="2000" b="0" dirty="0">
                              <a:solidFill>
                                <a:schemeClr val="bg2"/>
                              </a:solidFill>
                              <a:latin typeface="Times New Roman" panose="02020603050405020304" pitchFamily="18" charset="0"/>
                              <a:cs typeface="Times New Roman" panose="02020603050405020304" pitchFamily="18" charset="0"/>
                            </a:rPr>
                            <a:t>Silhouette Score: 0.449</a:t>
                          </a:r>
                        </a:p>
                        <a:p>
                          <a:pPr lvl="0"/>
                          <a:r>
                            <a:rPr lang="en-IN" sz="2000" b="0" dirty="0">
                              <a:solidFill>
                                <a:schemeClr val="bg2"/>
                              </a:solidFill>
                              <a:latin typeface="Times New Roman" panose="02020603050405020304" pitchFamily="18" charset="0"/>
                              <a:cs typeface="Times New Roman" panose="02020603050405020304" pitchFamily="18" charset="0"/>
                            </a:rPr>
                            <a:t>Davies-Bouldin Index (DBI): 0.794</a:t>
                          </a:r>
                        </a:p>
                        <a:p>
                          <a:pPr lvl="0"/>
                          <a:r>
                            <a:rPr lang="en-IN" sz="2000" b="0" dirty="0" err="1">
                              <a:solidFill>
                                <a:schemeClr val="bg2"/>
                              </a:solidFill>
                              <a:latin typeface="Times New Roman" panose="02020603050405020304" pitchFamily="18" charset="0"/>
                              <a:cs typeface="Times New Roman" panose="02020603050405020304" pitchFamily="18" charset="0"/>
                            </a:rPr>
                            <a:t>Calinski-Harabasz</a:t>
                          </a:r>
                          <a:r>
                            <a:rPr lang="en-IN" sz="2000" b="0" dirty="0">
                              <a:solidFill>
                                <a:schemeClr val="bg2"/>
                              </a:solidFill>
                              <a:latin typeface="Times New Roman" panose="02020603050405020304" pitchFamily="18" charset="0"/>
                              <a:cs typeface="Times New Roman" panose="02020603050405020304" pitchFamily="18" charset="0"/>
                            </a:rPr>
                            <a:t> Index (CHI): 196.0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DEC outperformed K-Means on the reported clustering evaluation measures and successfully identified high-CLV customer groups. (</a:t>
                          </a:r>
                          <a:r>
                            <a:rPr lang="en-IN" sz="2000" b="0">
                              <a:solidFill>
                                <a:srgbClr val="111111"/>
                              </a:solidFill>
                              <a:latin typeface="Times New Roman" panose="02020603050405020304" pitchFamily="18" charset="0"/>
                              <a:cs typeface="Times New Roman" panose="02020603050405020304" pitchFamily="18" charset="0"/>
                              <a:hlinkClick r:id="rId9" tooltip="Customer segmentation based on RFM, deep embedded clustering, and lifetime value analysis for loyalty strategy optimization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8125432"/>
                      </a:ext>
                    </a:extLst>
                  </a:tr>
                  <a:tr h="2379906">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Manikandan et al.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Discover Computing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Extended RFM with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features such as repurchase time, average order value and interpurchase time; deep-learning prediction model with segmentation 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Online retail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90726" t="-288491" r="-107264" b="-512"/>
                          </a:stretch>
                        </a:blip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standard RFM can be extended with additional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variables and combined with deep learning for customer segmentation and purchase-</a:t>
                          </a:r>
                          <a:r>
                            <a:rPr lang="en-IN" sz="2000" b="0" dirty="0" err="1">
                              <a:solidFill>
                                <a:srgbClr val="111111"/>
                              </a:solidFill>
                              <a:latin typeface="Times New Roman" panose="02020603050405020304" pitchFamily="18" charset="0"/>
                              <a:cs typeface="Times New Roman" panose="02020603050405020304" pitchFamily="18" charset="0"/>
                            </a:rPr>
                            <a:t>behavior</a:t>
                          </a:r>
                          <a:r>
                            <a:rPr lang="en-IN" sz="2000" b="0" dirty="0">
                              <a:solidFill>
                                <a:srgbClr val="111111"/>
                              </a:solidFill>
                              <a:latin typeface="Times New Roman" panose="02020603050405020304" pitchFamily="18" charset="0"/>
                              <a:cs typeface="Times New Roman" panose="02020603050405020304" pitchFamily="18" charset="0"/>
                            </a:rPr>
                            <a:t> prediction. (</a:t>
                          </a:r>
                          <a:r>
                            <a:rPr lang="en-IN" sz="2000" b="0" dirty="0">
                              <a:solidFill>
                                <a:srgbClr val="111111"/>
                              </a:solidFill>
                              <a:latin typeface="Times New Roman" panose="02020603050405020304" pitchFamily="18" charset="0"/>
                              <a:cs typeface="Times New Roman" panose="02020603050405020304" pitchFamily="18" charset="0"/>
                              <a:hlinkClick r:id="rId10" tooltip="Deep learning-driven customer segmentation model for online retail industry based on extended RFM model | Discover Computing | Springer Nature Link">
                                <a:extLst>
                                  <a:ext uri="{A12FA001-AC4F-418D-AE19-62706E023703}">
                                    <ahyp:hlinkClr xmlns:ahyp="http://schemas.microsoft.com/office/drawing/2018/hyperlinkcolor" val="tx"/>
                                  </a:ext>
                                </a:extLst>
                              </a:hlinkClick>
                            </a:rPr>
                            <a:t>Springer Link</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bl>
              </a:graphicData>
            </a:graphic>
          </p:graphicFrame>
        </mc:Fallback>
      </mc:AlternateContent>
    </p:spTree>
    <p:extLst>
      <p:ext uri="{BB962C8B-B14F-4D97-AF65-F5344CB8AC3E}">
        <p14:creationId xmlns:p14="http://schemas.microsoft.com/office/powerpoint/2010/main" val="3308110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D505048-D97A-DFC2-62CF-6D072472D6CF}"/>
            </a:ext>
          </a:extLst>
        </p:cNvPr>
        <p:cNvGrpSpPr/>
        <p:nvPr/>
      </p:nvGrpSpPr>
      <p:grpSpPr>
        <a:xfrm>
          <a:off x="0" y="0"/>
          <a:ext cx="0" cy="0"/>
          <a:chOff x="0" y="0"/>
          <a:chExt cx="0" cy="0"/>
        </a:xfrm>
      </p:grpSpPr>
      <p:sp>
        <p:nvSpPr>
          <p:cNvPr id="144" name="Google Shape;144;p5">
            <a:extLst>
              <a:ext uri="{FF2B5EF4-FFF2-40B4-BE49-F238E27FC236}">
                <a16:creationId xmlns:a16="http://schemas.microsoft.com/office/drawing/2014/main" id="{95FE59C7-93F2-A1CF-F0A2-7BB5B1F7883C}"/>
              </a:ext>
            </a:extLst>
          </p:cNvPr>
          <p:cNvSpPr txBox="1"/>
          <p:nvPr/>
        </p:nvSpPr>
        <p:spPr>
          <a:xfrm>
            <a:off x="1615186" y="595215"/>
            <a:ext cx="1800285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Key Findings from Literature Review</a:t>
            </a:r>
            <a:endParaRPr sz="2800" b="1" dirty="0">
              <a:solidFill>
                <a:schemeClr val="dk2"/>
              </a:solidFill>
              <a:latin typeface="Times New Roman"/>
              <a:ea typeface="Times New Roman"/>
              <a:cs typeface="Times New Roman"/>
              <a:sym typeface="Times New Roman"/>
            </a:endParaRPr>
          </a:p>
        </p:txBody>
      </p:sp>
      <p:grpSp>
        <p:nvGrpSpPr>
          <p:cNvPr id="145" name="Google Shape;145;p5">
            <a:extLst>
              <a:ext uri="{FF2B5EF4-FFF2-40B4-BE49-F238E27FC236}">
                <a16:creationId xmlns:a16="http://schemas.microsoft.com/office/drawing/2014/main" id="{764F1A9F-351D-D22A-25AA-F93E51CFC7FB}"/>
              </a:ext>
            </a:extLst>
          </p:cNvPr>
          <p:cNvGrpSpPr/>
          <p:nvPr/>
        </p:nvGrpSpPr>
        <p:grpSpPr>
          <a:xfrm>
            <a:off x="1730735" y="1783761"/>
            <a:ext cx="6581991" cy="45719"/>
            <a:chOff x="1775295" y="2028842"/>
            <a:chExt cx="3631535" cy="45719"/>
          </a:xfrm>
        </p:grpSpPr>
        <p:sp>
          <p:nvSpPr>
            <p:cNvPr id="146" name="Google Shape;146;p5">
              <a:extLst>
                <a:ext uri="{FF2B5EF4-FFF2-40B4-BE49-F238E27FC236}">
                  <a16:creationId xmlns:a16="http://schemas.microsoft.com/office/drawing/2014/main" id="{D52111DB-54DD-ADC9-DAF7-C940B4A5F504}"/>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7" name="Google Shape;147;p5">
              <a:extLst>
                <a:ext uri="{FF2B5EF4-FFF2-40B4-BE49-F238E27FC236}">
                  <a16:creationId xmlns:a16="http://schemas.microsoft.com/office/drawing/2014/main" id="{06BD7375-0581-7EA0-E9C5-6C891D361B19}"/>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8" name="Google Shape;148;p5">
              <a:extLst>
                <a:ext uri="{FF2B5EF4-FFF2-40B4-BE49-F238E27FC236}">
                  <a16:creationId xmlns:a16="http://schemas.microsoft.com/office/drawing/2014/main" id="{76960FEA-8806-81E7-6925-583AE1751C81}"/>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9" name="Google Shape;149;p5">
              <a:extLst>
                <a:ext uri="{FF2B5EF4-FFF2-40B4-BE49-F238E27FC236}">
                  <a16:creationId xmlns:a16="http://schemas.microsoft.com/office/drawing/2014/main" id="{045E12BE-B5D1-10AE-09D7-E3620BE3084A}"/>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0" name="Google Shape;150;p5">
              <a:extLst>
                <a:ext uri="{FF2B5EF4-FFF2-40B4-BE49-F238E27FC236}">
                  <a16:creationId xmlns:a16="http://schemas.microsoft.com/office/drawing/2014/main" id="{056A646C-37EB-A2C1-0AA8-A8457E7C208E}"/>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1" name="Google Shape;151;p5">
              <a:extLst>
                <a:ext uri="{FF2B5EF4-FFF2-40B4-BE49-F238E27FC236}">
                  <a16:creationId xmlns:a16="http://schemas.microsoft.com/office/drawing/2014/main" id="{A964D767-DB84-873F-B07F-6F881062FF48}"/>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52" name="Google Shape;152;p5">
            <a:extLst>
              <a:ext uri="{FF2B5EF4-FFF2-40B4-BE49-F238E27FC236}">
                <a16:creationId xmlns:a16="http://schemas.microsoft.com/office/drawing/2014/main" id="{3FDA35ED-8260-4D3A-8611-A52890D495B6}"/>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9E71E123-B61D-CAC9-2D66-C48F7C8DEEBA}"/>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16" name="TextBox 15">
            <a:extLst>
              <a:ext uri="{FF2B5EF4-FFF2-40B4-BE49-F238E27FC236}">
                <a16:creationId xmlns:a16="http://schemas.microsoft.com/office/drawing/2014/main" id="{F8816A19-F705-7FBD-8A71-C010DCDEE193}"/>
              </a:ext>
            </a:extLst>
          </p:cNvPr>
          <p:cNvSpPr txBox="1"/>
          <p:nvPr/>
        </p:nvSpPr>
        <p:spPr>
          <a:xfrm>
            <a:off x="547809" y="2550580"/>
            <a:ext cx="23282031" cy="7971413"/>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1. RFM is widely used for customer segmentation</a:t>
            </a:r>
          </a:p>
          <a:p>
            <a:r>
              <a:rPr lang="en-IN" sz="3200" dirty="0">
                <a:latin typeface="Times New Roman" panose="02020603050405020304" pitchFamily="18" charset="0"/>
                <a:cs typeface="Times New Roman" panose="02020603050405020304" pitchFamily="18" charset="0"/>
              </a:rPr>
              <a:t>RFM effectively captures recency, purchase frequency and customer spending, but most studies combine it with traditional clustering methods such as K-Means. </a:t>
            </a:r>
            <a:r>
              <a:rPr lang="en-IN" sz="3200" dirty="0"/>
              <a:t>[3], [4],</a:t>
            </a:r>
            <a:r>
              <a:rPr lang="en-IN" sz="3200" dirty="0">
                <a:latin typeface="Times New Roman" panose="02020603050405020304" pitchFamily="18" charset="0"/>
                <a:cs typeface="Times New Roman" panose="02020603050405020304" pitchFamily="18" charset="0"/>
              </a:rPr>
              <a:t>[5], [6], [9], [10]</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2. Deep Learning provides richer customer representations</a:t>
            </a:r>
          </a:p>
          <a:p>
            <a:r>
              <a:rPr lang="en-IN" sz="3200" dirty="0">
                <a:latin typeface="Times New Roman" panose="02020603050405020304" pitchFamily="18" charset="0"/>
                <a:cs typeface="Times New Roman" panose="02020603050405020304" pitchFamily="18" charset="0"/>
              </a:rPr>
              <a:t>Studies on DEC, IDEC and deep semantic representations show that Deep Learning can learn complex patterns that may not be captured by directly using the original features. [1], [2], [8]</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3. Deep Learning shows potential over traditional clustering</a:t>
            </a:r>
          </a:p>
          <a:p>
            <a:r>
              <a:rPr lang="en-IN" sz="3200" dirty="0">
                <a:latin typeface="Times New Roman" panose="02020603050405020304" pitchFamily="18" charset="0"/>
                <a:cs typeface="Times New Roman" panose="02020603050405020304" pitchFamily="18" charset="0"/>
              </a:rPr>
              <a:t>The study in [11] reported better clustering evaluation results for DEC compared with K-Means, supporting the use of more advanced Deep Learning-based approaches.</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4. Behavioural features can improve customer profiling</a:t>
            </a:r>
          </a:p>
          <a:p>
            <a:r>
              <a:rPr lang="en-IN" sz="3200" dirty="0">
                <a:latin typeface="Times New Roman" panose="02020603050405020304" pitchFamily="18" charset="0"/>
                <a:cs typeface="Times New Roman" panose="02020603050405020304" pitchFamily="18" charset="0"/>
              </a:rPr>
              <a:t>Research shows that extending basic RFM with features such as average order value, repurchase time and interpurchase time provides a richer view of customer behaviour. [12]</a:t>
            </a: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2730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9"/>
          <p:cNvSpPr txBox="1"/>
          <p:nvPr/>
        </p:nvSpPr>
        <p:spPr>
          <a:xfrm>
            <a:off x="2449939" y="735892"/>
            <a:ext cx="21004184" cy="53244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panose="02020603050405020304" pitchFamily="18" charset="0"/>
                <a:ea typeface="Times New Roman"/>
                <a:cs typeface="Times New Roman" panose="02020603050405020304" pitchFamily="18" charset="0"/>
                <a:sym typeface="Times New Roman"/>
              </a:rPr>
              <a:t>Research Gaps</a:t>
            </a:r>
            <a:endParaRPr sz="60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spcBef>
                <a:spcPts val="0"/>
              </a:spcBef>
              <a:spcAft>
                <a:spcPts val="0"/>
              </a:spcAft>
              <a:buNone/>
            </a:pPr>
            <a:r>
              <a:rPr lang="en-US" sz="2800" dirty="0">
                <a:solidFill>
                  <a:schemeClr val="dk2"/>
                </a:solidFill>
                <a:latin typeface="Times New Roman" panose="02020603050405020304" pitchFamily="18" charset="0"/>
                <a:ea typeface="Lato Light"/>
                <a:cs typeface="Times New Roman" panose="02020603050405020304" pitchFamily="18" charset="0"/>
                <a:sym typeface="Lato Light"/>
              </a:rPr>
              <a:t> </a:t>
            </a:r>
            <a:endParaRPr sz="28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00" name="Google Shape;200;p9"/>
          <p:cNvGrpSpPr/>
          <p:nvPr/>
        </p:nvGrpSpPr>
        <p:grpSpPr>
          <a:xfrm>
            <a:off x="1730736" y="1783761"/>
            <a:ext cx="8078282" cy="45719"/>
            <a:chOff x="1775295" y="2028842"/>
            <a:chExt cx="3631535" cy="45719"/>
          </a:xfrm>
        </p:grpSpPr>
        <p:sp>
          <p:nvSpPr>
            <p:cNvPr id="201" name="Google Shape;201;p9"/>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2" name="Google Shape;202;p9"/>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3" name="Google Shape;203;p9"/>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4" name="Google Shape;204;p9"/>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5" name="Google Shape;205;p9"/>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6" name="Google Shape;206;p9"/>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grpSp>
      <p:pic>
        <p:nvPicPr>
          <p:cNvPr id="11"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17" name="Rounded Rectangle 16"/>
          <p:cNvSpPr/>
          <p:nvPr/>
        </p:nvSpPr>
        <p:spPr>
          <a:xfrm>
            <a:off x="808892" y="2708031"/>
            <a:ext cx="10895428" cy="4290646"/>
          </a:xfrm>
          <a:prstGeom prst="roundRect">
            <a:avLst/>
          </a:prstGeom>
          <a:solidFill>
            <a:srgbClr val="FAFAFA"/>
          </a:solidFill>
          <a:ln w="12700">
            <a:solidFill>
              <a:srgbClr val="AFAFAF"/>
            </a:solidFill>
          </a:ln>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marL="342900" indent="-342900" algn="ctr">
              <a:buAutoNum type="arabicPeriod"/>
              <a:defRPr sz="1600" b="1">
                <a:solidFill>
                  <a:srgbClr val="141414"/>
                </a:solidFill>
                <a:latin typeface="Times New Roman"/>
              </a:defRPr>
            </a:pPr>
            <a:r>
              <a:rPr lang="en-US" sz="2800" b="1" dirty="0">
                <a:solidFill>
                  <a:srgbClr val="141414"/>
                </a:solidFill>
                <a:latin typeface="Times New Roman" panose="02020603050405020304" pitchFamily="18" charset="0"/>
                <a:cs typeface="Times New Roman" panose="02020603050405020304" pitchFamily="18" charset="0"/>
              </a:rPr>
              <a:t>Limited Use of Deep Learning</a:t>
            </a:r>
          </a:p>
          <a:p>
            <a:pPr algn="ctr">
              <a:defRPr sz="1600" b="1">
                <a:solidFill>
                  <a:srgbClr val="141414"/>
                </a:solidFill>
                <a:latin typeface="Times New Roman"/>
              </a:defRPr>
            </a:pPr>
            <a:endParaRPr lang="en-US" sz="2800" b="1" dirty="0">
              <a:solidFill>
                <a:srgbClr val="141414"/>
              </a:solidFill>
              <a:latin typeface="Times New Roman" panose="02020603050405020304" pitchFamily="18" charset="0"/>
              <a:cs typeface="Times New Roman" panose="02020603050405020304" pitchFamily="18" charset="0"/>
            </a:endParaRPr>
          </a:p>
          <a:p>
            <a:pPr algn="ctr">
              <a:defRPr sz="1600" b="1">
                <a:solidFill>
                  <a:srgbClr val="141414"/>
                </a:solidFill>
                <a:latin typeface="Times New Roman"/>
              </a:defRPr>
            </a:pPr>
            <a:r>
              <a:rPr lang="en-IN" sz="2800" b="1" dirty="0">
                <a:solidFill>
                  <a:srgbClr val="141414"/>
                </a:solidFill>
                <a:latin typeface="Times New Roman" panose="02020603050405020304" pitchFamily="18" charset="0"/>
                <a:cs typeface="Times New Roman" panose="02020603050405020304" pitchFamily="18" charset="0"/>
              </a:rPr>
              <a:t>Most studies rely on RFM with traditional K-Means, with limited use of Deep Learning for learning customer representations. [3], [4], [5], [6], [9], [10]</a:t>
            </a:r>
            <a:endParaRPr lang="en-US" sz="2800" dirty="0">
              <a:latin typeface="Times New Roman" panose="02020603050405020304" pitchFamily="18" charset="0"/>
              <a:cs typeface="Times New Roman" panose="02020603050405020304" pitchFamily="18" charset="0"/>
            </a:endParaRPr>
          </a:p>
        </p:txBody>
      </p:sp>
      <p:sp>
        <p:nvSpPr>
          <p:cNvPr id="18" name="Rounded Rectangle 17"/>
          <p:cNvSpPr/>
          <p:nvPr/>
        </p:nvSpPr>
        <p:spPr>
          <a:xfrm>
            <a:off x="12070080" y="2708031"/>
            <a:ext cx="11581228" cy="4290646"/>
          </a:xfrm>
          <a:prstGeom prst="roundRect">
            <a:avLst/>
          </a:prstGeom>
          <a:solidFill>
            <a:srgbClr val="FAFAFA"/>
          </a:solidFill>
          <a:ln w="12700">
            <a:solidFill>
              <a:srgbClr val="AFAFAF"/>
            </a:solidFill>
          </a:ln>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defRPr sz="1600" b="1">
                <a:solidFill>
                  <a:srgbClr val="141414"/>
                </a:solidFill>
                <a:latin typeface="Times New Roman"/>
              </a:defRPr>
            </a:pPr>
            <a:r>
              <a:rPr lang="en-US" sz="2800" dirty="0">
                <a:latin typeface="Times New Roman" panose="02020603050405020304" pitchFamily="18" charset="0"/>
                <a:cs typeface="Times New Roman" panose="02020603050405020304" pitchFamily="18" charset="0"/>
              </a:rPr>
              <a:t>2. Limited Behavioral Features</a:t>
            </a:r>
          </a:p>
          <a:p>
            <a:pPr algn="ctr">
              <a:defRPr sz="1600" b="1">
                <a:solidFill>
                  <a:srgbClr val="141414"/>
                </a:solidFill>
                <a:latin typeface="Times New Roman"/>
              </a:defRPr>
            </a:pPr>
            <a:endParaRPr lang="en-US" sz="2800" dirty="0">
              <a:latin typeface="Times New Roman" panose="02020603050405020304" pitchFamily="18" charset="0"/>
              <a:cs typeface="Times New Roman" panose="02020603050405020304" pitchFamily="18" charset="0"/>
            </a:endParaRPr>
          </a:p>
          <a:p>
            <a:pPr algn="ctr">
              <a:defRPr sz="1600" b="1">
                <a:solidFill>
                  <a:srgbClr val="141414"/>
                </a:solidFill>
                <a:latin typeface="Times New Roman"/>
              </a:defRPr>
            </a:pPr>
            <a:r>
              <a:rPr lang="en-IN" sz="2800" dirty="0">
                <a:solidFill>
                  <a:srgbClr val="141414"/>
                </a:solidFill>
                <a:latin typeface="Times New Roman" panose="02020603050405020304" pitchFamily="18" charset="0"/>
                <a:cs typeface="Times New Roman" panose="02020603050405020304" pitchFamily="18" charset="0"/>
              </a:rPr>
              <a:t>Several studies mainly use basic RFM, while additional </a:t>
            </a:r>
            <a:r>
              <a:rPr lang="en-IN" sz="2800" dirty="0" err="1">
                <a:solidFill>
                  <a:srgbClr val="141414"/>
                </a:solidFill>
                <a:latin typeface="Times New Roman" panose="02020603050405020304" pitchFamily="18" charset="0"/>
                <a:cs typeface="Times New Roman" panose="02020603050405020304" pitchFamily="18" charset="0"/>
              </a:rPr>
              <a:t>behavioral</a:t>
            </a:r>
            <a:r>
              <a:rPr lang="en-IN" sz="2800" dirty="0">
                <a:solidFill>
                  <a:srgbClr val="141414"/>
                </a:solidFill>
                <a:latin typeface="Times New Roman" panose="02020603050405020304" pitchFamily="18" charset="0"/>
                <a:cs typeface="Times New Roman" panose="02020603050405020304" pitchFamily="18" charset="0"/>
              </a:rPr>
              <a:t> features can provide a deeper understanding of customer purchasing patterns. [3], [4], [5], [6], [9], [10]</a:t>
            </a:r>
            <a:endParaRPr sz="2800" dirty="0">
              <a:latin typeface="Times New Roman" panose="02020603050405020304" pitchFamily="18" charset="0"/>
              <a:cs typeface="Times New Roman" panose="02020603050405020304" pitchFamily="18" charset="0"/>
            </a:endParaRPr>
          </a:p>
        </p:txBody>
      </p:sp>
      <p:sp>
        <p:nvSpPr>
          <p:cNvPr id="19" name="Rounded Rectangle 18"/>
          <p:cNvSpPr/>
          <p:nvPr/>
        </p:nvSpPr>
        <p:spPr>
          <a:xfrm>
            <a:off x="808892" y="7315200"/>
            <a:ext cx="10849708" cy="4202723"/>
          </a:xfrm>
          <a:prstGeom prst="roundRect">
            <a:avLst/>
          </a:prstGeom>
          <a:solidFill>
            <a:srgbClr val="FAFAFA"/>
          </a:solidFill>
          <a:ln w="12700">
            <a:solidFill>
              <a:srgbClr val="AFAFAF"/>
            </a:solidFill>
          </a:ln>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defRPr sz="1600" b="1">
                <a:solidFill>
                  <a:srgbClr val="141414"/>
                </a:solidFill>
                <a:latin typeface="Times New Roman"/>
              </a:defRPr>
            </a:pPr>
            <a:r>
              <a:rPr lang="en-US" sz="2800" dirty="0">
                <a:latin typeface="Times New Roman" panose="02020603050405020304" pitchFamily="18" charset="0"/>
                <a:cs typeface="Times New Roman" panose="02020603050405020304" pitchFamily="18" charset="0"/>
              </a:rPr>
              <a:t>3. </a:t>
            </a:r>
            <a:r>
              <a:rPr lang="en-IN" sz="2800" b="1" dirty="0">
                <a:solidFill>
                  <a:srgbClr val="141414"/>
                </a:solidFill>
                <a:latin typeface="Times New Roman" panose="02020603050405020304" pitchFamily="18" charset="0"/>
                <a:cs typeface="Times New Roman" panose="02020603050405020304" pitchFamily="18" charset="0"/>
              </a:rPr>
              <a:t>Static Feature Representations</a:t>
            </a:r>
          </a:p>
          <a:p>
            <a:pPr algn="ctr">
              <a:defRPr sz="1600" b="1">
                <a:solidFill>
                  <a:srgbClr val="141414"/>
                </a:solidFill>
                <a:latin typeface="Times New Roman"/>
              </a:defRPr>
            </a:pPr>
            <a:endParaRPr lang="en-US" sz="2800" dirty="0">
              <a:latin typeface="Times New Roman" panose="02020603050405020304" pitchFamily="18" charset="0"/>
              <a:cs typeface="Times New Roman" panose="02020603050405020304" pitchFamily="18" charset="0"/>
            </a:endParaRPr>
          </a:p>
          <a:p>
            <a:pPr algn="ctr">
              <a:defRPr sz="1600" b="1">
                <a:solidFill>
                  <a:srgbClr val="141414"/>
                </a:solidFill>
                <a:latin typeface="Times New Roman"/>
              </a:defRPr>
            </a:pPr>
            <a:r>
              <a:rPr lang="en-IN" sz="2800" b="1" dirty="0">
                <a:solidFill>
                  <a:srgbClr val="141414"/>
                </a:solidFill>
                <a:latin typeface="Times New Roman" panose="02020603050405020304" pitchFamily="18" charset="0"/>
                <a:cs typeface="Times New Roman" panose="02020603050405020304" pitchFamily="18" charset="0"/>
              </a:rPr>
              <a:t>Existing studies rely heavily on basic statistical metrics without fully leveraging deep representation models for high-dimensional customer segmentation. [3], [4], [5], [6], [9], [10]</a:t>
            </a:r>
            <a:endParaRPr sz="2800" dirty="0">
              <a:latin typeface="Times New Roman" panose="02020603050405020304" pitchFamily="18" charset="0"/>
              <a:cs typeface="Times New Roman" panose="02020603050405020304" pitchFamily="18" charset="0"/>
            </a:endParaRPr>
          </a:p>
        </p:txBody>
      </p:sp>
      <p:sp>
        <p:nvSpPr>
          <p:cNvPr id="20" name="Rounded Rectangle 19"/>
          <p:cNvSpPr/>
          <p:nvPr/>
        </p:nvSpPr>
        <p:spPr>
          <a:xfrm>
            <a:off x="12330332" y="7315200"/>
            <a:ext cx="11320976" cy="4062046"/>
          </a:xfrm>
          <a:prstGeom prst="roundRect">
            <a:avLst/>
          </a:prstGeom>
          <a:solidFill>
            <a:srgbClr val="FAFAFA"/>
          </a:solidFill>
          <a:ln w="12700">
            <a:solidFill>
              <a:srgbClr val="AFAFAF"/>
            </a:solidFill>
          </a:ln>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defRPr sz="1600" b="1">
                <a:solidFill>
                  <a:srgbClr val="141414"/>
                </a:solidFill>
                <a:latin typeface="Times New Roman"/>
              </a:defRPr>
            </a:pPr>
            <a:r>
              <a:rPr lang="en-US" sz="2800" dirty="0">
                <a:latin typeface="Times New Roman" panose="02020603050405020304" pitchFamily="18" charset="0"/>
                <a:cs typeface="Times New Roman" panose="02020603050405020304" pitchFamily="18" charset="0"/>
              </a:rPr>
              <a:t>4. </a:t>
            </a:r>
            <a:r>
              <a:rPr lang="en-US" sz="2800" b="1" dirty="0">
                <a:solidFill>
                  <a:srgbClr val="141414"/>
                </a:solidFill>
                <a:latin typeface="Times New Roman"/>
              </a:rPr>
              <a:t>Limited Persona Mapping &amp; Segment Interpretability</a:t>
            </a:r>
          </a:p>
          <a:p>
            <a:pPr algn="ctr">
              <a:defRPr sz="1600" b="1">
                <a:solidFill>
                  <a:srgbClr val="141414"/>
                </a:solidFill>
                <a:latin typeface="Times New Roman"/>
              </a:defRPr>
            </a:pPr>
            <a:endParaRPr lang="en-US" sz="2800" b="1" dirty="0">
              <a:solidFill>
                <a:srgbClr val="141414"/>
              </a:solidFill>
              <a:latin typeface="Times New Roman"/>
            </a:endParaRPr>
          </a:p>
          <a:p>
            <a:pPr algn="ctr">
              <a:defRPr sz="1600" b="1">
                <a:solidFill>
                  <a:srgbClr val="141414"/>
                </a:solidFill>
                <a:latin typeface="Times New Roman"/>
              </a:defRPr>
            </a:pPr>
            <a:r>
              <a:rPr lang="en-US" sz="2800" dirty="0">
                <a:latin typeface="Times New Roman" panose="02020603050405020304" pitchFamily="18" charset="0"/>
                <a:cs typeface="Times New Roman" panose="02020603050405020304" pitchFamily="18" charset="0"/>
              </a:rPr>
              <a:t>Many existing studies focus purely on mathematical clustering scores without translating deep neural representations back into interpretable customer behavioral profiles. [1], [2], [8], [11]</a:t>
            </a:r>
          </a:p>
        </p:txBody>
      </p:sp>
    </p:spTree>
    <p:extLst>
      <p:ext uri="{BB962C8B-B14F-4D97-AF65-F5344CB8AC3E}">
        <p14:creationId xmlns:p14="http://schemas.microsoft.com/office/powerpoint/2010/main" val="1012820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F35F4310-A1FD-7A7C-565D-C49AB2E6A697}"/>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2F901106-CD18-D774-F66D-13B02F7C86FE}"/>
              </a:ext>
            </a:extLst>
          </p:cNvPr>
          <p:cNvSpPr txBox="1"/>
          <p:nvPr/>
        </p:nvSpPr>
        <p:spPr>
          <a:xfrm>
            <a:off x="1972995" y="659754"/>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Research Gap → Proposed Contribution</a:t>
            </a:r>
            <a:endParaRPr sz="6000" b="1" dirty="0">
              <a:solidFill>
                <a:schemeClr val="dk2"/>
              </a:solidFill>
              <a:latin typeface="Times New Roman"/>
              <a:ea typeface="Times New Roman"/>
              <a:cs typeface="Times New Roman"/>
              <a:sym typeface="Times New Roman"/>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92338653-4846-BD80-1945-8461071E8829}"/>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48412A00-CE6A-5526-5FA2-5D0DFFFD9E3D}"/>
                  </a:ext>
                </a:extLst>
              </p:cNvPr>
              <p:cNvGraphicFramePr>
                <a:graphicFrameLocks noGrp="1"/>
              </p:cNvGraphicFramePr>
              <p:nvPr>
                <p:extLst>
                  <p:ext uri="{D42A27DB-BD31-4B8C-83A1-F6EECF244321}">
                    <p14:modId xmlns:p14="http://schemas.microsoft.com/office/powerpoint/2010/main" val="4109704772"/>
                  </p:ext>
                </p:extLst>
              </p:nvPr>
            </p:nvGraphicFramePr>
            <p:xfrm>
              <a:off x="1676400" y="3353076"/>
              <a:ext cx="21024850" cy="7273658"/>
            </p:xfrm>
            <a:graphic>
              <a:graphicData uri="http://schemas.openxmlformats.org/drawingml/2006/table">
                <a:tbl>
                  <a:tblPr/>
                  <a:tblGrid>
                    <a:gridCol w="10512425">
                      <a:extLst>
                        <a:ext uri="{9D8B030D-6E8A-4147-A177-3AD203B41FA5}">
                          <a16:colId xmlns:a16="http://schemas.microsoft.com/office/drawing/2014/main" val="3738349093"/>
                        </a:ext>
                      </a:extLst>
                    </a:gridCol>
                    <a:gridCol w="10512425">
                      <a:extLst>
                        <a:ext uri="{9D8B030D-6E8A-4147-A177-3AD203B41FA5}">
                          <a16:colId xmlns:a16="http://schemas.microsoft.com/office/drawing/2014/main" val="1389179383"/>
                        </a:ext>
                      </a:extLst>
                    </a:gridCol>
                  </a:tblGrid>
                  <a:tr h="1402420">
                    <a:tc>
                      <a:txBody>
                        <a:bodyPr/>
                        <a:lstStyle/>
                        <a:p>
                          <a:pPr marL="0" indent="0" algn="ctr">
                            <a:buFontTx/>
                            <a:buNone/>
                          </a:pPr>
                          <a:r>
                            <a:rPr lang="en-IN" sz="3600" b="1" dirty="0">
                              <a:solidFill>
                                <a:schemeClr val="bg2"/>
                              </a:solidFill>
                              <a:latin typeface="Times New Roman" panose="02020603050405020304" pitchFamily="18" charset="0"/>
                              <a:cs typeface="Times New Roman" panose="02020603050405020304" pitchFamily="18" charset="0"/>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FontTx/>
                            <a:buNone/>
                          </a:pPr>
                          <a:r>
                            <a:rPr lang="en-IN" sz="3600" b="1" dirty="0">
                              <a:solidFill>
                                <a:schemeClr val="bg2"/>
                              </a:solidFill>
                              <a:latin typeface="Times New Roman" panose="02020603050405020304" pitchFamily="18" charset="0"/>
                              <a:cs typeface="Times New Roman" panose="02020603050405020304" pitchFamily="18" charset="0"/>
                            </a:rPr>
                            <a:t>Our Proposed 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0180744"/>
                      </a:ext>
                    </a:extLst>
                  </a:tr>
                  <a:tr h="1457169">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Traditional RFM + K-Means is widely used for segmentation. </a:t>
                          </a:r>
                          <a:r>
                            <a:rPr lang="en-IN" sz="3200" dirty="0">
                              <a:solidFill>
                                <a:schemeClr val="bg2"/>
                              </a:solidFill>
                              <a:latin typeface="Times New Roman" panose="02020603050405020304" pitchFamily="18" charset="0"/>
                              <a:cs typeface="Times New Roman" panose="02020603050405020304" pitchFamily="18" charset="0"/>
                            </a:rPr>
                            <a:t>[3], [4], [5], [6],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Develop a Deep Learning-based clustering approach to learn richer customer representations. </a:t>
                          </a:r>
                          <a:r>
                            <a:rPr lang="en-IN" sz="3200" dirty="0">
                              <a:solidFill>
                                <a:schemeClr val="bg2"/>
                              </a:solidFill>
                              <a:latin typeface="Times New Roman" panose="02020603050405020304" pitchFamily="18" charset="0"/>
                              <a:cs typeface="Times New Roman" panose="02020603050405020304" pitchFamily="18" charset="0"/>
                            </a:rPr>
                            <a:t>[1], [2], [8],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3515798"/>
                      </a:ext>
                    </a:extLst>
                  </a:tr>
                  <a:tr h="1457169">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Customer behaviour is often represented using only basic RFM features. </a:t>
                          </a:r>
                          <a:r>
                            <a:rPr lang="en-IN" sz="3200" dirty="0">
                              <a:solidFill>
                                <a:schemeClr val="bg2"/>
                              </a:solidFill>
                              <a:latin typeface="Times New Roman" panose="02020603050405020304" pitchFamily="18" charset="0"/>
                              <a:cs typeface="Times New Roman" panose="02020603050405020304" pitchFamily="18" charset="0"/>
                            </a:rPr>
                            <a:t>[3], [5], [6],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Include additional </a:t>
                          </a:r>
                          <a:r>
                            <a:rPr lang="en-IN" sz="3200" b="0" dirty="0" err="1">
                              <a:solidFill>
                                <a:schemeClr val="bg2"/>
                              </a:solidFill>
                              <a:latin typeface="Times New Roman" panose="02020603050405020304" pitchFamily="18" charset="0"/>
                              <a:cs typeface="Times New Roman" panose="02020603050405020304" pitchFamily="18" charset="0"/>
                            </a:rPr>
                            <a:t>behavioral</a:t>
                          </a:r>
                          <a:r>
                            <a:rPr lang="en-IN" sz="3200" b="0" dirty="0">
                              <a:solidFill>
                                <a:schemeClr val="bg2"/>
                              </a:solidFill>
                              <a:latin typeface="Times New Roman" panose="02020603050405020304" pitchFamily="18" charset="0"/>
                              <a:cs typeface="Times New Roman" panose="02020603050405020304" pitchFamily="18" charset="0"/>
                            </a:rPr>
                            <a:t> features along with RFM for deeper customer profiling. </a:t>
                          </a:r>
                          <a:r>
                            <a:rPr lang="en-IN" sz="3200" dirty="0">
                              <a:solidFill>
                                <a:schemeClr val="bg2"/>
                              </a:solidFill>
                              <a:latin typeface="Times New Roman" panose="02020603050405020304" pitchFamily="18" charset="0"/>
                              <a:cs typeface="Times New Roman" panose="02020603050405020304" pitchFamily="18" charset="0"/>
                            </a:rPr>
                            <a:t>[11],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9494113"/>
                      </a:ext>
                    </a:extLst>
                  </a:tr>
                  <a:tr h="1457169">
                    <a:tc>
                      <a:txBody>
                        <a:bodyPr/>
                        <a:lstStyle/>
                        <a:p>
                          <a:pPr marL="0" indent="0">
                            <a:buFontTx/>
                            <a:buNone/>
                          </a:pPr>
                          <a:r>
                            <a:rPr lang="en-US" sz="3200" b="0" dirty="0">
                              <a:solidFill>
                                <a:schemeClr val="bg2"/>
                              </a:solidFill>
                              <a:latin typeface="Times New Roman" panose="02020603050405020304" pitchFamily="18" charset="0"/>
                              <a:cs typeface="Times New Roman" panose="02020603050405020304" pitchFamily="18" charset="0"/>
                            </a:rPr>
                            <a:t>Limited use of deep representation learning for complex behavioral patterns. </a:t>
                          </a:r>
                          <a:r>
                            <a:rPr lang="en-IN" sz="3200" dirty="0">
                              <a:solidFill>
                                <a:schemeClr val="bg2"/>
                              </a:solidFill>
                              <a:latin typeface="Times New Roman" panose="02020603050405020304" pitchFamily="18" charset="0"/>
                              <a:cs typeface="Times New Roman" panose="02020603050405020304" pitchFamily="18" charset="0"/>
                            </a:rPr>
                            <a:t>[1], [8],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US" sz="3200" b="0" dirty="0">
                              <a:solidFill>
                                <a:schemeClr val="bg2"/>
                              </a:solidFill>
                              <a:latin typeface="Times New Roman" panose="02020603050405020304" pitchFamily="18" charset="0"/>
                              <a:cs typeface="Times New Roman" panose="02020603050405020304" pitchFamily="18" charset="0"/>
                            </a:rPr>
                            <a:t>Integrate deep learning representation models with unsupervised clustering for advanced customer profiling. </a:t>
                          </a:r>
                          <a:r>
                            <a:rPr lang="en-IN" sz="3200" dirty="0">
                              <a:solidFill>
                                <a:schemeClr val="bg2"/>
                              </a:solidFill>
                              <a:latin typeface="Times New Roman" panose="02020603050405020304" pitchFamily="18" charset="0"/>
                              <a:cs typeface="Times New Roman" panose="02020603050405020304" pitchFamily="18" charset="0"/>
                            </a:rPr>
                            <a:t>[1], [2],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9681983"/>
                      </a:ext>
                    </a:extLst>
                  </a:tr>
                  <a:tr h="1402420">
                    <a:tc>
                      <a:txBody>
                        <a:bodyPr/>
                        <a:lstStyle/>
                        <a:p>
                          <a:pPr marL="0" indent="0">
                            <a:buFontTx/>
                            <a:buNone/>
                          </a:pPr>
                          <a:r>
                            <a:rPr lang="en-IN" sz="3200" dirty="0">
                              <a:solidFill>
                                <a:schemeClr val="bg2"/>
                              </a:solidFill>
                              <a:latin typeface="Times New Roman" panose="02020603050405020304" pitchFamily="18" charset="0"/>
                              <a:cs typeface="Times New Roman" panose="02020603050405020304" pitchFamily="18" charset="0"/>
                            </a:rPr>
                            <a:t>Many studies focus purely on static algorithm metrics without actionable persona profiling or data pipelines. [6], [7],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dirty="0">
                              <a:solidFill>
                                <a:schemeClr val="bg2"/>
                              </a:solidFill>
                              <a:latin typeface="Times New Roman" panose="02020603050405020304" pitchFamily="18" charset="0"/>
                              <a:cs typeface="Times New Roman" panose="02020603050405020304" pitchFamily="18" charset="0"/>
                            </a:rPr>
                            <a:t>Apply robust data cleaning (</a:t>
                          </a:r>
                          <a14:m>
                            <m:oMath xmlns:m="http://schemas.openxmlformats.org/officeDocument/2006/math">
                              <m:r>
                                <m:rPr>
                                  <m:sty m:val="p"/>
                                </m:rPr>
                                <a:rPr lang="en-US" sz="3200" b="0" i="0" smtClean="0">
                                  <a:solidFill>
                                    <a:schemeClr val="bg2"/>
                                  </a:solidFill>
                                  <a:latin typeface="Cambria Math" panose="02040503050406030204" pitchFamily="18" charset="0"/>
                                </a:rPr>
                                <m:t>log</m:t>
                              </m:r>
                              <m:r>
                                <a:rPr lang="en-US" sz="3200" b="0" i="1" smtClean="0">
                                  <a:solidFill>
                                    <a:schemeClr val="bg2"/>
                                  </a:solidFill>
                                  <a:latin typeface="Cambria Math" panose="02040503050406030204" pitchFamily="18" charset="0"/>
                                </a:rPr>
                                <m:t>⁡(</m:t>
                              </m:r>
                              <m:r>
                                <a:rPr lang="en-US" sz="3200" b="0" i="1" smtClean="0">
                                  <a:solidFill>
                                    <a:schemeClr val="bg2"/>
                                  </a:solidFill>
                                  <a:latin typeface="Cambria Math" panose="02040503050406030204" pitchFamily="18" charset="0"/>
                                </a:rPr>
                                <m:t>𝑥</m:t>
                              </m:r>
                              <m:r>
                                <a:rPr lang="en-US" sz="3200" b="0" i="1" smtClean="0">
                                  <a:solidFill>
                                    <a:schemeClr val="bg2"/>
                                  </a:solidFill>
                                  <a:latin typeface="Cambria Math" panose="02040503050406030204" pitchFamily="18" charset="0"/>
                                </a:rPr>
                                <m:t>+1)</m:t>
                              </m:r>
                            </m:oMath>
                          </a14:m>
                          <a:r>
                            <a:rPr lang="en-IN" sz="3200" dirty="0">
                              <a:solidFill>
                                <a:schemeClr val="bg2"/>
                              </a:solidFill>
                              <a:latin typeface="Times New Roman" panose="02020603050405020304" pitchFamily="18" charset="0"/>
                              <a:cs typeface="Times New Roman" panose="02020603050405020304" pitchFamily="18" charset="0"/>
                            </a:rPr>
                            <a:t>, IQR filtering) and generate actionable business personas (</a:t>
                          </a:r>
                          <a14:m>
                            <m:oMath xmlns:m="http://schemas.openxmlformats.org/officeDocument/2006/math">
                              <m:r>
                                <a:rPr lang="en-US" sz="3200" b="0" i="1" smtClean="0">
                                  <a:solidFill>
                                    <a:schemeClr val="bg2"/>
                                  </a:solidFill>
                                  <a:latin typeface="Cambria Math" panose="02040503050406030204" pitchFamily="18" charset="0"/>
                                </a:rPr>
                                <m:t>𝑘</m:t>
                              </m:r>
                              <m:r>
                                <a:rPr lang="en-US" sz="3200" b="0" i="1" smtClean="0">
                                  <a:solidFill>
                                    <a:schemeClr val="bg2"/>
                                  </a:solidFill>
                                  <a:latin typeface="Cambria Math" panose="02040503050406030204" pitchFamily="18" charset="0"/>
                                </a:rPr>
                                <m:t>=3</m:t>
                              </m:r>
                            </m:oMath>
                          </a14:m>
                          <a:r>
                            <a:rPr lang="en-IN" sz="3200" dirty="0">
                              <a:solidFill>
                                <a:schemeClr val="bg2"/>
                              </a:solidFill>
                              <a:latin typeface="Times New Roman" panose="02020603050405020304" pitchFamily="18" charset="0"/>
                              <a:cs typeface="Times New Roman" panose="02020603050405020304" pitchFamily="18" charset="0"/>
                            </a:rPr>
                            <a:t>).[10],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81600821"/>
                      </a:ext>
                    </a:extLst>
                  </a:tr>
                </a:tbl>
              </a:graphicData>
            </a:graphic>
          </p:graphicFrame>
        </mc:Choice>
        <mc:Fallback>
          <p:graphicFrame>
            <p:nvGraphicFramePr>
              <p:cNvPr id="2" name="Table 1">
                <a:extLst>
                  <a:ext uri="{FF2B5EF4-FFF2-40B4-BE49-F238E27FC236}">
                    <a16:creationId xmlns:a16="http://schemas.microsoft.com/office/drawing/2014/main" id="{48412A00-CE6A-5526-5FA2-5D0DFFFD9E3D}"/>
                  </a:ext>
                </a:extLst>
              </p:cNvPr>
              <p:cNvGraphicFramePr>
                <a:graphicFrameLocks noGrp="1"/>
              </p:cNvGraphicFramePr>
              <p:nvPr>
                <p:extLst>
                  <p:ext uri="{D42A27DB-BD31-4B8C-83A1-F6EECF244321}">
                    <p14:modId xmlns:p14="http://schemas.microsoft.com/office/powerpoint/2010/main" val="4109704772"/>
                  </p:ext>
                </p:extLst>
              </p:nvPr>
            </p:nvGraphicFramePr>
            <p:xfrm>
              <a:off x="1676400" y="3353076"/>
              <a:ext cx="21024850" cy="7273658"/>
            </p:xfrm>
            <a:graphic>
              <a:graphicData uri="http://schemas.openxmlformats.org/drawingml/2006/table">
                <a:tbl>
                  <a:tblPr/>
                  <a:tblGrid>
                    <a:gridCol w="10512425">
                      <a:extLst>
                        <a:ext uri="{9D8B030D-6E8A-4147-A177-3AD203B41FA5}">
                          <a16:colId xmlns:a16="http://schemas.microsoft.com/office/drawing/2014/main" val="3738349093"/>
                        </a:ext>
                      </a:extLst>
                    </a:gridCol>
                    <a:gridCol w="10512425">
                      <a:extLst>
                        <a:ext uri="{9D8B030D-6E8A-4147-A177-3AD203B41FA5}">
                          <a16:colId xmlns:a16="http://schemas.microsoft.com/office/drawing/2014/main" val="1389179383"/>
                        </a:ext>
                      </a:extLst>
                    </a:gridCol>
                  </a:tblGrid>
                  <a:tr h="1402420">
                    <a:tc>
                      <a:txBody>
                        <a:bodyPr/>
                        <a:lstStyle/>
                        <a:p>
                          <a:pPr marL="0" indent="0" algn="ctr">
                            <a:buFontTx/>
                            <a:buNone/>
                          </a:pPr>
                          <a:r>
                            <a:rPr lang="en-IN" sz="3600" b="1" dirty="0">
                              <a:solidFill>
                                <a:schemeClr val="bg2"/>
                              </a:solidFill>
                              <a:latin typeface="Times New Roman" panose="02020603050405020304" pitchFamily="18" charset="0"/>
                              <a:cs typeface="Times New Roman" panose="02020603050405020304" pitchFamily="18" charset="0"/>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FontTx/>
                            <a:buNone/>
                          </a:pPr>
                          <a:r>
                            <a:rPr lang="en-IN" sz="3600" b="1" dirty="0">
                              <a:solidFill>
                                <a:schemeClr val="bg2"/>
                              </a:solidFill>
                              <a:latin typeface="Times New Roman" panose="02020603050405020304" pitchFamily="18" charset="0"/>
                              <a:cs typeface="Times New Roman" panose="02020603050405020304" pitchFamily="18" charset="0"/>
                            </a:rPr>
                            <a:t>Our Proposed 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0180744"/>
                      </a:ext>
                    </a:extLst>
                  </a:tr>
                  <a:tr h="1457169">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Traditional RFM + K-Means is widely used for segmentation. </a:t>
                          </a:r>
                          <a:r>
                            <a:rPr lang="en-IN" sz="3200" dirty="0">
                              <a:solidFill>
                                <a:schemeClr val="bg2"/>
                              </a:solidFill>
                              <a:latin typeface="Times New Roman" panose="02020603050405020304" pitchFamily="18" charset="0"/>
                              <a:cs typeface="Times New Roman" panose="02020603050405020304" pitchFamily="18" charset="0"/>
                            </a:rPr>
                            <a:t>[3], [4], [5], [6],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Develop a Deep Learning-based clustering approach to learn richer customer representations. </a:t>
                          </a:r>
                          <a:r>
                            <a:rPr lang="en-IN" sz="3200" dirty="0">
                              <a:solidFill>
                                <a:schemeClr val="bg2"/>
                              </a:solidFill>
                              <a:latin typeface="Times New Roman" panose="02020603050405020304" pitchFamily="18" charset="0"/>
                              <a:cs typeface="Times New Roman" panose="02020603050405020304" pitchFamily="18" charset="0"/>
                            </a:rPr>
                            <a:t>[1], [2], [8],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3515798"/>
                      </a:ext>
                    </a:extLst>
                  </a:tr>
                  <a:tr h="1457169">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Customer behaviour is often represented using only basic RFM features. </a:t>
                          </a:r>
                          <a:r>
                            <a:rPr lang="en-IN" sz="3200" dirty="0">
                              <a:solidFill>
                                <a:schemeClr val="bg2"/>
                              </a:solidFill>
                              <a:latin typeface="Times New Roman" panose="02020603050405020304" pitchFamily="18" charset="0"/>
                              <a:cs typeface="Times New Roman" panose="02020603050405020304" pitchFamily="18" charset="0"/>
                            </a:rPr>
                            <a:t>[3], [5], [6],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Include additional </a:t>
                          </a:r>
                          <a:r>
                            <a:rPr lang="en-IN" sz="3200" b="0" dirty="0" err="1">
                              <a:solidFill>
                                <a:schemeClr val="bg2"/>
                              </a:solidFill>
                              <a:latin typeface="Times New Roman" panose="02020603050405020304" pitchFamily="18" charset="0"/>
                              <a:cs typeface="Times New Roman" panose="02020603050405020304" pitchFamily="18" charset="0"/>
                            </a:rPr>
                            <a:t>behavioral</a:t>
                          </a:r>
                          <a:r>
                            <a:rPr lang="en-IN" sz="3200" b="0" dirty="0">
                              <a:solidFill>
                                <a:schemeClr val="bg2"/>
                              </a:solidFill>
                              <a:latin typeface="Times New Roman" panose="02020603050405020304" pitchFamily="18" charset="0"/>
                              <a:cs typeface="Times New Roman" panose="02020603050405020304" pitchFamily="18" charset="0"/>
                            </a:rPr>
                            <a:t> features along with RFM for deeper customer profiling. </a:t>
                          </a:r>
                          <a:r>
                            <a:rPr lang="en-IN" sz="3200" dirty="0">
                              <a:solidFill>
                                <a:schemeClr val="bg2"/>
                              </a:solidFill>
                              <a:latin typeface="Times New Roman" panose="02020603050405020304" pitchFamily="18" charset="0"/>
                              <a:cs typeface="Times New Roman" panose="02020603050405020304" pitchFamily="18" charset="0"/>
                            </a:rPr>
                            <a:t>[11],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9494113"/>
                      </a:ext>
                    </a:extLst>
                  </a:tr>
                  <a:tr h="1554480">
                    <a:tc>
                      <a:txBody>
                        <a:bodyPr/>
                        <a:lstStyle/>
                        <a:p>
                          <a:pPr marL="0" indent="0">
                            <a:buFontTx/>
                            <a:buNone/>
                          </a:pPr>
                          <a:r>
                            <a:rPr lang="en-US" sz="3200" b="0" dirty="0">
                              <a:solidFill>
                                <a:schemeClr val="bg2"/>
                              </a:solidFill>
                              <a:latin typeface="Times New Roman" panose="02020603050405020304" pitchFamily="18" charset="0"/>
                              <a:cs typeface="Times New Roman" panose="02020603050405020304" pitchFamily="18" charset="0"/>
                            </a:rPr>
                            <a:t>Limited use of deep representation learning for complex behavioral patterns. </a:t>
                          </a:r>
                          <a:r>
                            <a:rPr lang="en-IN" sz="3200" dirty="0">
                              <a:solidFill>
                                <a:schemeClr val="bg2"/>
                              </a:solidFill>
                              <a:latin typeface="Times New Roman" panose="02020603050405020304" pitchFamily="18" charset="0"/>
                              <a:cs typeface="Times New Roman" panose="02020603050405020304" pitchFamily="18" charset="0"/>
                            </a:rPr>
                            <a:t>[1], [8],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US" sz="3200" b="0" dirty="0">
                              <a:solidFill>
                                <a:schemeClr val="bg2"/>
                              </a:solidFill>
                              <a:latin typeface="Times New Roman" panose="02020603050405020304" pitchFamily="18" charset="0"/>
                              <a:cs typeface="Times New Roman" panose="02020603050405020304" pitchFamily="18" charset="0"/>
                            </a:rPr>
                            <a:t>Integrate deep learning representation models with unsupervised clustering for advanced customer profiling. </a:t>
                          </a:r>
                          <a:r>
                            <a:rPr lang="en-IN" sz="3200" dirty="0">
                              <a:solidFill>
                                <a:schemeClr val="bg2"/>
                              </a:solidFill>
                              <a:latin typeface="Times New Roman" panose="02020603050405020304" pitchFamily="18" charset="0"/>
                              <a:cs typeface="Times New Roman" panose="02020603050405020304" pitchFamily="18" charset="0"/>
                            </a:rPr>
                            <a:t>[1], [2],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9681983"/>
                      </a:ext>
                    </a:extLst>
                  </a:tr>
                  <a:tr h="1402420">
                    <a:tc>
                      <a:txBody>
                        <a:bodyPr/>
                        <a:lstStyle/>
                        <a:p>
                          <a:pPr marL="0" indent="0">
                            <a:buFontTx/>
                            <a:buNone/>
                          </a:pPr>
                          <a:r>
                            <a:rPr lang="en-IN" sz="3200" dirty="0">
                              <a:solidFill>
                                <a:schemeClr val="bg2"/>
                              </a:solidFill>
                              <a:latin typeface="Times New Roman" panose="02020603050405020304" pitchFamily="18" charset="0"/>
                              <a:cs typeface="Times New Roman" panose="02020603050405020304" pitchFamily="18" charset="0"/>
                            </a:rPr>
                            <a:t>Many studies focus purely on static algorithm metrics without actionable persona profiling or data pipelines. [6], [7],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174" t="-419565" r="-174" b="-1739"/>
                          </a:stretch>
                        </a:blipFill>
                      </a:tcPr>
                    </a:tc>
                    <a:extLst>
                      <a:ext uri="{0D108BD9-81ED-4DB2-BD59-A6C34878D82A}">
                        <a16:rowId xmlns:a16="http://schemas.microsoft.com/office/drawing/2014/main" val="1981600821"/>
                      </a:ext>
                    </a:extLst>
                  </a:tr>
                </a:tbl>
              </a:graphicData>
            </a:graphic>
          </p:graphicFrame>
        </mc:Fallback>
      </mc:AlternateContent>
    </p:spTree>
    <p:extLst>
      <p:ext uri="{BB962C8B-B14F-4D97-AF65-F5344CB8AC3E}">
        <p14:creationId xmlns:p14="http://schemas.microsoft.com/office/powerpoint/2010/main" val="597444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a:extLst>
            <a:ext uri="{FF2B5EF4-FFF2-40B4-BE49-F238E27FC236}">
              <a16:creationId xmlns:a16="http://schemas.microsoft.com/office/drawing/2014/main" id="{8A5ACABB-40D2-8F44-439B-DBFCAE88ABBD}"/>
            </a:ext>
          </a:extLst>
        </p:cNvPr>
        <p:cNvGrpSpPr/>
        <p:nvPr/>
      </p:nvGrpSpPr>
      <p:grpSpPr>
        <a:xfrm>
          <a:off x="0" y="0"/>
          <a:ext cx="0" cy="0"/>
          <a:chOff x="0" y="0"/>
          <a:chExt cx="0" cy="0"/>
        </a:xfrm>
      </p:grpSpPr>
      <p:sp>
        <p:nvSpPr>
          <p:cNvPr id="199" name="Google Shape;199;p9">
            <a:extLst>
              <a:ext uri="{FF2B5EF4-FFF2-40B4-BE49-F238E27FC236}">
                <a16:creationId xmlns:a16="http://schemas.microsoft.com/office/drawing/2014/main" id="{4869E641-D45C-37A6-B4F5-7CF9654D0FC4}"/>
              </a:ext>
            </a:extLst>
          </p:cNvPr>
          <p:cNvSpPr txBox="1"/>
          <p:nvPr/>
        </p:nvSpPr>
        <p:spPr>
          <a:xfrm>
            <a:off x="1686733" y="768138"/>
            <a:ext cx="21004184" cy="1015622"/>
          </a:xfrm>
          <a:prstGeom prst="rect">
            <a:avLst/>
          </a:prstGeom>
          <a:noFill/>
          <a:ln>
            <a:noFill/>
          </a:ln>
        </p:spPr>
        <p:txBody>
          <a:bodyPr spcFirstLastPara="1" wrap="square" lIns="91425" tIns="45700" rIns="91425" bIns="45700" anchor="t" anchorCtr="0">
            <a:spAutoFit/>
          </a:bodyPr>
          <a:lstStyle/>
          <a:p>
            <a:pPr lvl="0"/>
            <a:r>
              <a:rPr lang="en-US" sz="6000" b="1" dirty="0">
                <a:solidFill>
                  <a:schemeClr val="dk2"/>
                </a:solidFill>
                <a:latin typeface="Times New Roman"/>
                <a:ea typeface="Times New Roman"/>
                <a:cs typeface="Times New Roman"/>
                <a:sym typeface="Times New Roman"/>
              </a:rPr>
              <a:t>Dataset</a:t>
            </a:r>
          </a:p>
        </p:txBody>
      </p:sp>
      <p:grpSp>
        <p:nvGrpSpPr>
          <p:cNvPr id="200" name="Google Shape;200;p9">
            <a:extLst>
              <a:ext uri="{FF2B5EF4-FFF2-40B4-BE49-F238E27FC236}">
                <a16:creationId xmlns:a16="http://schemas.microsoft.com/office/drawing/2014/main" id="{6D045B2A-D0B7-ABF2-5FFC-62D4731078E2}"/>
              </a:ext>
            </a:extLst>
          </p:cNvPr>
          <p:cNvGrpSpPr/>
          <p:nvPr/>
        </p:nvGrpSpPr>
        <p:grpSpPr>
          <a:xfrm>
            <a:off x="1730736" y="1783761"/>
            <a:ext cx="8078282" cy="45719"/>
            <a:chOff x="1775295" y="2028842"/>
            <a:chExt cx="3631535" cy="45719"/>
          </a:xfrm>
        </p:grpSpPr>
        <p:sp>
          <p:nvSpPr>
            <p:cNvPr id="201" name="Google Shape;201;p9">
              <a:extLst>
                <a:ext uri="{FF2B5EF4-FFF2-40B4-BE49-F238E27FC236}">
                  <a16:creationId xmlns:a16="http://schemas.microsoft.com/office/drawing/2014/main" id="{64471640-82D1-52A3-C2B5-0B85C1BE5810}"/>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2" name="Google Shape;202;p9">
              <a:extLst>
                <a:ext uri="{FF2B5EF4-FFF2-40B4-BE49-F238E27FC236}">
                  <a16:creationId xmlns:a16="http://schemas.microsoft.com/office/drawing/2014/main" id="{F18ABEAF-019C-1F31-AC8F-220A20234329}"/>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3" name="Google Shape;203;p9">
              <a:extLst>
                <a:ext uri="{FF2B5EF4-FFF2-40B4-BE49-F238E27FC236}">
                  <a16:creationId xmlns:a16="http://schemas.microsoft.com/office/drawing/2014/main" id="{6A180FDF-2EDC-E25F-39E9-6962EB599C3F}"/>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4" name="Google Shape;204;p9">
              <a:extLst>
                <a:ext uri="{FF2B5EF4-FFF2-40B4-BE49-F238E27FC236}">
                  <a16:creationId xmlns:a16="http://schemas.microsoft.com/office/drawing/2014/main" id="{D236389B-E9A5-153E-33BC-BE80EC6EB22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5" name="Google Shape;205;p9">
              <a:extLst>
                <a:ext uri="{FF2B5EF4-FFF2-40B4-BE49-F238E27FC236}">
                  <a16:creationId xmlns:a16="http://schemas.microsoft.com/office/drawing/2014/main" id="{2B14786B-DF40-A15E-2A3D-A7BE214CFA93}"/>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6" name="Google Shape;206;p9">
              <a:extLst>
                <a:ext uri="{FF2B5EF4-FFF2-40B4-BE49-F238E27FC236}">
                  <a16:creationId xmlns:a16="http://schemas.microsoft.com/office/drawing/2014/main" id="{E2BEC94D-B836-2DE3-D0BF-C76D7B76D05C}"/>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pic>
        <p:nvPicPr>
          <p:cNvPr id="11"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3A0FEE6A-409E-D49B-D972-0D5EF49DAD74}"/>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3" name="TextBox 2">
            <a:extLst>
              <a:ext uri="{FF2B5EF4-FFF2-40B4-BE49-F238E27FC236}">
                <a16:creationId xmlns:a16="http://schemas.microsoft.com/office/drawing/2014/main" id="{D96FFA42-4F41-D83D-9EAB-C1F209686420}"/>
              </a:ext>
            </a:extLst>
          </p:cNvPr>
          <p:cNvSpPr txBox="1"/>
          <p:nvPr/>
        </p:nvSpPr>
        <p:spPr>
          <a:xfrm>
            <a:off x="1534478" y="2348168"/>
            <a:ext cx="19697890" cy="7971413"/>
          </a:xfrm>
          <a:prstGeom prst="rect">
            <a:avLst/>
          </a:prstGeom>
          <a:noFill/>
        </p:spPr>
        <p:txBody>
          <a:bodyPr wrap="square">
            <a:spAutoFit/>
          </a:bodyPr>
          <a:lstStyle/>
          <a:p>
            <a:pPr>
              <a:buNone/>
            </a:pPr>
            <a:r>
              <a:rPr lang="en-IN" sz="3200" b="1" dirty="0">
                <a:latin typeface="Times New Roman" panose="02020603050405020304" pitchFamily="18" charset="0"/>
                <a:cs typeface="Times New Roman" panose="02020603050405020304" pitchFamily="18" charset="0"/>
              </a:rPr>
              <a:t>UCI Online Retail II: </a:t>
            </a:r>
            <a:r>
              <a:rPr lang="en-IN" sz="3200" dirty="0">
                <a:latin typeface="Times New Roman" panose="02020603050405020304" pitchFamily="18" charset="0"/>
                <a:cs typeface="Times New Roman" panose="02020603050405020304" pitchFamily="18" charset="0"/>
              </a:rPr>
              <a:t>https://www.kaggle.com/datasets/mashlyn/online-retail-ii-uci</a:t>
            </a:r>
          </a:p>
          <a:p>
            <a:pPr>
              <a:buNone/>
            </a:pPr>
            <a:endParaRPr lang="en-IN" sz="3200" b="1" dirty="0">
              <a:latin typeface="Times New Roman" panose="02020603050405020304" pitchFamily="18" charset="0"/>
              <a:cs typeface="Times New Roman" panose="02020603050405020304" pitchFamily="18" charset="0"/>
            </a:endParaRPr>
          </a:p>
          <a:p>
            <a:pPr lvl="0"/>
            <a:r>
              <a:rPr lang="en-IN" sz="3200" b="1" dirty="0">
                <a:latin typeface="Times New Roman" panose="02020603050405020304" pitchFamily="18" charset="0"/>
                <a:cs typeface="Times New Roman" panose="02020603050405020304" pitchFamily="18" charset="0"/>
              </a:rPr>
              <a:t>Data Source &amp; Scope:</a:t>
            </a:r>
            <a:endParaRPr lang="en-IN" sz="3200" dirty="0">
              <a:latin typeface="Times New Roman" panose="02020603050405020304" pitchFamily="18" charset="0"/>
              <a:cs typeface="Times New Roman" panose="02020603050405020304" pitchFamily="18" charset="0"/>
            </a:endParaRPr>
          </a:p>
          <a:p>
            <a:pPr lvl="1"/>
            <a:r>
              <a:rPr lang="en-IN" sz="3200" dirty="0">
                <a:latin typeface="Times New Roman" panose="02020603050405020304" pitchFamily="18" charset="0"/>
                <a:cs typeface="Times New Roman" panose="02020603050405020304" pitchFamily="18" charset="0"/>
              </a:rPr>
              <a:t>This Online Retail II data set contains all the transactions occurring for a UK-based and registered, non-store online retail between December 2009 and December 2011 .The company mainly sells unique all-occasion gift-ware. Many customers of the company are wholesalers.</a:t>
            </a:r>
          </a:p>
          <a:p>
            <a:pPr lvl="1"/>
            <a:endParaRPr lang="en-IN" sz="3200" dirty="0">
              <a:latin typeface="Times New Roman" panose="02020603050405020304" pitchFamily="18" charset="0"/>
              <a:cs typeface="Times New Roman" panose="02020603050405020304" pitchFamily="18" charset="0"/>
            </a:endParaRPr>
          </a:p>
          <a:p>
            <a:pPr lvl="0"/>
            <a:r>
              <a:rPr lang="en-IN" sz="3200" b="1" dirty="0">
                <a:latin typeface="Times New Roman" panose="02020603050405020304" pitchFamily="18" charset="0"/>
                <a:cs typeface="Times New Roman" panose="02020603050405020304" pitchFamily="18" charset="0"/>
              </a:rPr>
              <a:t>Raw Feature Schema:</a:t>
            </a:r>
            <a:endParaRPr lang="en-IN" sz="3200" dirty="0">
              <a:latin typeface="Times New Roman" panose="02020603050405020304" pitchFamily="18" charset="0"/>
              <a:cs typeface="Times New Roman" panose="02020603050405020304" pitchFamily="18" charset="0"/>
            </a:endParaRPr>
          </a:p>
          <a:p>
            <a:pPr marL="457200" lvl="1" indent="-457200">
              <a:buFont typeface="Arial" panose="020B0604020202020204" pitchFamily="34" charset="0"/>
              <a:buChar char="•"/>
            </a:pPr>
            <a:r>
              <a:rPr lang="en-IN" sz="3200" b="1" dirty="0" err="1">
                <a:latin typeface="Times New Roman" panose="02020603050405020304" pitchFamily="18" charset="0"/>
                <a:cs typeface="Times New Roman" panose="02020603050405020304" pitchFamily="18" charset="0"/>
              </a:rPr>
              <a:t>InvoiceNo</a:t>
            </a:r>
            <a:r>
              <a:rPr lang="en-IN" sz="3200" dirty="0">
                <a:latin typeface="Times New Roman" panose="02020603050405020304" pitchFamily="18" charset="0"/>
                <a:cs typeface="Times New Roman" panose="02020603050405020304" pitchFamily="18" charset="0"/>
              </a:rPr>
              <a:t>: 6-digit transaction ID (prefixed with 'C' for cancellation entries). </a:t>
            </a:r>
          </a:p>
          <a:p>
            <a:pPr marL="457200" lvl="1" indent="-457200">
              <a:buFont typeface="Arial" panose="020B0604020202020204" pitchFamily="34" charset="0"/>
              <a:buChar char="•"/>
            </a:pPr>
            <a:r>
              <a:rPr lang="en-IN" sz="3200" b="1" dirty="0" err="1">
                <a:latin typeface="Times New Roman" panose="02020603050405020304" pitchFamily="18" charset="0"/>
                <a:cs typeface="Times New Roman" panose="02020603050405020304" pitchFamily="18" charset="0"/>
              </a:rPr>
              <a:t>StockCode</a:t>
            </a:r>
            <a:r>
              <a:rPr lang="en-IN" sz="3200" b="1" dirty="0">
                <a:latin typeface="Times New Roman" panose="02020603050405020304" pitchFamily="18" charset="0"/>
                <a:cs typeface="Times New Roman" panose="02020603050405020304" pitchFamily="18" charset="0"/>
              </a:rPr>
              <a:t> &amp; Description</a:t>
            </a:r>
            <a:r>
              <a:rPr lang="en-IN" sz="3200" dirty="0">
                <a:latin typeface="Times New Roman" panose="02020603050405020304" pitchFamily="18" charset="0"/>
                <a:cs typeface="Times New Roman" panose="02020603050405020304" pitchFamily="18" charset="0"/>
              </a:rPr>
              <a:t>: Product SKU identifier and item description.</a:t>
            </a:r>
          </a:p>
          <a:p>
            <a:pPr marL="457200" lvl="1"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Quantity &amp; </a:t>
            </a:r>
            <a:r>
              <a:rPr lang="en-IN" sz="3200" b="1" dirty="0" err="1">
                <a:latin typeface="Times New Roman" panose="02020603050405020304" pitchFamily="18" charset="0"/>
                <a:cs typeface="Times New Roman" panose="02020603050405020304" pitchFamily="18" charset="0"/>
              </a:rPr>
              <a:t>UnitPrice</a:t>
            </a:r>
            <a:r>
              <a:rPr lang="en-IN" sz="3200" dirty="0">
                <a:latin typeface="Times New Roman" panose="02020603050405020304" pitchFamily="18" charset="0"/>
                <a:cs typeface="Times New Roman" panose="02020603050405020304" pitchFamily="18" charset="0"/>
              </a:rPr>
              <a:t>: Units purchased per item and unit price in GBP (£).</a:t>
            </a:r>
          </a:p>
          <a:p>
            <a:pPr marL="457200" lvl="1" indent="-457200">
              <a:buFont typeface="Arial" panose="020B0604020202020204" pitchFamily="34" charset="0"/>
              <a:buChar char="•"/>
            </a:pPr>
            <a:r>
              <a:rPr lang="en-IN" sz="3200" b="1" dirty="0" err="1">
                <a:latin typeface="Times New Roman" panose="02020603050405020304" pitchFamily="18" charset="0"/>
                <a:cs typeface="Times New Roman" panose="02020603050405020304" pitchFamily="18" charset="0"/>
              </a:rPr>
              <a:t>InvoiceDate</a:t>
            </a:r>
            <a:r>
              <a:rPr lang="en-IN" sz="3200" dirty="0">
                <a:latin typeface="Times New Roman" panose="02020603050405020304" pitchFamily="18" charset="0"/>
                <a:cs typeface="Times New Roman" panose="02020603050405020304" pitchFamily="18" charset="0"/>
              </a:rPr>
              <a:t>: Timestamp of order placement.</a:t>
            </a:r>
          </a:p>
          <a:p>
            <a:pPr marL="457200" lvl="1" indent="-457200">
              <a:buFont typeface="Arial" panose="020B0604020202020204" pitchFamily="34" charset="0"/>
              <a:buChar char="•"/>
            </a:pPr>
            <a:r>
              <a:rPr lang="en-IN" sz="3200" b="1" dirty="0" err="1">
                <a:latin typeface="Times New Roman" panose="02020603050405020304" pitchFamily="18" charset="0"/>
                <a:cs typeface="Times New Roman" panose="02020603050405020304" pitchFamily="18" charset="0"/>
              </a:rPr>
              <a:t>CustomerID</a:t>
            </a:r>
            <a:r>
              <a:rPr lang="en-IN" sz="3200" dirty="0">
                <a:latin typeface="Times New Roman" panose="02020603050405020304" pitchFamily="18" charset="0"/>
                <a:cs typeface="Times New Roman" panose="02020603050405020304" pitchFamily="18" charset="0"/>
              </a:rPr>
              <a:t>: Unique 5-digit identifier for registered customers.</a:t>
            </a:r>
          </a:p>
          <a:p>
            <a:pPr marL="457200" lvl="1"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Country</a:t>
            </a:r>
            <a:r>
              <a:rPr lang="en-IN" sz="3200" dirty="0">
                <a:latin typeface="Times New Roman" panose="02020603050405020304" pitchFamily="18" charset="0"/>
                <a:cs typeface="Times New Roman" panose="02020603050405020304" pitchFamily="18" charset="0"/>
              </a:rPr>
              <a:t>: Geographical location of the buyer (predominantly United Kingdom).</a:t>
            </a:r>
          </a:p>
          <a:p>
            <a:pPr lvl="1"/>
            <a:endParaRPr lang="en-IN" sz="3200" dirty="0">
              <a:latin typeface="Times New Roman" panose="02020603050405020304" pitchFamily="18" charset="0"/>
              <a:cs typeface="Times New Roman" panose="02020603050405020304" pitchFamily="18" charset="0"/>
            </a:endParaRPr>
          </a:p>
          <a:p>
            <a:pPr marL="457200" lvl="1" indent="-45720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B85C627-FE94-3A6D-FE41-D8F36E55830B}"/>
              </a:ext>
            </a:extLst>
          </p:cNvPr>
          <p:cNvPicPr>
            <a:picLocks noChangeAspect="1"/>
          </p:cNvPicPr>
          <p:nvPr/>
        </p:nvPicPr>
        <p:blipFill>
          <a:blip r:embed="rId4"/>
          <a:stretch>
            <a:fillRect/>
          </a:stretch>
        </p:blipFill>
        <p:spPr>
          <a:xfrm>
            <a:off x="2479537" y="9644256"/>
            <a:ext cx="17439584" cy="2956176"/>
          </a:xfrm>
          <a:prstGeom prst="rect">
            <a:avLst/>
          </a:prstGeom>
        </p:spPr>
      </p:pic>
    </p:spTree>
    <p:extLst>
      <p:ext uri="{BB962C8B-B14F-4D97-AF65-F5344CB8AC3E}">
        <p14:creationId xmlns:p14="http://schemas.microsoft.com/office/powerpoint/2010/main" val="2924469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
          <a:extLst>
            <a:ext uri="{FF2B5EF4-FFF2-40B4-BE49-F238E27FC236}">
              <a16:creationId xmlns:a16="http://schemas.microsoft.com/office/drawing/2014/main" id="{DDED4233-BD2A-8203-BCCE-FB7FB6082138}"/>
            </a:ext>
          </a:extLst>
        </p:cNvPr>
        <p:cNvGrpSpPr/>
        <p:nvPr/>
      </p:nvGrpSpPr>
      <p:grpSpPr>
        <a:xfrm>
          <a:off x="0" y="0"/>
          <a:ext cx="0" cy="0"/>
          <a:chOff x="0" y="0"/>
          <a:chExt cx="0" cy="0"/>
        </a:xfrm>
      </p:grpSpPr>
      <p:sp>
        <p:nvSpPr>
          <p:cNvPr id="199" name="Google Shape;199;p9">
            <a:extLst>
              <a:ext uri="{FF2B5EF4-FFF2-40B4-BE49-F238E27FC236}">
                <a16:creationId xmlns:a16="http://schemas.microsoft.com/office/drawing/2014/main" id="{17D3FB04-8DDB-FF3D-5960-A06EBA83B006}"/>
              </a:ext>
            </a:extLst>
          </p:cNvPr>
          <p:cNvSpPr txBox="1"/>
          <p:nvPr/>
        </p:nvSpPr>
        <p:spPr>
          <a:xfrm>
            <a:off x="1686733" y="768138"/>
            <a:ext cx="21004184" cy="1015622"/>
          </a:xfrm>
          <a:prstGeom prst="rect">
            <a:avLst/>
          </a:prstGeom>
          <a:noFill/>
          <a:ln>
            <a:noFill/>
          </a:ln>
        </p:spPr>
        <p:txBody>
          <a:bodyPr spcFirstLastPara="1" wrap="square" lIns="91425" tIns="45700" rIns="91425" bIns="45700" anchor="t" anchorCtr="0">
            <a:spAutoFit/>
          </a:bodyPr>
          <a:lstStyle/>
          <a:p>
            <a:pPr lvl="0"/>
            <a:r>
              <a:rPr lang="en-US" sz="6000" b="1" dirty="0">
                <a:solidFill>
                  <a:schemeClr val="dk2"/>
                </a:solidFill>
                <a:latin typeface="Times New Roman"/>
                <a:ea typeface="Times New Roman"/>
                <a:cs typeface="Times New Roman"/>
                <a:sym typeface="Times New Roman"/>
              </a:rPr>
              <a:t>Dataset</a:t>
            </a:r>
          </a:p>
        </p:txBody>
      </p:sp>
      <p:grpSp>
        <p:nvGrpSpPr>
          <p:cNvPr id="200" name="Google Shape;200;p9">
            <a:extLst>
              <a:ext uri="{FF2B5EF4-FFF2-40B4-BE49-F238E27FC236}">
                <a16:creationId xmlns:a16="http://schemas.microsoft.com/office/drawing/2014/main" id="{E6A30467-3D56-19D7-2631-69ADF9315D87}"/>
              </a:ext>
            </a:extLst>
          </p:cNvPr>
          <p:cNvGrpSpPr/>
          <p:nvPr/>
        </p:nvGrpSpPr>
        <p:grpSpPr>
          <a:xfrm>
            <a:off x="1730736" y="1783761"/>
            <a:ext cx="8078282" cy="45719"/>
            <a:chOff x="1775295" y="2028842"/>
            <a:chExt cx="3631535" cy="45719"/>
          </a:xfrm>
        </p:grpSpPr>
        <p:sp>
          <p:nvSpPr>
            <p:cNvPr id="201" name="Google Shape;201;p9">
              <a:extLst>
                <a:ext uri="{FF2B5EF4-FFF2-40B4-BE49-F238E27FC236}">
                  <a16:creationId xmlns:a16="http://schemas.microsoft.com/office/drawing/2014/main" id="{F18C9B1A-694F-40E9-E95A-DF14B148CC0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2" name="Google Shape;202;p9">
              <a:extLst>
                <a:ext uri="{FF2B5EF4-FFF2-40B4-BE49-F238E27FC236}">
                  <a16:creationId xmlns:a16="http://schemas.microsoft.com/office/drawing/2014/main" id="{5996B61B-0AB7-F9E3-3855-9A53A94DD215}"/>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3" name="Google Shape;203;p9">
              <a:extLst>
                <a:ext uri="{FF2B5EF4-FFF2-40B4-BE49-F238E27FC236}">
                  <a16:creationId xmlns:a16="http://schemas.microsoft.com/office/drawing/2014/main" id="{C7265A4C-96D9-DC87-40AC-5DA994956C0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4" name="Google Shape;204;p9">
              <a:extLst>
                <a:ext uri="{FF2B5EF4-FFF2-40B4-BE49-F238E27FC236}">
                  <a16:creationId xmlns:a16="http://schemas.microsoft.com/office/drawing/2014/main" id="{5DC969FD-054B-992E-A1DC-8B3286F92B2C}"/>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5" name="Google Shape;205;p9">
              <a:extLst>
                <a:ext uri="{FF2B5EF4-FFF2-40B4-BE49-F238E27FC236}">
                  <a16:creationId xmlns:a16="http://schemas.microsoft.com/office/drawing/2014/main" id="{96F66D5C-C15A-C988-E0A6-ABC7073FCD4B}"/>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6" name="Google Shape;206;p9">
              <a:extLst>
                <a:ext uri="{FF2B5EF4-FFF2-40B4-BE49-F238E27FC236}">
                  <a16:creationId xmlns:a16="http://schemas.microsoft.com/office/drawing/2014/main" id="{25A3035E-EF13-9B27-7348-750BFFF62509}"/>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pic>
        <p:nvPicPr>
          <p:cNvPr id="11"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19A3E3C-E270-561E-A4E2-A5CAC4C4A71B}"/>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3" name="TextBox 2">
            <a:extLst>
              <a:ext uri="{FF2B5EF4-FFF2-40B4-BE49-F238E27FC236}">
                <a16:creationId xmlns:a16="http://schemas.microsoft.com/office/drawing/2014/main" id="{002802AA-31C7-9B16-6476-DA3AFFF9B326}"/>
              </a:ext>
            </a:extLst>
          </p:cNvPr>
          <p:cNvSpPr txBox="1"/>
          <p:nvPr/>
        </p:nvSpPr>
        <p:spPr>
          <a:xfrm>
            <a:off x="991941" y="1970649"/>
            <a:ext cx="20910275" cy="7109639"/>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Dataset Characteristics, Quality &amp; Processing Pipeline</a:t>
            </a:r>
          </a:p>
          <a:p>
            <a:endParaRPr lang="en-IN" sz="3600" b="1" dirty="0">
              <a:latin typeface="Times New Roman" panose="02020603050405020304" pitchFamily="18" charset="0"/>
              <a:cs typeface="Times New Roman" panose="02020603050405020304" pitchFamily="18" charset="0"/>
            </a:endParaRPr>
          </a:p>
          <a:p>
            <a:pPr lvl="0"/>
            <a:r>
              <a:rPr lang="en-IN" sz="3200" b="1" dirty="0">
                <a:latin typeface="Times New Roman" panose="02020603050405020304" pitchFamily="18" charset="0"/>
                <a:cs typeface="Times New Roman" panose="02020603050405020304" pitchFamily="18" charset="0"/>
              </a:rPr>
              <a:t>Data Scale &amp; Volume Progression:</a:t>
            </a:r>
            <a:endParaRPr lang="en-IN" sz="3200" dirty="0">
              <a:latin typeface="Times New Roman" panose="02020603050405020304" pitchFamily="18" charset="0"/>
              <a:cs typeface="Times New Roman" panose="02020603050405020304" pitchFamily="18" charset="0"/>
            </a:endParaRPr>
          </a:p>
          <a:p>
            <a:pPr marL="457200" lvl="1"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Raw Records</a:t>
            </a:r>
            <a:r>
              <a:rPr lang="en-IN" sz="3200" b="1" dirty="0">
                <a:latin typeface="Times New Roman" panose="02020603050405020304" pitchFamily="18" charset="0"/>
                <a:cs typeface="Times New Roman" panose="02020603050405020304" pitchFamily="18" charset="0"/>
              </a:rPr>
              <a:t>:</a:t>
            </a:r>
            <a:r>
              <a:rPr lang="en-IN" sz="3200" dirty="0">
                <a:latin typeface="Times New Roman" panose="02020603050405020304" pitchFamily="18" charset="0"/>
                <a:cs typeface="Times New Roman" panose="02020603050405020304" pitchFamily="18" charset="0"/>
              </a:rPr>
              <a:t> 541,910 transactional logs. </a:t>
            </a:r>
          </a:p>
          <a:p>
            <a:pPr marL="457200" lvl="1"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Cleaned Records</a:t>
            </a:r>
            <a:r>
              <a:rPr lang="en-IN" sz="3200" b="1" dirty="0">
                <a:latin typeface="Times New Roman" panose="02020603050405020304" pitchFamily="18" charset="0"/>
                <a:cs typeface="Times New Roman" panose="02020603050405020304" pitchFamily="18" charset="0"/>
              </a:rPr>
              <a:t>:</a:t>
            </a:r>
            <a:r>
              <a:rPr lang="en-IN" sz="3200" dirty="0">
                <a:latin typeface="Times New Roman" panose="02020603050405020304" pitchFamily="18" charset="0"/>
                <a:cs typeface="Times New Roman" panose="02020603050405020304" pitchFamily="18" charset="0"/>
              </a:rPr>
              <a:t> 396,470 valid purchase entries after dropping missing </a:t>
            </a:r>
            <a:r>
              <a:rPr lang="en-IN" sz="3200" dirty="0" err="1">
                <a:latin typeface="Times New Roman" panose="02020603050405020304" pitchFamily="18" charset="0"/>
                <a:cs typeface="Times New Roman" panose="02020603050405020304" pitchFamily="18" charset="0"/>
              </a:rPr>
              <a:t>CustomerIDs</a:t>
            </a:r>
            <a:r>
              <a:rPr lang="en-IN" sz="3200" dirty="0">
                <a:latin typeface="Times New Roman" panose="02020603050405020304" pitchFamily="18" charset="0"/>
                <a:cs typeface="Times New Roman" panose="02020603050405020304" pitchFamily="18" charset="0"/>
              </a:rPr>
              <a:t>, cancellations, and administrative codes. </a:t>
            </a:r>
          </a:p>
          <a:p>
            <a:pPr lvl="1"/>
            <a:endParaRPr lang="en-IN" sz="3200" dirty="0">
              <a:latin typeface="Times New Roman" panose="02020603050405020304" pitchFamily="18" charset="0"/>
              <a:cs typeface="Times New Roman" panose="02020603050405020304" pitchFamily="18" charset="0"/>
            </a:endParaRPr>
          </a:p>
          <a:p>
            <a:pPr lvl="0"/>
            <a:r>
              <a:rPr lang="en-IN" sz="3200" b="1" dirty="0">
                <a:latin typeface="Times New Roman" panose="02020603050405020304" pitchFamily="18" charset="0"/>
                <a:cs typeface="Times New Roman" panose="02020603050405020304" pitchFamily="18" charset="0"/>
              </a:rPr>
              <a:t>Key Data Characteristics &amp; Challenges:</a:t>
            </a:r>
            <a:endParaRPr lang="en-IN" sz="32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Uneven Sales: Most of our sales come from just a few big spenders, not from everyone buying a little bit.</a:t>
            </a:r>
          </a:p>
          <a:p>
            <a:pPr marL="457200" lvl="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Two Types of Buyers: We have two distinct groups: people who shop once for themselves and businesses that buy in bulk frequently.</a:t>
            </a:r>
          </a:p>
          <a:p>
            <a:pPr marL="457200" lvl="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Messy Data: Many transactions lack customer IDs because they are anonymous, and some purchase amounts are unusually high or low compared to typical</a:t>
            </a:r>
          </a:p>
          <a:p>
            <a:pPr marL="457200" lvl="1" indent="-45720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1117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0"/>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Methodology</a:t>
            </a:r>
            <a:endParaRPr sz="6000" b="1" dirty="0">
              <a:solidFill>
                <a:schemeClr val="dk2"/>
              </a:solidFill>
              <a:latin typeface="Raleway"/>
              <a:ea typeface="Raleway"/>
              <a:cs typeface="Raleway"/>
              <a:sym typeface="Raleway"/>
            </a:endParaRPr>
          </a:p>
        </p:txBody>
      </p:sp>
      <p:grpSp>
        <p:nvGrpSpPr>
          <p:cNvPr id="213" name="Google Shape;213;p10"/>
          <p:cNvGrpSpPr/>
          <p:nvPr/>
        </p:nvGrpSpPr>
        <p:grpSpPr>
          <a:xfrm>
            <a:off x="1730735" y="1783761"/>
            <a:ext cx="3556159" cy="45719"/>
            <a:chOff x="1775295" y="2028842"/>
            <a:chExt cx="3631535" cy="45719"/>
          </a:xfrm>
        </p:grpSpPr>
        <p:sp>
          <p:nvSpPr>
            <p:cNvPr id="214" name="Google Shape;214;p10"/>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3" name="Picture 2">
            <a:extLst>
              <a:ext uri="{FF2B5EF4-FFF2-40B4-BE49-F238E27FC236}">
                <a16:creationId xmlns:a16="http://schemas.microsoft.com/office/drawing/2014/main" id="{A9EB96A9-A62E-4273-8F36-E1463D6C56DE}"/>
              </a:ext>
            </a:extLst>
          </p:cNvPr>
          <p:cNvPicPr>
            <a:picLocks noChangeAspect="1"/>
          </p:cNvPicPr>
          <p:nvPr/>
        </p:nvPicPr>
        <p:blipFill>
          <a:blip r:embed="rId4"/>
          <a:stretch>
            <a:fillRect/>
          </a:stretch>
        </p:blipFill>
        <p:spPr>
          <a:xfrm>
            <a:off x="2359861" y="1565158"/>
            <a:ext cx="18311013" cy="1166500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CE11E669-4C6B-2181-C44A-77995A3F7228}"/>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F2E43866-EF44-30B8-D361-A5956E7E7733}"/>
              </a:ext>
            </a:extLst>
          </p:cNvPr>
          <p:cNvSpPr txBox="1"/>
          <p:nvPr/>
        </p:nvSpPr>
        <p:spPr>
          <a:xfrm>
            <a:off x="1730735"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Use Case diagram</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E07FD85A-50A9-7C77-6A70-BAF0256FFF17}"/>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A224B467-AC09-4546-417B-6C96A9393713}"/>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509A91F0-CF02-CC34-1AF0-C7C2343E1C78}"/>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E95EA87A-B17A-2A14-43F4-82F74C99945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3888AC67-8C50-1A99-4F4C-A38FA373479D}"/>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0DFA91B2-5B42-B504-1F9D-59FDFE04E080}"/>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F8A4BFCB-0CDA-5BA7-3DEC-0A4CFA609040}"/>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44FB2CF0-0E2C-5481-144A-B755023CCC42}"/>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F08B312C-91DB-F0D1-E3EB-2D81BA042316}"/>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59C2CA57-1BEB-64AE-8EDC-DBC08C15995E}"/>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3" name="Picture 2" descr="PlantUML Diagram">
            <a:extLst>
              <a:ext uri="{FF2B5EF4-FFF2-40B4-BE49-F238E27FC236}">
                <a16:creationId xmlns:a16="http://schemas.microsoft.com/office/drawing/2014/main" id="{CF9624BC-E017-42F3-E728-40C7DBF1E8B8}"/>
              </a:ext>
            </a:extLst>
          </p:cNvPr>
          <p:cNvPicPr>
            <a:picLocks noChangeAspect="1"/>
          </p:cNvPicPr>
          <p:nvPr/>
        </p:nvPicPr>
        <p:blipFill>
          <a:blip r:embed="rId4"/>
          <a:stretch>
            <a:fillRect/>
          </a:stretch>
        </p:blipFill>
        <p:spPr>
          <a:xfrm>
            <a:off x="440823" y="3107454"/>
            <a:ext cx="22815064" cy="8178166"/>
          </a:xfrm>
          <a:prstGeom prst="rect">
            <a:avLst/>
          </a:prstGeom>
        </p:spPr>
      </p:pic>
    </p:spTree>
    <p:extLst>
      <p:ext uri="{BB962C8B-B14F-4D97-AF65-F5344CB8AC3E}">
        <p14:creationId xmlns:p14="http://schemas.microsoft.com/office/powerpoint/2010/main" val="2023648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337EE117-2F41-CADC-89A7-24503142196A}"/>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F8805EF0-E60E-9A18-174B-073CE22BC67B}"/>
              </a:ext>
            </a:extLst>
          </p:cNvPr>
          <p:cNvSpPr txBox="1"/>
          <p:nvPr/>
        </p:nvSpPr>
        <p:spPr>
          <a:xfrm>
            <a:off x="1601781"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Class Diagram </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3607C872-8E6E-9D47-9641-C21991ADDFF1}"/>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AF7F8CBF-86D0-8DD1-1A24-B4CBD32F1723}"/>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F5A7C91B-7440-B4CE-22B4-9A1FE51D3BB3}"/>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D32E02E9-CE68-64BB-2002-93A617EEC7C5}"/>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D10C2B83-A55C-D8CA-60C3-AD9A301BF790}"/>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4D1337CA-2D36-C72B-078E-BD533DC84C74}"/>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EF7C432A-72E9-573B-6433-5126A48B7635}"/>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1E8CD343-A875-C653-EF27-04EADA8D05DD}"/>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7FC1D4ED-C141-74AC-0B2D-A7C2CD2EE6C4}"/>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0E53AFEF-EE8C-0A2A-0FD9-045B96D9DA8C}"/>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2" name="Picture 1">
            <a:extLst>
              <a:ext uri="{FF2B5EF4-FFF2-40B4-BE49-F238E27FC236}">
                <a16:creationId xmlns:a16="http://schemas.microsoft.com/office/drawing/2014/main" id="{5310FABC-F648-A911-B912-9EFBEA19C2F2}"/>
              </a:ext>
            </a:extLst>
          </p:cNvPr>
          <p:cNvPicPr>
            <a:picLocks noChangeAspect="1"/>
          </p:cNvPicPr>
          <p:nvPr/>
        </p:nvPicPr>
        <p:blipFill>
          <a:blip r:embed="rId4"/>
          <a:stretch>
            <a:fillRect/>
          </a:stretch>
        </p:blipFill>
        <p:spPr>
          <a:xfrm>
            <a:off x="2567537" y="2430380"/>
            <a:ext cx="18475569" cy="10784321"/>
          </a:xfrm>
          <a:prstGeom prst="rect">
            <a:avLst/>
          </a:prstGeom>
        </p:spPr>
      </p:pic>
    </p:spTree>
    <p:extLst>
      <p:ext uri="{BB962C8B-B14F-4D97-AF65-F5344CB8AC3E}">
        <p14:creationId xmlns:p14="http://schemas.microsoft.com/office/powerpoint/2010/main" val="3581830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135B90DE-5066-8A81-BC0A-C17B092AA528}"/>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5AB58AAE-751E-0572-242F-6BE78A7FBF69}"/>
              </a:ext>
            </a:extLst>
          </p:cNvPr>
          <p:cNvSpPr txBox="1"/>
          <p:nvPr/>
        </p:nvSpPr>
        <p:spPr>
          <a:xfrm>
            <a:off x="1730735"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a:solidFill>
                  <a:schemeClr val="dk2"/>
                </a:solidFill>
                <a:latin typeface="Times New Roman" panose="02020603050405020304" pitchFamily="18" charset="0"/>
                <a:ea typeface="Raleway"/>
                <a:cs typeface="Times New Roman" panose="02020603050405020304" pitchFamily="18" charset="0"/>
                <a:sym typeface="Raleway"/>
              </a:rPr>
              <a:t>Activity diagram</a:t>
            </a:r>
          </a:p>
        </p:txBody>
      </p:sp>
      <p:grpSp>
        <p:nvGrpSpPr>
          <p:cNvPr id="213" name="Google Shape;213;p10">
            <a:extLst>
              <a:ext uri="{FF2B5EF4-FFF2-40B4-BE49-F238E27FC236}">
                <a16:creationId xmlns:a16="http://schemas.microsoft.com/office/drawing/2014/main" id="{0C4572BA-7E47-EA49-292F-0D1BC49E13C3}"/>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C54D5F6E-2F52-9BCF-D3B5-932491AFFBDF}"/>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6693E9D7-0502-3773-1692-E3945CEF116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F740C914-3823-1921-D8B0-420FE5117F4F}"/>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7BE15F61-3478-9653-D96D-7F8A9AD189F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0D867DAE-DAB5-0E80-052A-4F2C2766E178}"/>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7AAA0447-2F2F-7BA3-148E-A11B85188419}"/>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21214FD9-E273-E6B2-7CDE-98C8328C81E3}"/>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EDB6CE23-3410-861E-786D-ED52CF461650}"/>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AEB856AA-AC13-7992-C174-B44519E72C6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2" name="Picture 1">
            <a:extLst>
              <a:ext uri="{FF2B5EF4-FFF2-40B4-BE49-F238E27FC236}">
                <a16:creationId xmlns:a16="http://schemas.microsoft.com/office/drawing/2014/main" id="{B9F96BE1-2816-2AB7-6EE2-C386B6017E15}"/>
              </a:ext>
            </a:extLst>
          </p:cNvPr>
          <p:cNvPicPr>
            <a:picLocks noChangeAspect="1"/>
          </p:cNvPicPr>
          <p:nvPr/>
        </p:nvPicPr>
        <p:blipFill>
          <a:blip r:embed="rId4"/>
          <a:stretch>
            <a:fillRect/>
          </a:stretch>
        </p:blipFill>
        <p:spPr>
          <a:xfrm>
            <a:off x="8454829" y="1719082"/>
            <a:ext cx="6667940" cy="11806726"/>
          </a:xfrm>
          <a:prstGeom prst="rect">
            <a:avLst/>
          </a:prstGeom>
        </p:spPr>
      </p:pic>
    </p:spTree>
    <p:extLst>
      <p:ext uri="{BB962C8B-B14F-4D97-AF65-F5344CB8AC3E}">
        <p14:creationId xmlns:p14="http://schemas.microsoft.com/office/powerpoint/2010/main" val="1603372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5D52C715-08D7-3181-5C1F-12DFE3DBEA92}"/>
            </a:ext>
          </a:extLst>
        </p:cNvPr>
        <p:cNvGrpSpPr/>
        <p:nvPr/>
      </p:nvGrpSpPr>
      <p:grpSpPr>
        <a:xfrm>
          <a:off x="0" y="0"/>
          <a:ext cx="0" cy="0"/>
          <a:chOff x="0" y="0"/>
          <a:chExt cx="0" cy="0"/>
        </a:xfrm>
      </p:grpSpPr>
      <p:grpSp>
        <p:nvGrpSpPr>
          <p:cNvPr id="213" name="Google Shape;213;p10">
            <a:extLst>
              <a:ext uri="{FF2B5EF4-FFF2-40B4-BE49-F238E27FC236}">
                <a16:creationId xmlns:a16="http://schemas.microsoft.com/office/drawing/2014/main" id="{6C3C435E-5BD1-F8AF-15D3-A04B9B634C7B}"/>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7815E764-F378-25DC-BFFA-B107F980545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003A2649-7AE7-14C9-79B7-6716085A48A1}"/>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5A96CFE6-0232-2109-A854-496411D6249A}"/>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AC52BB3D-9068-21A9-DCE8-D6B88DF4E298}"/>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24FA50BC-02DC-EDF1-F484-B0FDB2E3F082}"/>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620F627F-C8B7-15B7-1706-CAD5E1315846}"/>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2079F921-3422-4AA9-7D17-65345375D930}"/>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D9702E62-4889-E7BD-B450-72D43B2CA24D}"/>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817BA970-30C1-8FE4-2E1F-B90D6E91671C}"/>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6" name="TextBox 5">
            <a:extLst>
              <a:ext uri="{FF2B5EF4-FFF2-40B4-BE49-F238E27FC236}">
                <a16:creationId xmlns:a16="http://schemas.microsoft.com/office/drawing/2014/main" id="{C81BC934-67E7-6C23-1875-1A33741B173A}"/>
              </a:ext>
            </a:extLst>
          </p:cNvPr>
          <p:cNvSpPr txBox="1"/>
          <p:nvPr/>
        </p:nvSpPr>
        <p:spPr>
          <a:xfrm>
            <a:off x="1524000" y="814030"/>
            <a:ext cx="12192000" cy="923330"/>
          </a:xfrm>
          <a:prstGeom prst="rect">
            <a:avLst/>
          </a:prstGeom>
          <a:noFill/>
        </p:spPr>
        <p:txBody>
          <a:bodyPr wrap="square">
            <a:spAutoFit/>
          </a:bodyPr>
          <a:lstStyle/>
          <a:p>
            <a:r>
              <a:rPr lang="en-US" sz="5400" b="1" dirty="0">
                <a:solidFill>
                  <a:schemeClr val="dk2"/>
                </a:solidFill>
                <a:latin typeface="Times New Roman"/>
                <a:ea typeface="Times New Roman"/>
                <a:cs typeface="Times New Roman"/>
                <a:sym typeface="Times New Roman"/>
              </a:rPr>
              <a:t>Sequence Diagram</a:t>
            </a:r>
            <a:endParaRPr lang="en-IN" dirty="0"/>
          </a:p>
        </p:txBody>
      </p:sp>
      <p:pic>
        <p:nvPicPr>
          <p:cNvPr id="5" name="Picture 4" descr="PlantUML Diagram">
            <a:extLst>
              <a:ext uri="{FF2B5EF4-FFF2-40B4-BE49-F238E27FC236}">
                <a16:creationId xmlns:a16="http://schemas.microsoft.com/office/drawing/2014/main" id="{7404E614-71C9-6307-981B-3503AD825B84}"/>
              </a:ext>
            </a:extLst>
          </p:cNvPr>
          <p:cNvPicPr>
            <a:picLocks noChangeAspect="1"/>
          </p:cNvPicPr>
          <p:nvPr/>
        </p:nvPicPr>
        <p:blipFill>
          <a:blip r:embed="rId4"/>
          <a:stretch>
            <a:fillRect/>
          </a:stretch>
        </p:blipFill>
        <p:spPr>
          <a:xfrm>
            <a:off x="3484222" y="2155047"/>
            <a:ext cx="17178618" cy="11162596"/>
          </a:xfrm>
          <a:prstGeom prst="rect">
            <a:avLst/>
          </a:prstGeom>
        </p:spPr>
      </p:pic>
    </p:spTree>
    <p:extLst>
      <p:ext uri="{BB962C8B-B14F-4D97-AF65-F5344CB8AC3E}">
        <p14:creationId xmlns:p14="http://schemas.microsoft.com/office/powerpoint/2010/main" val="3296131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904554DF-33EF-3BB8-4951-A780A6AF0CD3}"/>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2A17DC5B-441B-FBAE-50B1-2825CD101D0D}"/>
              </a:ext>
            </a:extLst>
          </p:cNvPr>
          <p:cNvSpPr txBox="1"/>
          <p:nvPr/>
        </p:nvSpPr>
        <p:spPr>
          <a:xfrm>
            <a:off x="1730735"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DFD level 0</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D6B1973E-C810-3502-F949-DA983B84E62C}"/>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D722DF93-903B-29CC-7CD7-582A3F0F4EA5}"/>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62245226-3071-B0F2-12D3-FF0ABEDAD56E}"/>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9BDD412B-1C0D-0DE1-A0B7-3712959CE6D5}"/>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4DC678A0-06C9-AA31-A579-7F77C1924744}"/>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E8C800AD-C447-6093-E6D2-93993F5B1D4A}"/>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658779D1-5AA7-D161-806E-832A6200EB4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BB98BFC3-49AD-CB7E-D751-641FC4AB1436}"/>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956DAD2A-368C-44FE-B538-7A038C8F51F2}"/>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2" name="Picture 1" descr="PlantUML diagram">
            <a:extLst>
              <a:ext uri="{FF2B5EF4-FFF2-40B4-BE49-F238E27FC236}">
                <a16:creationId xmlns:a16="http://schemas.microsoft.com/office/drawing/2014/main" id="{0F3C2332-A813-EA82-4ABD-0841DF77C21E}"/>
              </a:ext>
            </a:extLst>
          </p:cNvPr>
          <p:cNvPicPr>
            <a:picLocks noChangeAspect="1"/>
          </p:cNvPicPr>
          <p:nvPr/>
        </p:nvPicPr>
        <p:blipFill>
          <a:blip r:embed="rId4"/>
          <a:stretch>
            <a:fillRect/>
          </a:stretch>
        </p:blipFill>
        <p:spPr>
          <a:xfrm>
            <a:off x="5286894" y="3930214"/>
            <a:ext cx="13138506" cy="6596816"/>
          </a:xfrm>
          <a:prstGeom prst="rect">
            <a:avLst/>
          </a:prstGeom>
        </p:spPr>
      </p:pic>
    </p:spTree>
    <p:extLst>
      <p:ext uri="{BB962C8B-B14F-4D97-AF65-F5344CB8AC3E}">
        <p14:creationId xmlns:p14="http://schemas.microsoft.com/office/powerpoint/2010/main" val="717459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ADCC5A88-BD38-BF90-B1B2-4192AA0A63AB}"/>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F7970376-17E9-524C-1575-1CB66B5C9A80}"/>
              </a:ext>
            </a:extLst>
          </p:cNvPr>
          <p:cNvSpPr txBox="1"/>
          <p:nvPr/>
        </p:nvSpPr>
        <p:spPr>
          <a:xfrm>
            <a:off x="1719012" y="784070"/>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DFD level 1</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0BE1A0A5-B4E8-EBBE-BBD3-649F7BFB35BF}"/>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10024DD5-4C22-0771-ECF2-F7818005F271}"/>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29B795E2-30BB-7147-F80A-1082B08BD31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376DABD4-8E66-2AD5-3239-F151A2DB508A}"/>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06053421-5D7F-01C3-7E63-1B51353EB958}"/>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80B32DE2-B47E-F172-E42A-4564F0603ECB}"/>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781EA4CF-8CEC-BCF8-F5A6-8500140DA166}"/>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B8F7A745-9300-8590-5943-FDA2460E56F8}"/>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A6F02D89-7FBB-9647-54D0-9ADA6A3DF64B}"/>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91182D6F-73DD-8D63-7EAB-EA6E7968265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2" name="Picture 1" descr="PlantUML diagram">
            <a:extLst>
              <a:ext uri="{FF2B5EF4-FFF2-40B4-BE49-F238E27FC236}">
                <a16:creationId xmlns:a16="http://schemas.microsoft.com/office/drawing/2014/main" id="{9501323E-DB76-1205-CE82-2661A68E63AA}"/>
              </a:ext>
            </a:extLst>
          </p:cNvPr>
          <p:cNvPicPr>
            <a:picLocks noChangeAspect="1"/>
          </p:cNvPicPr>
          <p:nvPr/>
        </p:nvPicPr>
        <p:blipFill>
          <a:blip r:embed="rId4"/>
          <a:stretch>
            <a:fillRect/>
          </a:stretch>
        </p:blipFill>
        <p:spPr>
          <a:xfrm>
            <a:off x="5195887" y="2552501"/>
            <a:ext cx="12468225" cy="10451668"/>
          </a:xfrm>
          <a:prstGeom prst="rect">
            <a:avLst/>
          </a:prstGeom>
        </p:spPr>
      </p:pic>
    </p:spTree>
    <p:extLst>
      <p:ext uri="{BB962C8B-B14F-4D97-AF65-F5344CB8AC3E}">
        <p14:creationId xmlns:p14="http://schemas.microsoft.com/office/powerpoint/2010/main" val="3266722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33A3110A-8BC1-1BBF-17FF-4809642FE6E2}"/>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539C2770-D91F-4B47-86D3-58E297ABD6AE}"/>
              </a:ext>
            </a:extLst>
          </p:cNvPr>
          <p:cNvSpPr txBox="1"/>
          <p:nvPr/>
        </p:nvSpPr>
        <p:spPr>
          <a:xfrm>
            <a:off x="1730735"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DFD level 2</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90F7274D-5722-1BED-DC3E-27E308BED5D6}"/>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FC72F81A-7595-2BEE-FC24-C25F1631CAE5}"/>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AF4B245B-9FEA-4138-996A-87977A1AB8BD}"/>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E2DDE0A6-F0D6-06BC-3679-8B5B323AA6A5}"/>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2D28CCEB-27EC-B9C2-EE24-EBF1FD7C136F}"/>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68F295BC-2689-7797-5F97-1E51A01B0933}"/>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345E9DB4-CEA5-1201-9EC1-49B50CF680AE}"/>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B00F9889-FB66-9270-E3DD-347BDF370692}"/>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52CC7EC0-7D9D-70AA-399D-D4BE0F2EC624}"/>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7F7F7F6C-C13E-6AE1-23A8-898D64B06B58}"/>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5" name="Picture 4" descr="PlantUML diagram">
            <a:extLst>
              <a:ext uri="{FF2B5EF4-FFF2-40B4-BE49-F238E27FC236}">
                <a16:creationId xmlns:a16="http://schemas.microsoft.com/office/drawing/2014/main" id="{5B3D1BE6-F2E4-0F87-BE05-9246598A7031}"/>
              </a:ext>
            </a:extLst>
          </p:cNvPr>
          <p:cNvPicPr>
            <a:picLocks noChangeAspect="1"/>
          </p:cNvPicPr>
          <p:nvPr/>
        </p:nvPicPr>
        <p:blipFill>
          <a:blip r:embed="rId4"/>
          <a:stretch>
            <a:fillRect/>
          </a:stretch>
        </p:blipFill>
        <p:spPr>
          <a:xfrm>
            <a:off x="4425353" y="1894158"/>
            <a:ext cx="14411588" cy="11602957"/>
          </a:xfrm>
          <a:prstGeom prst="rect">
            <a:avLst/>
          </a:prstGeom>
        </p:spPr>
      </p:pic>
    </p:spTree>
    <p:extLst>
      <p:ext uri="{BB962C8B-B14F-4D97-AF65-F5344CB8AC3E}">
        <p14:creationId xmlns:p14="http://schemas.microsoft.com/office/powerpoint/2010/main" val="41555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11B8CC76-9A0A-0FA5-7BC5-B2A43D29A4EC}"/>
            </a:ext>
          </a:extLst>
        </p:cNvPr>
        <p:cNvGrpSpPr/>
        <p:nvPr/>
      </p:nvGrpSpPr>
      <p:grpSpPr>
        <a:xfrm>
          <a:off x="0" y="0"/>
          <a:ext cx="0" cy="0"/>
          <a:chOff x="0" y="0"/>
          <a:chExt cx="0" cy="0"/>
        </a:xfrm>
      </p:grpSpPr>
      <p:grpSp>
        <p:nvGrpSpPr>
          <p:cNvPr id="213" name="Google Shape;213;p10">
            <a:extLst>
              <a:ext uri="{FF2B5EF4-FFF2-40B4-BE49-F238E27FC236}">
                <a16:creationId xmlns:a16="http://schemas.microsoft.com/office/drawing/2014/main" id="{6E2F491E-19F0-7A54-1F49-A7C9A3DD8A5D}"/>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F0AB2E48-646A-0F0E-9438-C80553B1802A}"/>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416EA651-FDC4-830C-9A71-48143B52F4D4}"/>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62442365-2F9E-F0E2-1984-D8615D928E76}"/>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7540BD27-A6E4-7F3F-A11C-D6680740ABF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14F569AF-F287-A66C-1BFF-9EA4112C60C8}"/>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B767DC40-889B-897B-6808-E9841A178BA5}"/>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26F473BF-E846-D81C-FEC3-1EB98CC51E93}"/>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341D7668-2BDA-DF77-192E-AC2641D6472C}"/>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F1B9557F-5D29-1855-F7ED-DF3C1684FD36}"/>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9" name="TextBox 8">
            <a:extLst>
              <a:ext uri="{FF2B5EF4-FFF2-40B4-BE49-F238E27FC236}">
                <a16:creationId xmlns:a16="http://schemas.microsoft.com/office/drawing/2014/main" id="{14ADCA03-0255-46F6-2AA3-2917A275BA5E}"/>
              </a:ext>
            </a:extLst>
          </p:cNvPr>
          <p:cNvSpPr txBox="1"/>
          <p:nvPr/>
        </p:nvSpPr>
        <p:spPr>
          <a:xfrm>
            <a:off x="1524257" y="802741"/>
            <a:ext cx="12192000" cy="923330"/>
          </a:xfrm>
          <a:prstGeom prst="rect">
            <a:avLst/>
          </a:prstGeom>
          <a:noFill/>
        </p:spPr>
        <p:txBody>
          <a:bodyPr wrap="square">
            <a:spAutoFit/>
          </a:bodyPr>
          <a:lstStyle/>
          <a:p>
            <a:r>
              <a:rPr lang="en-US" sz="5400" b="1" dirty="0">
                <a:solidFill>
                  <a:schemeClr val="dk2"/>
                </a:solidFill>
                <a:latin typeface="Times New Roman"/>
                <a:ea typeface="Times New Roman"/>
                <a:cs typeface="Times New Roman"/>
                <a:sym typeface="Times New Roman"/>
              </a:rPr>
              <a:t>Deployment Diagram</a:t>
            </a:r>
            <a:endParaRPr lang="en-IN" dirty="0"/>
          </a:p>
        </p:txBody>
      </p:sp>
      <p:pic>
        <p:nvPicPr>
          <p:cNvPr id="2" name="Picture 1" descr="PlantUML Diagram">
            <a:extLst>
              <a:ext uri="{FF2B5EF4-FFF2-40B4-BE49-F238E27FC236}">
                <a16:creationId xmlns:a16="http://schemas.microsoft.com/office/drawing/2014/main" id="{DECE59CB-3E53-728C-7198-E58CD568DB76}"/>
              </a:ext>
            </a:extLst>
          </p:cNvPr>
          <p:cNvPicPr>
            <a:picLocks noChangeAspect="1"/>
          </p:cNvPicPr>
          <p:nvPr/>
        </p:nvPicPr>
        <p:blipFill>
          <a:blip r:embed="rId4"/>
          <a:stretch>
            <a:fillRect/>
          </a:stretch>
        </p:blipFill>
        <p:spPr>
          <a:xfrm>
            <a:off x="3046526" y="2284166"/>
            <a:ext cx="17815204" cy="10904357"/>
          </a:xfrm>
          <a:prstGeom prst="rect">
            <a:avLst/>
          </a:prstGeom>
        </p:spPr>
      </p:pic>
    </p:spTree>
    <p:extLst>
      <p:ext uri="{BB962C8B-B14F-4D97-AF65-F5344CB8AC3E}">
        <p14:creationId xmlns:p14="http://schemas.microsoft.com/office/powerpoint/2010/main" val="629325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D9B707FB-C5B0-99B2-7B80-EC982BF2EFEB}"/>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03EF3C15-1C48-4D05-1DCD-6D3B2F9156B6}"/>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BE309FE5-D01A-71DE-9A3B-256FAA8631C0}"/>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7EFA9FD2-9792-7EC2-7319-D387DC9583C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7B0F4FC2-89F0-90A5-0EDE-3D2E2F856609}"/>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1B230DC6-4056-63AF-9796-5375DFE09D6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36433541-B6F1-A892-1B34-D01B0EEB258B}"/>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4B95049C-993E-BDA0-9D35-58CA19084829}"/>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3B4BD441-9543-6A1D-FC12-C37412397040}"/>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Algorithm</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A75E117-AB73-7C5B-604C-3DCDA058662B}"/>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7C598508-42B9-718C-320A-89A6969EF2FD}"/>
              </a:ext>
            </a:extLst>
          </p:cNvPr>
          <p:cNvSpPr txBox="1"/>
          <p:nvPr/>
        </p:nvSpPr>
        <p:spPr>
          <a:xfrm>
            <a:off x="1489051" y="2656253"/>
            <a:ext cx="22468230" cy="10310515"/>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Autoencoder Feature Extraction and Latent K-Means Clustering</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Input: </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 Scaled input feature matrix of shape (</a:t>
            </a:r>
            <a:r>
              <a:rPr lang="en-IN" sz="2800" dirty="0" err="1">
                <a:latin typeface="Times New Roman" panose="02020603050405020304" pitchFamily="18" charset="0"/>
                <a:cs typeface="Times New Roman" panose="02020603050405020304" pitchFamily="18" charset="0"/>
              </a:rPr>
              <a:t>n_samples</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input_dim</a:t>
            </a:r>
            <a:r>
              <a:rPr lang="en-IN" sz="2800" dirty="0">
                <a:latin typeface="Times New Roman" panose="02020603050405020304" pitchFamily="18" charset="0"/>
                <a:cs typeface="Times New Roman" panose="02020603050405020304" pitchFamily="18" charset="0"/>
              </a:rPr>
              <a:t>).</a:t>
            </a:r>
          </a:p>
          <a:p>
            <a:r>
              <a:rPr lang="en-IN" sz="2800" b="1" dirty="0">
                <a:latin typeface="Times New Roman" panose="02020603050405020304" pitchFamily="18" charset="0"/>
                <a:cs typeface="Times New Roman" panose="02020603050405020304" pitchFamily="18" charset="0"/>
              </a:rPr>
              <a:t>Output: </a:t>
            </a:r>
            <a:r>
              <a:rPr lang="en-IN" sz="2800" dirty="0" err="1">
                <a:latin typeface="Times New Roman" panose="02020603050405020304" pitchFamily="18" charset="0"/>
                <a:cs typeface="Times New Roman" panose="02020603050405020304" pitchFamily="18" charset="0"/>
              </a:rPr>
              <a:t>results_df</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DataFrame</a:t>
            </a:r>
            <a:r>
              <a:rPr lang="en-IN" sz="2800" dirty="0">
                <a:latin typeface="Times New Roman" panose="02020603050405020304" pitchFamily="18" charset="0"/>
                <a:cs typeface="Times New Roman" panose="02020603050405020304" pitchFamily="18" charset="0"/>
              </a:rPr>
              <a:t> containing clustering evaluation metrics for k ∈ {3, 4, 5}.</a:t>
            </a:r>
          </a:p>
          <a:p>
            <a:r>
              <a:rPr lang="en-IN" sz="2800" b="1" dirty="0">
                <a:latin typeface="Times New Roman" panose="02020603050405020304" pitchFamily="18" charset="0"/>
                <a:cs typeface="Times New Roman" panose="02020603050405020304" pitchFamily="18" charset="0"/>
              </a:rPr>
              <a:t>Data: </a:t>
            </a:r>
            <a:r>
              <a:rPr lang="en-IN" sz="2800" dirty="0" err="1">
                <a:latin typeface="Times New Roman" panose="02020603050405020304" pitchFamily="18" charset="0"/>
                <a:cs typeface="Times New Roman" panose="02020603050405020304" pitchFamily="18" charset="0"/>
              </a:rPr>
              <a:t>input_dim</a:t>
            </a:r>
            <a:r>
              <a:rPr lang="en-IN" sz="2800" dirty="0">
                <a:latin typeface="Times New Roman" panose="02020603050405020304" pitchFamily="18" charset="0"/>
                <a:cs typeface="Times New Roman" panose="02020603050405020304" pitchFamily="18" charset="0"/>
              </a:rPr>
              <a:t>: Number of features in </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latent_dim</a:t>
            </a:r>
            <a:r>
              <a:rPr lang="en-IN" sz="2800" dirty="0">
                <a:latin typeface="Times New Roman" panose="02020603050405020304" pitchFamily="18" charset="0"/>
                <a:cs typeface="Times New Roman" panose="02020603050405020304" pitchFamily="18" charset="0"/>
              </a:rPr>
              <a:t>: Compressed bottleneck size (3); embeddings: Extracted 3D latent representations; </a:t>
            </a:r>
            <a:r>
              <a:rPr lang="en-IN" sz="2800" dirty="0" err="1">
                <a:latin typeface="Times New Roman" panose="02020603050405020304" pitchFamily="18" charset="0"/>
                <a:cs typeface="Times New Roman" panose="02020603050405020304" pitchFamily="18" charset="0"/>
              </a:rPr>
              <a:t>results_list</a:t>
            </a:r>
            <a:r>
              <a:rPr lang="en-IN" sz="2800" dirty="0">
                <a:latin typeface="Times New Roman" panose="02020603050405020304" pitchFamily="18" charset="0"/>
                <a:cs typeface="Times New Roman" panose="02020603050405020304" pitchFamily="18" charset="0"/>
              </a:rPr>
              <a:t>: Storage list for evaluation metrics.</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1. </a:t>
            </a:r>
            <a:r>
              <a:rPr lang="en-IN" sz="2800" dirty="0">
                <a:latin typeface="Times New Roman" panose="02020603050405020304" pitchFamily="18" charset="0"/>
                <a:cs typeface="Times New Roman" panose="02020603050405020304" pitchFamily="18" charset="0"/>
              </a:rPr>
              <a:t>Function </a:t>
            </a:r>
            <a:r>
              <a:rPr lang="en-IN" sz="2800" dirty="0" err="1">
                <a:latin typeface="Times New Roman" panose="02020603050405020304" pitchFamily="18" charset="0"/>
                <a:cs typeface="Times New Roman" panose="02020603050405020304" pitchFamily="18" charset="0"/>
              </a:rPr>
              <a:t>train_autoencoder_and_cluster</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a:t>
            </a:r>
          </a:p>
          <a:p>
            <a:r>
              <a:rPr lang="en-IN" sz="2800" b="1" dirty="0">
                <a:latin typeface="Times New Roman" panose="02020603050405020304" pitchFamily="18" charset="0"/>
                <a:cs typeface="Times New Roman" panose="02020603050405020304" pitchFamily="18" charset="0"/>
              </a:rPr>
              <a:t>2. </a:t>
            </a:r>
            <a:r>
              <a:rPr lang="en-IN" sz="2800" dirty="0" err="1">
                <a:latin typeface="Times New Roman" panose="02020603050405020304" pitchFamily="18" charset="0"/>
                <a:cs typeface="Times New Roman" panose="02020603050405020304" pitchFamily="18" charset="0"/>
              </a:rPr>
              <a:t>input_dim</a:t>
            </a:r>
            <a:r>
              <a:rPr lang="en-IN" sz="2800" dirty="0">
                <a:latin typeface="Times New Roman" panose="02020603050405020304" pitchFamily="18" charset="0"/>
                <a:cs typeface="Times New Roman" panose="02020603050405020304" pitchFamily="18" charset="0"/>
              </a:rPr>
              <a:t> ← Number of columns in </a:t>
            </a:r>
            <a:r>
              <a:rPr lang="en-IN" sz="2800" dirty="0" err="1">
                <a:latin typeface="Times New Roman" panose="02020603050405020304" pitchFamily="18" charset="0"/>
                <a:cs typeface="Times New Roman" panose="02020603050405020304" pitchFamily="18" charset="0"/>
              </a:rPr>
              <a:t>X_scaled</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3. </a:t>
            </a:r>
            <a:r>
              <a:rPr lang="en-IN" sz="2800" dirty="0" err="1">
                <a:latin typeface="Times New Roman" panose="02020603050405020304" pitchFamily="18" charset="0"/>
                <a:cs typeface="Times New Roman" panose="02020603050405020304" pitchFamily="18" charset="0"/>
              </a:rPr>
              <a:t>latent_dim</a:t>
            </a:r>
            <a:r>
              <a:rPr lang="en-IN" sz="2800" dirty="0">
                <a:latin typeface="Times New Roman" panose="02020603050405020304" pitchFamily="18" charset="0"/>
                <a:cs typeface="Times New Roman" panose="02020603050405020304" pitchFamily="18" charset="0"/>
              </a:rPr>
              <a:t> ← 3</a:t>
            </a:r>
          </a:p>
          <a:p>
            <a:r>
              <a:rPr lang="en-IN" sz="2800" b="1" dirty="0">
                <a:latin typeface="Times New Roman" panose="02020603050405020304" pitchFamily="18" charset="0"/>
                <a:cs typeface="Times New Roman" panose="02020603050405020304" pitchFamily="18" charset="0"/>
              </a:rPr>
              <a:t>4. </a:t>
            </a:r>
            <a:r>
              <a:rPr lang="en-IN" sz="2800" dirty="0">
                <a:latin typeface="Times New Roman" panose="02020603050405020304" pitchFamily="18" charset="0"/>
                <a:cs typeface="Times New Roman" panose="02020603050405020304" pitchFamily="18" charset="0"/>
              </a:rPr>
              <a:t>encoder ← Construct model: Input → Dense(16, </a:t>
            </a:r>
            <a:r>
              <a:rPr lang="en-IN" sz="2800" dirty="0" err="1">
                <a:latin typeface="Times New Roman" panose="02020603050405020304" pitchFamily="18" charset="0"/>
                <a:cs typeface="Times New Roman" panose="02020603050405020304" pitchFamily="18" charset="0"/>
              </a:rPr>
              <a:t>ReLU</a:t>
            </a:r>
            <a:r>
              <a:rPr lang="en-IN" sz="2800" dirty="0">
                <a:latin typeface="Times New Roman" panose="02020603050405020304" pitchFamily="18" charset="0"/>
                <a:cs typeface="Times New Roman" panose="02020603050405020304" pitchFamily="18" charset="0"/>
              </a:rPr>
              <a:t>) → Batch Normalization → Dense(8, </a:t>
            </a:r>
            <a:r>
              <a:rPr lang="en-IN" sz="2800" dirty="0" err="1">
                <a:latin typeface="Times New Roman" panose="02020603050405020304" pitchFamily="18" charset="0"/>
                <a:cs typeface="Times New Roman" panose="02020603050405020304" pitchFamily="18" charset="0"/>
              </a:rPr>
              <a:t>ReLU</a:t>
            </a:r>
            <a:r>
              <a:rPr lang="en-IN" sz="2800" dirty="0">
                <a:latin typeface="Times New Roman" panose="02020603050405020304" pitchFamily="18" charset="0"/>
                <a:cs typeface="Times New Roman" panose="02020603050405020304" pitchFamily="18" charset="0"/>
              </a:rPr>
              <a:t>) → Dense(</a:t>
            </a:r>
            <a:r>
              <a:rPr lang="en-IN" sz="2800" dirty="0" err="1">
                <a:latin typeface="Times New Roman" panose="02020603050405020304" pitchFamily="18" charset="0"/>
                <a:cs typeface="Times New Roman" panose="02020603050405020304" pitchFamily="18" charset="0"/>
              </a:rPr>
              <a:t>latent_dim</a:t>
            </a:r>
            <a:r>
              <a:rPr lang="en-IN" sz="2800" dirty="0">
                <a:latin typeface="Times New Roman" panose="02020603050405020304" pitchFamily="18" charset="0"/>
                <a:cs typeface="Times New Roman" panose="02020603050405020304" pitchFamily="18" charset="0"/>
              </a:rPr>
              <a:t>, linear)</a:t>
            </a:r>
          </a:p>
          <a:p>
            <a:r>
              <a:rPr lang="en-IN" sz="2800" b="1" dirty="0">
                <a:latin typeface="Times New Roman" panose="02020603050405020304" pitchFamily="18" charset="0"/>
                <a:cs typeface="Times New Roman" panose="02020603050405020304" pitchFamily="18" charset="0"/>
              </a:rPr>
              <a:t>5. </a:t>
            </a:r>
            <a:r>
              <a:rPr lang="en-IN" sz="2800" dirty="0">
                <a:latin typeface="Times New Roman" panose="02020603050405020304" pitchFamily="18" charset="0"/>
                <a:cs typeface="Times New Roman" panose="02020603050405020304" pitchFamily="18" charset="0"/>
              </a:rPr>
              <a:t>decoder ← Construct model: Input(</a:t>
            </a:r>
            <a:r>
              <a:rPr lang="en-IN" sz="2800" dirty="0" err="1">
                <a:latin typeface="Times New Roman" panose="02020603050405020304" pitchFamily="18" charset="0"/>
                <a:cs typeface="Times New Roman" panose="02020603050405020304" pitchFamily="18" charset="0"/>
              </a:rPr>
              <a:t>latent_dim</a:t>
            </a:r>
            <a:r>
              <a:rPr lang="en-IN" sz="2800" dirty="0">
                <a:latin typeface="Times New Roman" panose="02020603050405020304" pitchFamily="18" charset="0"/>
                <a:cs typeface="Times New Roman" panose="02020603050405020304" pitchFamily="18" charset="0"/>
              </a:rPr>
              <a:t>) → Dense(8, </a:t>
            </a:r>
            <a:r>
              <a:rPr lang="en-IN" sz="2800" dirty="0" err="1">
                <a:latin typeface="Times New Roman" panose="02020603050405020304" pitchFamily="18" charset="0"/>
                <a:cs typeface="Times New Roman" panose="02020603050405020304" pitchFamily="18" charset="0"/>
              </a:rPr>
              <a:t>ReLU</a:t>
            </a:r>
            <a:r>
              <a:rPr lang="en-IN" sz="2800" dirty="0">
                <a:latin typeface="Times New Roman" panose="02020603050405020304" pitchFamily="18" charset="0"/>
                <a:cs typeface="Times New Roman" panose="02020603050405020304" pitchFamily="18" charset="0"/>
              </a:rPr>
              <a:t>) → Dense(16, </a:t>
            </a:r>
            <a:r>
              <a:rPr lang="en-IN" sz="2800" dirty="0" err="1">
                <a:latin typeface="Times New Roman" panose="02020603050405020304" pitchFamily="18" charset="0"/>
                <a:cs typeface="Times New Roman" panose="02020603050405020304" pitchFamily="18" charset="0"/>
              </a:rPr>
              <a:t>ReLU</a:t>
            </a:r>
            <a:r>
              <a:rPr lang="en-IN" sz="2800" dirty="0">
                <a:latin typeface="Times New Roman" panose="02020603050405020304" pitchFamily="18" charset="0"/>
                <a:cs typeface="Times New Roman" panose="02020603050405020304" pitchFamily="18" charset="0"/>
              </a:rPr>
              <a:t>) → Dense(</a:t>
            </a:r>
            <a:r>
              <a:rPr lang="en-IN" sz="2800" dirty="0" err="1">
                <a:latin typeface="Times New Roman" panose="02020603050405020304" pitchFamily="18" charset="0"/>
                <a:cs typeface="Times New Roman" panose="02020603050405020304" pitchFamily="18" charset="0"/>
              </a:rPr>
              <a:t>input_dim</a:t>
            </a:r>
            <a:r>
              <a:rPr lang="en-IN" sz="2800" dirty="0">
                <a:latin typeface="Times New Roman" panose="02020603050405020304" pitchFamily="18" charset="0"/>
                <a:cs typeface="Times New Roman" panose="02020603050405020304" pitchFamily="18" charset="0"/>
              </a:rPr>
              <a:t>, linear)</a:t>
            </a:r>
          </a:p>
          <a:p>
            <a:r>
              <a:rPr lang="en-IN" sz="2800" b="1" dirty="0">
                <a:latin typeface="Times New Roman" panose="02020603050405020304" pitchFamily="18" charset="0"/>
                <a:cs typeface="Times New Roman" panose="02020603050405020304" pitchFamily="18" charset="0"/>
              </a:rPr>
              <a:t>6. </a:t>
            </a:r>
            <a:r>
              <a:rPr lang="en-IN" sz="2800" dirty="0">
                <a:latin typeface="Times New Roman" panose="02020603050405020304" pitchFamily="18" charset="0"/>
                <a:cs typeface="Times New Roman" panose="02020603050405020304" pitchFamily="18" charset="0"/>
              </a:rPr>
              <a:t>autoencoder ← Assemble combined model: Decoder(Encoder(Input))</a:t>
            </a:r>
          </a:p>
          <a:p>
            <a:r>
              <a:rPr lang="en-IN" sz="2800" b="1" dirty="0">
                <a:latin typeface="Times New Roman" panose="02020603050405020304" pitchFamily="18" charset="0"/>
                <a:cs typeface="Times New Roman" panose="02020603050405020304" pitchFamily="18" charset="0"/>
              </a:rPr>
              <a:t>7. </a:t>
            </a:r>
            <a:r>
              <a:rPr lang="en-IN" sz="2800" dirty="0">
                <a:latin typeface="Times New Roman" panose="02020603050405020304" pitchFamily="18" charset="0"/>
                <a:cs typeface="Times New Roman" panose="02020603050405020304" pitchFamily="18" charset="0"/>
              </a:rPr>
              <a:t>Compile autoencoder using the Adam optimizer (learning rate = 0.001) and mean squared error (MSE) loss</a:t>
            </a:r>
          </a:p>
          <a:p>
            <a:r>
              <a:rPr lang="en-IN" sz="2800" b="1" dirty="0">
                <a:latin typeface="Times New Roman" panose="02020603050405020304" pitchFamily="18" charset="0"/>
                <a:cs typeface="Times New Roman" panose="02020603050405020304" pitchFamily="18" charset="0"/>
              </a:rPr>
              <a:t>8. </a:t>
            </a:r>
            <a:r>
              <a:rPr lang="en-IN" sz="2800" dirty="0">
                <a:latin typeface="Times New Roman" panose="02020603050405020304" pitchFamily="18" charset="0"/>
                <a:cs typeface="Times New Roman" panose="02020603050405020304" pitchFamily="18" charset="0"/>
              </a:rPr>
              <a:t>Train autoencoder on (</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 for 100 epochs, with batch size 32 and a 15% validation split</a:t>
            </a:r>
          </a:p>
          <a:p>
            <a:r>
              <a:rPr lang="en-IN" sz="2800" b="1" dirty="0">
                <a:latin typeface="Times New Roman" panose="02020603050405020304" pitchFamily="18" charset="0"/>
                <a:cs typeface="Times New Roman" panose="02020603050405020304" pitchFamily="18" charset="0"/>
              </a:rPr>
              <a:t>9. </a:t>
            </a:r>
            <a:r>
              <a:rPr lang="en-IN" sz="2800" dirty="0">
                <a:latin typeface="Times New Roman" panose="02020603050405020304" pitchFamily="18" charset="0"/>
                <a:cs typeface="Times New Roman" panose="02020603050405020304" pitchFamily="18" charset="0"/>
              </a:rPr>
              <a:t>embeddings ← Extract latent representations using the trained encoder on </a:t>
            </a:r>
            <a:r>
              <a:rPr lang="en-IN" sz="2800" dirty="0" err="1">
                <a:latin typeface="Times New Roman" panose="02020603050405020304" pitchFamily="18" charset="0"/>
                <a:cs typeface="Times New Roman" panose="02020603050405020304" pitchFamily="18" charset="0"/>
              </a:rPr>
              <a:t>X_scaled</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10. </a:t>
            </a:r>
            <a:r>
              <a:rPr lang="en-IN" sz="2800" dirty="0" err="1">
                <a:latin typeface="Times New Roman" panose="02020603050405020304" pitchFamily="18" charset="0"/>
                <a:cs typeface="Times New Roman" panose="02020603050405020304" pitchFamily="18" charset="0"/>
              </a:rPr>
              <a:t>results_list</a:t>
            </a:r>
            <a:r>
              <a:rPr lang="en-IN" sz="2800" dirty="0">
                <a:latin typeface="Times New Roman" panose="02020603050405020304" pitchFamily="18" charset="0"/>
                <a:cs typeface="Times New Roman" panose="02020603050405020304" pitchFamily="18" charset="0"/>
              </a:rPr>
              <a:t> ← []</a:t>
            </a:r>
          </a:p>
          <a:p>
            <a:r>
              <a:rPr lang="en-IN" sz="2800" b="1" dirty="0">
                <a:latin typeface="Times New Roman" panose="02020603050405020304" pitchFamily="18" charset="0"/>
                <a:cs typeface="Times New Roman" panose="02020603050405020304" pitchFamily="18" charset="0"/>
              </a:rPr>
              <a:t>11. </a:t>
            </a:r>
            <a:r>
              <a:rPr lang="en-IN" sz="2800" dirty="0">
                <a:latin typeface="Times New Roman" panose="02020603050405020304" pitchFamily="18" charset="0"/>
                <a:cs typeface="Times New Roman" panose="02020603050405020304" pitchFamily="18" charset="0"/>
              </a:rPr>
              <a:t>for each k in {3, 4, 5} do</a:t>
            </a:r>
          </a:p>
          <a:p>
            <a:r>
              <a:rPr lang="en-IN" sz="2800" b="1" dirty="0">
                <a:latin typeface="Times New Roman" panose="02020603050405020304" pitchFamily="18" charset="0"/>
                <a:cs typeface="Times New Roman" panose="02020603050405020304" pitchFamily="18" charset="0"/>
              </a:rPr>
              <a:t>12. </a:t>
            </a:r>
            <a:r>
              <a:rPr lang="en-IN" sz="2800" dirty="0" err="1">
                <a:latin typeface="Times New Roman" panose="02020603050405020304" pitchFamily="18" charset="0"/>
                <a:cs typeface="Times New Roman" panose="02020603050405020304" pitchFamily="18" charset="0"/>
              </a:rPr>
              <a:t>kmeans_ae</a:t>
            </a:r>
            <a:r>
              <a:rPr lang="en-IN" sz="2800" dirty="0">
                <a:latin typeface="Times New Roman" panose="02020603050405020304" pitchFamily="18" charset="0"/>
                <a:cs typeface="Times New Roman" panose="02020603050405020304" pitchFamily="18" charset="0"/>
              </a:rPr>
              <a:t> ← Initialize </a:t>
            </a:r>
            <a:r>
              <a:rPr lang="en-IN" sz="2800" dirty="0" err="1">
                <a:latin typeface="Times New Roman" panose="02020603050405020304" pitchFamily="18" charset="0"/>
                <a:cs typeface="Times New Roman" panose="02020603050405020304" pitchFamily="18" charset="0"/>
              </a:rPr>
              <a:t>KMeans</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n_clusters</a:t>
            </a:r>
            <a:r>
              <a:rPr lang="en-IN" sz="2800" dirty="0">
                <a:latin typeface="Times New Roman" panose="02020603050405020304" pitchFamily="18" charset="0"/>
                <a:cs typeface="Times New Roman" panose="02020603050405020304" pitchFamily="18" charset="0"/>
              </a:rPr>
              <a:t> = k, </a:t>
            </a:r>
            <a:r>
              <a:rPr lang="en-IN" sz="2800" dirty="0" err="1">
                <a:latin typeface="Times New Roman" panose="02020603050405020304" pitchFamily="18" charset="0"/>
                <a:cs typeface="Times New Roman" panose="02020603050405020304" pitchFamily="18" charset="0"/>
              </a:rPr>
              <a:t>random_state</a:t>
            </a:r>
            <a:r>
              <a:rPr lang="en-IN" sz="2800" dirty="0">
                <a:latin typeface="Times New Roman" panose="02020603050405020304" pitchFamily="18" charset="0"/>
                <a:cs typeface="Times New Roman" panose="02020603050405020304" pitchFamily="18" charset="0"/>
              </a:rPr>
              <a:t> = 42, </a:t>
            </a:r>
            <a:r>
              <a:rPr lang="en-IN" sz="2800" dirty="0" err="1">
                <a:latin typeface="Times New Roman" panose="02020603050405020304" pitchFamily="18" charset="0"/>
                <a:cs typeface="Times New Roman" panose="02020603050405020304" pitchFamily="18" charset="0"/>
              </a:rPr>
              <a:t>n_init</a:t>
            </a:r>
            <a:r>
              <a:rPr lang="en-IN" sz="2800" dirty="0">
                <a:latin typeface="Times New Roman" panose="02020603050405020304" pitchFamily="18" charset="0"/>
                <a:cs typeface="Times New Roman" panose="02020603050405020304" pitchFamily="18" charset="0"/>
              </a:rPr>
              <a:t> = 10)</a:t>
            </a:r>
          </a:p>
          <a:p>
            <a:r>
              <a:rPr lang="en-IN" sz="2800" b="1" dirty="0">
                <a:latin typeface="Times New Roman" panose="02020603050405020304" pitchFamily="18" charset="0"/>
                <a:cs typeface="Times New Roman" panose="02020603050405020304" pitchFamily="18" charset="0"/>
              </a:rPr>
              <a:t>13. </a:t>
            </a:r>
            <a:r>
              <a:rPr lang="en-IN" sz="2800" dirty="0" err="1">
                <a:latin typeface="Times New Roman" panose="02020603050405020304" pitchFamily="18" charset="0"/>
                <a:cs typeface="Times New Roman" panose="02020603050405020304" pitchFamily="18" charset="0"/>
              </a:rPr>
              <a:t>labels_ae</a:t>
            </a:r>
            <a:r>
              <a:rPr lang="en-IN" sz="2800" dirty="0">
                <a:latin typeface="Times New Roman" panose="02020603050405020304" pitchFamily="18" charset="0"/>
                <a:cs typeface="Times New Roman" panose="02020603050405020304" pitchFamily="18" charset="0"/>
              </a:rPr>
              <a:t> ← Fit </a:t>
            </a:r>
            <a:r>
              <a:rPr lang="en-IN" sz="2800" dirty="0" err="1">
                <a:latin typeface="Times New Roman" panose="02020603050405020304" pitchFamily="18" charset="0"/>
                <a:cs typeface="Times New Roman" panose="02020603050405020304" pitchFamily="18" charset="0"/>
              </a:rPr>
              <a:t>KMeans</a:t>
            </a:r>
            <a:r>
              <a:rPr lang="en-IN" sz="2800" dirty="0">
                <a:latin typeface="Times New Roman" panose="02020603050405020304" pitchFamily="18" charset="0"/>
                <a:cs typeface="Times New Roman" panose="02020603050405020304" pitchFamily="18" charset="0"/>
              </a:rPr>
              <a:t> and predict cluster assignments on embeddings</a:t>
            </a:r>
          </a:p>
          <a:p>
            <a:r>
              <a:rPr lang="en-IN" sz="2800" b="1" dirty="0">
                <a:latin typeface="Times New Roman" panose="02020603050405020304" pitchFamily="18" charset="0"/>
                <a:cs typeface="Times New Roman" panose="02020603050405020304" pitchFamily="18" charset="0"/>
              </a:rPr>
              <a:t>14. </a:t>
            </a:r>
            <a:r>
              <a:rPr lang="en-IN" sz="2800" dirty="0">
                <a:latin typeface="Times New Roman" panose="02020603050405020304" pitchFamily="18" charset="0"/>
                <a:cs typeface="Times New Roman" panose="02020603050405020304" pitchFamily="18" charset="0"/>
              </a:rPr>
              <a:t>res ← Evaluate clustering performance metrics using (embeddings, </a:t>
            </a:r>
            <a:r>
              <a:rPr lang="en-IN" sz="2800" dirty="0" err="1">
                <a:latin typeface="Times New Roman" panose="02020603050405020304" pitchFamily="18" charset="0"/>
                <a:cs typeface="Times New Roman" panose="02020603050405020304" pitchFamily="18" charset="0"/>
              </a:rPr>
              <a:t>labels_ae</a:t>
            </a:r>
            <a:r>
              <a:rPr lang="en-IN" sz="2800" dirty="0">
                <a:latin typeface="Times New Roman" panose="02020603050405020304" pitchFamily="18" charset="0"/>
                <a:cs typeface="Times New Roman" panose="02020603050405020304" pitchFamily="18" charset="0"/>
              </a:rPr>
              <a:t>)</a:t>
            </a:r>
          </a:p>
          <a:p>
            <a:r>
              <a:rPr lang="en-IN" sz="2800" b="1" dirty="0">
                <a:latin typeface="Times New Roman" panose="02020603050405020304" pitchFamily="18" charset="0"/>
                <a:cs typeface="Times New Roman" panose="02020603050405020304" pitchFamily="18" charset="0"/>
              </a:rPr>
              <a:t>15. </a:t>
            </a:r>
            <a:r>
              <a:rPr lang="en-IN" sz="2800" dirty="0">
                <a:latin typeface="Times New Roman" panose="02020603050405020304" pitchFamily="18" charset="0"/>
                <a:cs typeface="Times New Roman" panose="02020603050405020304" pitchFamily="18" charset="0"/>
              </a:rPr>
              <a:t>Append res to </a:t>
            </a:r>
            <a:r>
              <a:rPr lang="en-IN" sz="2800" dirty="0" err="1">
                <a:latin typeface="Times New Roman" panose="02020603050405020304" pitchFamily="18" charset="0"/>
                <a:cs typeface="Times New Roman" panose="02020603050405020304" pitchFamily="18" charset="0"/>
              </a:rPr>
              <a:t>results_list</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16. </a:t>
            </a:r>
            <a:r>
              <a:rPr lang="en-IN" sz="2800" dirty="0">
                <a:latin typeface="Times New Roman" panose="02020603050405020304" pitchFamily="18" charset="0"/>
                <a:cs typeface="Times New Roman" panose="02020603050405020304" pitchFamily="18" charset="0"/>
              </a:rPr>
              <a:t>return Convert </a:t>
            </a:r>
            <a:r>
              <a:rPr lang="en-IN" sz="2800" dirty="0" err="1">
                <a:latin typeface="Times New Roman" panose="02020603050405020304" pitchFamily="18" charset="0"/>
                <a:cs typeface="Times New Roman" panose="02020603050405020304" pitchFamily="18" charset="0"/>
              </a:rPr>
              <a:t>results_list</a:t>
            </a:r>
            <a:r>
              <a:rPr lang="en-IN" sz="2800" dirty="0">
                <a:latin typeface="Times New Roman" panose="02020603050405020304" pitchFamily="18" charset="0"/>
                <a:cs typeface="Times New Roman" panose="02020603050405020304" pitchFamily="18" charset="0"/>
              </a:rPr>
              <a:t> to a Pandas </a:t>
            </a:r>
            <a:r>
              <a:rPr lang="en-IN" sz="2800" dirty="0" err="1">
                <a:latin typeface="Times New Roman" panose="02020603050405020304" pitchFamily="18" charset="0"/>
                <a:cs typeface="Times New Roman" panose="02020603050405020304" pitchFamily="18" charset="0"/>
              </a:rPr>
              <a:t>DataFrame</a:t>
            </a:r>
            <a:endParaRPr lang="en-IN" sz="280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94923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572B9184-FFF0-6D37-F26F-E0D61A64E7D3}"/>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1ED975C0-E47C-04FE-4339-88D62551A13D}"/>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F6A8E67B-E86D-2FCF-4E3D-BFDC52DEDAF3}"/>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4B8FEFC0-68C6-2D35-3510-70FB5A017DAA}"/>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E295AE78-8E9E-6794-A033-8CE77C73B5E7}"/>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544CFD61-18D0-7022-750C-05A55BA49FC4}"/>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0038142B-EE38-675A-8D5C-8C904CFA7EBE}"/>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7209AD70-478A-26AD-449E-8AE0FF42AEA4}"/>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62E46B78-99E3-0AD7-23D3-19B3A4653461}"/>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FE26F8F6-7A2C-DFAA-0CFA-9072F541783B}"/>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351DC244-962E-81C6-B697-21A1BB4C8082}"/>
              </a:ext>
            </a:extLst>
          </p:cNvPr>
          <p:cNvSpPr txBox="1"/>
          <p:nvPr/>
        </p:nvSpPr>
        <p:spPr>
          <a:xfrm>
            <a:off x="1730735" y="213303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01EdaAndCleaning.ipynb</a:t>
            </a:r>
          </a:p>
        </p:txBody>
      </p:sp>
      <p:pic>
        <p:nvPicPr>
          <p:cNvPr id="6" name="Picture 5">
            <a:extLst>
              <a:ext uri="{FF2B5EF4-FFF2-40B4-BE49-F238E27FC236}">
                <a16:creationId xmlns:a16="http://schemas.microsoft.com/office/drawing/2014/main" id="{FE89BDB0-BDE5-598E-74A8-981DEB3D4D3F}"/>
              </a:ext>
            </a:extLst>
          </p:cNvPr>
          <p:cNvPicPr>
            <a:picLocks noChangeAspect="1"/>
          </p:cNvPicPr>
          <p:nvPr/>
        </p:nvPicPr>
        <p:blipFill>
          <a:blip r:embed="rId4"/>
          <a:stretch>
            <a:fillRect/>
          </a:stretch>
        </p:blipFill>
        <p:spPr>
          <a:xfrm>
            <a:off x="1730734" y="3001883"/>
            <a:ext cx="8041915" cy="9737830"/>
          </a:xfrm>
          <a:prstGeom prst="rect">
            <a:avLst/>
          </a:prstGeom>
        </p:spPr>
      </p:pic>
      <p:pic>
        <p:nvPicPr>
          <p:cNvPr id="8" name="Picture 7">
            <a:extLst>
              <a:ext uri="{FF2B5EF4-FFF2-40B4-BE49-F238E27FC236}">
                <a16:creationId xmlns:a16="http://schemas.microsoft.com/office/drawing/2014/main" id="{323124B5-1AEB-8F54-865A-D33C77E192B6}"/>
              </a:ext>
            </a:extLst>
          </p:cNvPr>
          <p:cNvPicPr>
            <a:picLocks noChangeAspect="1"/>
          </p:cNvPicPr>
          <p:nvPr/>
        </p:nvPicPr>
        <p:blipFill>
          <a:blip r:embed="rId5"/>
          <a:stretch>
            <a:fillRect/>
          </a:stretch>
        </p:blipFill>
        <p:spPr>
          <a:xfrm>
            <a:off x="12434578" y="2466643"/>
            <a:ext cx="8577572" cy="1210779"/>
          </a:xfrm>
          <a:prstGeom prst="rect">
            <a:avLst/>
          </a:prstGeom>
        </p:spPr>
      </p:pic>
      <p:pic>
        <p:nvPicPr>
          <p:cNvPr id="13" name="Picture 12">
            <a:extLst>
              <a:ext uri="{FF2B5EF4-FFF2-40B4-BE49-F238E27FC236}">
                <a16:creationId xmlns:a16="http://schemas.microsoft.com/office/drawing/2014/main" id="{54923085-6D4A-4A21-63A8-435FBFEB85A0}"/>
              </a:ext>
            </a:extLst>
          </p:cNvPr>
          <p:cNvPicPr>
            <a:picLocks noChangeAspect="1"/>
          </p:cNvPicPr>
          <p:nvPr/>
        </p:nvPicPr>
        <p:blipFill>
          <a:blip r:embed="rId6"/>
          <a:stretch>
            <a:fillRect/>
          </a:stretch>
        </p:blipFill>
        <p:spPr>
          <a:xfrm>
            <a:off x="12418280" y="8214332"/>
            <a:ext cx="9165369" cy="5143046"/>
          </a:xfrm>
          <a:prstGeom prst="rect">
            <a:avLst/>
          </a:prstGeom>
        </p:spPr>
      </p:pic>
      <p:pic>
        <p:nvPicPr>
          <p:cNvPr id="14" name="Picture 13">
            <a:extLst>
              <a:ext uri="{FF2B5EF4-FFF2-40B4-BE49-F238E27FC236}">
                <a16:creationId xmlns:a16="http://schemas.microsoft.com/office/drawing/2014/main" id="{B2871C65-B85A-63E7-D399-5775B2A54636}"/>
              </a:ext>
            </a:extLst>
          </p:cNvPr>
          <p:cNvPicPr>
            <a:picLocks noChangeAspect="1"/>
          </p:cNvPicPr>
          <p:nvPr/>
        </p:nvPicPr>
        <p:blipFill>
          <a:blip r:embed="rId7"/>
          <a:stretch>
            <a:fillRect/>
          </a:stretch>
        </p:blipFill>
        <p:spPr>
          <a:xfrm>
            <a:off x="12418281" y="3677422"/>
            <a:ext cx="8975725" cy="4172925"/>
          </a:xfrm>
          <a:prstGeom prst="rect">
            <a:avLst/>
          </a:prstGeom>
        </p:spPr>
      </p:pic>
    </p:spTree>
    <p:extLst>
      <p:ext uri="{BB962C8B-B14F-4D97-AF65-F5344CB8AC3E}">
        <p14:creationId xmlns:p14="http://schemas.microsoft.com/office/powerpoint/2010/main" val="3582348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B84DBED7-1DAB-984B-2E1E-D5B2128EFDC2}"/>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3DE0AB2F-E144-67A8-3DD6-A2BE32BF44B6}"/>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FE75AD80-F68D-A42F-DA13-74704E32AEC2}"/>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FDBA4017-BEA0-33F8-EF50-57B69B1962CD}"/>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3BA4CC7C-B49D-3ED4-3FA9-DBFD37864759}"/>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04E183FB-2DE3-5602-42BF-A86131AB3CC5}"/>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0428D82A-FE6D-076D-5850-4194DE8DF078}"/>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F4195899-4187-7908-BAF6-EA6BEDD994B0}"/>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6F491E26-B47A-461E-0783-A6A5A5B1C3C9}"/>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0292EEE1-5DA7-890D-A1F6-38C6FF95BF2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3AD0572C-70E6-87E3-08DF-311BC121341F}"/>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01EdaAndCleaning.ipynb</a:t>
            </a:r>
          </a:p>
        </p:txBody>
      </p:sp>
      <p:pic>
        <p:nvPicPr>
          <p:cNvPr id="3" name="Picture 2">
            <a:extLst>
              <a:ext uri="{FF2B5EF4-FFF2-40B4-BE49-F238E27FC236}">
                <a16:creationId xmlns:a16="http://schemas.microsoft.com/office/drawing/2014/main" id="{2345E620-6BFC-65A8-C938-305471082910}"/>
              </a:ext>
            </a:extLst>
          </p:cNvPr>
          <p:cNvPicPr>
            <a:picLocks noChangeAspect="1"/>
          </p:cNvPicPr>
          <p:nvPr/>
        </p:nvPicPr>
        <p:blipFill>
          <a:blip r:embed="rId4"/>
          <a:stretch>
            <a:fillRect/>
          </a:stretch>
        </p:blipFill>
        <p:spPr>
          <a:xfrm>
            <a:off x="1235435" y="3319200"/>
            <a:ext cx="8159546" cy="5435111"/>
          </a:xfrm>
          <a:prstGeom prst="rect">
            <a:avLst/>
          </a:prstGeom>
        </p:spPr>
      </p:pic>
      <p:pic>
        <p:nvPicPr>
          <p:cNvPr id="6" name="Picture 5">
            <a:extLst>
              <a:ext uri="{FF2B5EF4-FFF2-40B4-BE49-F238E27FC236}">
                <a16:creationId xmlns:a16="http://schemas.microsoft.com/office/drawing/2014/main" id="{BF0A35AC-E697-1BB9-5084-6C3B0BDA1FF7}"/>
              </a:ext>
            </a:extLst>
          </p:cNvPr>
          <p:cNvPicPr>
            <a:picLocks noChangeAspect="1"/>
          </p:cNvPicPr>
          <p:nvPr/>
        </p:nvPicPr>
        <p:blipFill>
          <a:blip r:embed="rId5"/>
          <a:stretch>
            <a:fillRect/>
          </a:stretch>
        </p:blipFill>
        <p:spPr>
          <a:xfrm>
            <a:off x="1235435" y="8172598"/>
            <a:ext cx="8284298" cy="3078240"/>
          </a:xfrm>
          <a:prstGeom prst="rect">
            <a:avLst/>
          </a:prstGeom>
        </p:spPr>
      </p:pic>
      <p:pic>
        <p:nvPicPr>
          <p:cNvPr id="10" name="Picture 9">
            <a:extLst>
              <a:ext uri="{FF2B5EF4-FFF2-40B4-BE49-F238E27FC236}">
                <a16:creationId xmlns:a16="http://schemas.microsoft.com/office/drawing/2014/main" id="{0606AE77-A2A1-E6AC-66EE-5ED3325AB664}"/>
              </a:ext>
            </a:extLst>
          </p:cNvPr>
          <p:cNvPicPr>
            <a:picLocks noChangeAspect="1"/>
          </p:cNvPicPr>
          <p:nvPr/>
        </p:nvPicPr>
        <p:blipFill>
          <a:blip r:embed="rId6"/>
          <a:stretch>
            <a:fillRect/>
          </a:stretch>
        </p:blipFill>
        <p:spPr>
          <a:xfrm>
            <a:off x="12868221" y="7788621"/>
            <a:ext cx="8025057" cy="5635694"/>
          </a:xfrm>
          <a:prstGeom prst="rect">
            <a:avLst/>
          </a:prstGeom>
        </p:spPr>
      </p:pic>
      <p:pic>
        <p:nvPicPr>
          <p:cNvPr id="13" name="Picture 12">
            <a:extLst>
              <a:ext uri="{FF2B5EF4-FFF2-40B4-BE49-F238E27FC236}">
                <a16:creationId xmlns:a16="http://schemas.microsoft.com/office/drawing/2014/main" id="{1CC0A8FB-CDF8-6B50-FEA8-23EDFB7F0598}"/>
              </a:ext>
            </a:extLst>
          </p:cNvPr>
          <p:cNvPicPr>
            <a:picLocks noChangeAspect="1"/>
          </p:cNvPicPr>
          <p:nvPr/>
        </p:nvPicPr>
        <p:blipFill>
          <a:blip r:embed="rId7"/>
          <a:srcRect t="17568"/>
          <a:stretch>
            <a:fillRect/>
          </a:stretch>
        </p:blipFill>
        <p:spPr>
          <a:xfrm>
            <a:off x="12868221" y="2000250"/>
            <a:ext cx="8220130" cy="5132368"/>
          </a:xfrm>
          <a:prstGeom prst="rect">
            <a:avLst/>
          </a:prstGeom>
        </p:spPr>
      </p:pic>
      <p:pic>
        <p:nvPicPr>
          <p:cNvPr id="15" name="Picture 14">
            <a:extLst>
              <a:ext uri="{FF2B5EF4-FFF2-40B4-BE49-F238E27FC236}">
                <a16:creationId xmlns:a16="http://schemas.microsoft.com/office/drawing/2014/main" id="{25DCD5D9-1B04-8566-01A1-9AAF19E73740}"/>
              </a:ext>
            </a:extLst>
          </p:cNvPr>
          <p:cNvPicPr>
            <a:picLocks noChangeAspect="1"/>
          </p:cNvPicPr>
          <p:nvPr/>
        </p:nvPicPr>
        <p:blipFill>
          <a:blip r:embed="rId8"/>
          <a:stretch>
            <a:fillRect/>
          </a:stretch>
        </p:blipFill>
        <p:spPr>
          <a:xfrm>
            <a:off x="1235435" y="11384186"/>
            <a:ext cx="8248712" cy="1036413"/>
          </a:xfrm>
          <a:prstGeom prst="rect">
            <a:avLst/>
          </a:prstGeom>
        </p:spPr>
      </p:pic>
    </p:spTree>
    <p:extLst>
      <p:ext uri="{BB962C8B-B14F-4D97-AF65-F5344CB8AC3E}">
        <p14:creationId xmlns:p14="http://schemas.microsoft.com/office/powerpoint/2010/main" val="4096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27347847-7540-AA93-89F5-3DFA4AC97F5B}"/>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E7E1DE63-B4CB-9F92-D57A-12C166FDC769}"/>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309D20AF-DB0C-4802-7E27-52365E0B0E20}"/>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AE1066E3-5707-C8D3-50ED-2B9453B0899E}"/>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1285B6E6-770E-7367-F62D-59FBED749528}"/>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6DA00F98-D86E-6EDF-91D6-E7162A75E843}"/>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DC3DA8C1-6A5E-B170-5656-D3905351A25D}"/>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79E248B5-A1E9-FEF7-735C-6D0BFF575AA6}"/>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A46A49C1-5A48-4D46-02B8-393A0D713317}"/>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17824A3B-8253-3098-9D78-FEA8B0577F8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695B96D8-6CEE-BF68-A845-374AB390213C}"/>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02FeatureEngineering.ipynb</a:t>
            </a:r>
          </a:p>
        </p:txBody>
      </p:sp>
      <p:pic>
        <p:nvPicPr>
          <p:cNvPr id="8" name="Picture 7">
            <a:extLst>
              <a:ext uri="{FF2B5EF4-FFF2-40B4-BE49-F238E27FC236}">
                <a16:creationId xmlns:a16="http://schemas.microsoft.com/office/drawing/2014/main" id="{EE1DBFBE-F212-D4E8-BB9B-36B9D6E33644}"/>
              </a:ext>
            </a:extLst>
          </p:cNvPr>
          <p:cNvPicPr>
            <a:picLocks noChangeAspect="1"/>
          </p:cNvPicPr>
          <p:nvPr/>
        </p:nvPicPr>
        <p:blipFill>
          <a:blip r:embed="rId4"/>
          <a:stretch>
            <a:fillRect/>
          </a:stretch>
        </p:blipFill>
        <p:spPr>
          <a:xfrm>
            <a:off x="501830" y="4048323"/>
            <a:ext cx="11686995" cy="7838196"/>
          </a:xfrm>
          <a:prstGeom prst="rect">
            <a:avLst/>
          </a:prstGeom>
        </p:spPr>
      </p:pic>
      <p:pic>
        <p:nvPicPr>
          <p:cNvPr id="10" name="Picture 9">
            <a:extLst>
              <a:ext uri="{FF2B5EF4-FFF2-40B4-BE49-F238E27FC236}">
                <a16:creationId xmlns:a16="http://schemas.microsoft.com/office/drawing/2014/main" id="{8DE902F0-CF8C-8059-5FBF-1F6D06DFF13A}"/>
              </a:ext>
            </a:extLst>
          </p:cNvPr>
          <p:cNvPicPr>
            <a:picLocks noChangeAspect="1"/>
          </p:cNvPicPr>
          <p:nvPr/>
        </p:nvPicPr>
        <p:blipFill>
          <a:blip r:embed="rId5"/>
          <a:stretch>
            <a:fillRect/>
          </a:stretch>
        </p:blipFill>
        <p:spPr>
          <a:xfrm>
            <a:off x="13068300" y="4048323"/>
            <a:ext cx="10308505" cy="8028000"/>
          </a:xfrm>
          <a:prstGeom prst="rect">
            <a:avLst/>
          </a:prstGeom>
        </p:spPr>
      </p:pic>
    </p:spTree>
    <p:extLst>
      <p:ext uri="{BB962C8B-B14F-4D97-AF65-F5344CB8AC3E}">
        <p14:creationId xmlns:p14="http://schemas.microsoft.com/office/powerpoint/2010/main" val="120613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016F7BB5-2EF4-FB43-CE0D-78CA7AE79FB8}"/>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FA4124FD-97D3-49AF-3C3E-DC94DBD75EDE}"/>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D6E541EE-9B30-5DB3-306A-3663585135D5}"/>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172658FB-E81B-11B0-F90D-02929F4A6097}"/>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08093E5A-9F4C-78FF-B33D-4556D52B234C}"/>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3F8EF46A-A625-F431-4C9B-7CFFE836DEFE}"/>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34AEFC20-94C3-11A7-B6F6-3A0AE64A2555}"/>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69F4B4DF-965E-853D-37B3-71A0FC618EE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619F6E48-F231-F7D4-1D10-897C44AAA884}"/>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A59D8C0D-4695-2B10-2D6F-E09D4A702258}"/>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93B2EB91-E284-448D-FA9B-5D33CA3700AF}"/>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02FeatureEngineering.ipynb</a:t>
            </a:r>
          </a:p>
        </p:txBody>
      </p:sp>
      <p:pic>
        <p:nvPicPr>
          <p:cNvPr id="3" name="Picture 2">
            <a:extLst>
              <a:ext uri="{FF2B5EF4-FFF2-40B4-BE49-F238E27FC236}">
                <a16:creationId xmlns:a16="http://schemas.microsoft.com/office/drawing/2014/main" id="{14470999-58F5-0886-C6C3-A4C32CE06D1F}"/>
              </a:ext>
            </a:extLst>
          </p:cNvPr>
          <p:cNvPicPr>
            <a:picLocks noChangeAspect="1"/>
          </p:cNvPicPr>
          <p:nvPr/>
        </p:nvPicPr>
        <p:blipFill>
          <a:blip r:embed="rId4"/>
          <a:stretch>
            <a:fillRect/>
          </a:stretch>
        </p:blipFill>
        <p:spPr>
          <a:xfrm>
            <a:off x="880498" y="3766770"/>
            <a:ext cx="11444851" cy="9460392"/>
          </a:xfrm>
          <a:prstGeom prst="rect">
            <a:avLst/>
          </a:prstGeom>
        </p:spPr>
      </p:pic>
      <p:pic>
        <p:nvPicPr>
          <p:cNvPr id="6" name="Picture 5">
            <a:extLst>
              <a:ext uri="{FF2B5EF4-FFF2-40B4-BE49-F238E27FC236}">
                <a16:creationId xmlns:a16="http://schemas.microsoft.com/office/drawing/2014/main" id="{FFB59A1D-9CD1-147D-0CB8-D70DB66C73FA}"/>
              </a:ext>
            </a:extLst>
          </p:cNvPr>
          <p:cNvPicPr>
            <a:picLocks noChangeAspect="1"/>
          </p:cNvPicPr>
          <p:nvPr/>
        </p:nvPicPr>
        <p:blipFill>
          <a:blip r:embed="rId5"/>
          <a:stretch>
            <a:fillRect/>
          </a:stretch>
        </p:blipFill>
        <p:spPr>
          <a:xfrm>
            <a:off x="13492827" y="3766770"/>
            <a:ext cx="9705576" cy="4105077"/>
          </a:xfrm>
          <a:prstGeom prst="rect">
            <a:avLst/>
          </a:prstGeom>
        </p:spPr>
      </p:pic>
      <p:pic>
        <p:nvPicPr>
          <p:cNvPr id="9" name="Picture 8">
            <a:extLst>
              <a:ext uri="{FF2B5EF4-FFF2-40B4-BE49-F238E27FC236}">
                <a16:creationId xmlns:a16="http://schemas.microsoft.com/office/drawing/2014/main" id="{CE7359BE-9583-9203-0061-07BC499C5030}"/>
              </a:ext>
            </a:extLst>
          </p:cNvPr>
          <p:cNvPicPr>
            <a:picLocks noChangeAspect="1"/>
          </p:cNvPicPr>
          <p:nvPr/>
        </p:nvPicPr>
        <p:blipFill>
          <a:blip r:embed="rId6"/>
          <a:stretch>
            <a:fillRect/>
          </a:stretch>
        </p:blipFill>
        <p:spPr>
          <a:xfrm>
            <a:off x="13492826" y="8524266"/>
            <a:ext cx="10004325" cy="1004932"/>
          </a:xfrm>
          <a:prstGeom prst="rect">
            <a:avLst/>
          </a:prstGeom>
        </p:spPr>
      </p:pic>
      <p:pic>
        <p:nvPicPr>
          <p:cNvPr id="13" name="Picture 12">
            <a:extLst>
              <a:ext uri="{FF2B5EF4-FFF2-40B4-BE49-F238E27FC236}">
                <a16:creationId xmlns:a16="http://schemas.microsoft.com/office/drawing/2014/main" id="{02555A5C-CBBB-0662-06C7-B5FC67B36E7C}"/>
              </a:ext>
            </a:extLst>
          </p:cNvPr>
          <p:cNvPicPr>
            <a:picLocks noChangeAspect="1"/>
          </p:cNvPicPr>
          <p:nvPr/>
        </p:nvPicPr>
        <p:blipFill>
          <a:blip r:embed="rId7"/>
          <a:stretch>
            <a:fillRect/>
          </a:stretch>
        </p:blipFill>
        <p:spPr>
          <a:xfrm>
            <a:off x="13492825" y="9814393"/>
            <a:ext cx="10004325" cy="3762689"/>
          </a:xfrm>
          <a:prstGeom prst="rect">
            <a:avLst/>
          </a:prstGeom>
        </p:spPr>
      </p:pic>
    </p:spTree>
    <p:extLst>
      <p:ext uri="{BB962C8B-B14F-4D97-AF65-F5344CB8AC3E}">
        <p14:creationId xmlns:p14="http://schemas.microsoft.com/office/powerpoint/2010/main" val="381873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A549A690-5C85-2177-65A7-B71047E31C4F}"/>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81B522FD-6466-1FED-B483-10CA65636DD0}"/>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3BB12133-87B0-370C-0023-8CD1A4E1AD55}"/>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DAE6215-1884-6FD6-608B-01A6DFD10A3A}"/>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C4C68AED-7F79-23EB-C992-F29D9352939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FAD218A6-3033-A406-A968-AC3AFEE20AC0}"/>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4AB5622B-C1EB-4495-5892-3F23F8B6B3AC}"/>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5C2B008C-B023-9FC8-4EBD-45BA8FCF439A}"/>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5DCC117C-ACD1-DE46-0F51-44FCD0AD78A5}"/>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EFD9028B-06B3-0DFD-F615-EAC4C7FA221E}"/>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91B7F787-EF2E-0E90-9392-C6A85EFBE630}"/>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02FeatureEngineering.ipynb</a:t>
            </a:r>
          </a:p>
        </p:txBody>
      </p:sp>
      <p:pic>
        <p:nvPicPr>
          <p:cNvPr id="3" name="Picture 2">
            <a:extLst>
              <a:ext uri="{FF2B5EF4-FFF2-40B4-BE49-F238E27FC236}">
                <a16:creationId xmlns:a16="http://schemas.microsoft.com/office/drawing/2014/main" id="{EC1A7747-D007-E0C3-F685-28513D6A517D}"/>
              </a:ext>
            </a:extLst>
          </p:cNvPr>
          <p:cNvPicPr>
            <a:picLocks noChangeAspect="1"/>
          </p:cNvPicPr>
          <p:nvPr/>
        </p:nvPicPr>
        <p:blipFill>
          <a:blip r:embed="rId4"/>
          <a:stretch>
            <a:fillRect/>
          </a:stretch>
        </p:blipFill>
        <p:spPr>
          <a:xfrm>
            <a:off x="1634483" y="4048322"/>
            <a:ext cx="15245300" cy="8193207"/>
          </a:xfrm>
          <a:prstGeom prst="rect">
            <a:avLst/>
          </a:prstGeom>
        </p:spPr>
      </p:pic>
    </p:spTree>
    <p:extLst>
      <p:ext uri="{BB962C8B-B14F-4D97-AF65-F5344CB8AC3E}">
        <p14:creationId xmlns:p14="http://schemas.microsoft.com/office/powerpoint/2010/main" val="8782463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2EC66F44-4387-533C-05D4-1A1C34F64F6A}"/>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13007BB3-8D7A-0EC4-6A6B-D9420C374AA5}"/>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B915C1AE-B0BB-6284-279A-E26478270FCC}"/>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A125F8D-BC4A-92C3-E46D-C2F6672C3714}"/>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42AACBB6-93A8-CFC3-1846-8C5DC24CC911}"/>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F85B9D08-C740-F243-0715-D3DF8B07C256}"/>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99D2475F-0E2A-29C1-FEBC-C69C82C0FC92}"/>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1E03EFA0-4F7F-C67A-1090-69BFC1DF818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C5ADC5F8-9023-11BD-5794-1B1E0D0076A2}"/>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DCFF8CE7-AAFB-4DD8-2695-106ECF258520}"/>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E0C1DABE-B5E5-A80C-3267-6947D4CEA464}"/>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3" name="Picture 2">
            <a:extLst>
              <a:ext uri="{FF2B5EF4-FFF2-40B4-BE49-F238E27FC236}">
                <a16:creationId xmlns:a16="http://schemas.microsoft.com/office/drawing/2014/main" id="{BB89347C-2573-BDAE-59B1-F37038790AD4}"/>
              </a:ext>
            </a:extLst>
          </p:cNvPr>
          <p:cNvPicPr>
            <a:picLocks noChangeAspect="1"/>
          </p:cNvPicPr>
          <p:nvPr/>
        </p:nvPicPr>
        <p:blipFill>
          <a:blip r:embed="rId4"/>
          <a:stretch>
            <a:fillRect/>
          </a:stretch>
        </p:blipFill>
        <p:spPr>
          <a:xfrm>
            <a:off x="872255" y="4006245"/>
            <a:ext cx="10751802" cy="8001341"/>
          </a:xfrm>
          <a:prstGeom prst="rect">
            <a:avLst/>
          </a:prstGeom>
        </p:spPr>
      </p:pic>
      <p:pic>
        <p:nvPicPr>
          <p:cNvPr id="6" name="Picture 5">
            <a:extLst>
              <a:ext uri="{FF2B5EF4-FFF2-40B4-BE49-F238E27FC236}">
                <a16:creationId xmlns:a16="http://schemas.microsoft.com/office/drawing/2014/main" id="{9CE65D6F-4357-CF06-D913-928EAF15EED6}"/>
              </a:ext>
            </a:extLst>
          </p:cNvPr>
          <p:cNvPicPr>
            <a:picLocks noChangeAspect="1"/>
          </p:cNvPicPr>
          <p:nvPr/>
        </p:nvPicPr>
        <p:blipFill>
          <a:blip r:embed="rId5"/>
          <a:stretch>
            <a:fillRect/>
          </a:stretch>
        </p:blipFill>
        <p:spPr>
          <a:xfrm>
            <a:off x="11806357" y="4618748"/>
            <a:ext cx="12245086" cy="7097002"/>
          </a:xfrm>
          <a:prstGeom prst="rect">
            <a:avLst/>
          </a:prstGeom>
        </p:spPr>
      </p:pic>
    </p:spTree>
    <p:extLst>
      <p:ext uri="{BB962C8B-B14F-4D97-AF65-F5344CB8AC3E}">
        <p14:creationId xmlns:p14="http://schemas.microsoft.com/office/powerpoint/2010/main" val="3053331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12B0528E-214E-1C6B-6ADF-6B78C8354CEE}"/>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A586E4B6-D87A-714C-8207-ACD436C60316}"/>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94D687CB-C7BB-0642-F339-E3410C14DD66}"/>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4F6394CD-5BBF-4A3A-3559-D1F5F40B048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F5549E62-0ECA-7E34-420B-EA75A962AF79}"/>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094A28E5-8428-0CFA-7752-EC7B4FA15489}"/>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100F6E51-3E3A-8587-FF71-4467652333BD}"/>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E3989CC0-2B57-DEAB-979B-89F8C97269D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A801DE3E-50DC-E858-E8B1-9C990EDAE52F}"/>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0ABB1819-36CA-E939-558D-C936E950D592}"/>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A2305CBD-F2AB-DC1D-A275-81F32B97ED9F}"/>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5" name="Picture 4">
            <a:extLst>
              <a:ext uri="{FF2B5EF4-FFF2-40B4-BE49-F238E27FC236}">
                <a16:creationId xmlns:a16="http://schemas.microsoft.com/office/drawing/2014/main" id="{59B8971D-25E7-01FD-99E2-D76B1A37AC7F}"/>
              </a:ext>
            </a:extLst>
          </p:cNvPr>
          <p:cNvPicPr>
            <a:picLocks noChangeAspect="1"/>
          </p:cNvPicPr>
          <p:nvPr/>
        </p:nvPicPr>
        <p:blipFill>
          <a:blip r:embed="rId4"/>
          <a:stretch>
            <a:fillRect/>
          </a:stretch>
        </p:blipFill>
        <p:spPr>
          <a:xfrm>
            <a:off x="937852" y="4257873"/>
            <a:ext cx="10826783" cy="6965704"/>
          </a:xfrm>
          <a:prstGeom prst="rect">
            <a:avLst/>
          </a:prstGeom>
        </p:spPr>
      </p:pic>
      <p:pic>
        <p:nvPicPr>
          <p:cNvPr id="8" name="Picture 7">
            <a:extLst>
              <a:ext uri="{FF2B5EF4-FFF2-40B4-BE49-F238E27FC236}">
                <a16:creationId xmlns:a16="http://schemas.microsoft.com/office/drawing/2014/main" id="{E6584C15-0E30-DC33-47D9-9D3F3704DA53}"/>
              </a:ext>
            </a:extLst>
          </p:cNvPr>
          <p:cNvPicPr>
            <a:picLocks noChangeAspect="1"/>
          </p:cNvPicPr>
          <p:nvPr/>
        </p:nvPicPr>
        <p:blipFill>
          <a:blip r:embed="rId5"/>
          <a:srcRect r="21752" b="26267"/>
          <a:stretch>
            <a:fillRect/>
          </a:stretch>
        </p:blipFill>
        <p:spPr>
          <a:xfrm>
            <a:off x="13227643" y="4975514"/>
            <a:ext cx="9127838" cy="523220"/>
          </a:xfrm>
          <a:prstGeom prst="rect">
            <a:avLst/>
          </a:prstGeom>
        </p:spPr>
      </p:pic>
      <p:pic>
        <p:nvPicPr>
          <p:cNvPr id="10" name="Picture 9">
            <a:extLst>
              <a:ext uri="{FF2B5EF4-FFF2-40B4-BE49-F238E27FC236}">
                <a16:creationId xmlns:a16="http://schemas.microsoft.com/office/drawing/2014/main" id="{8EB14016-F9D6-7E2E-F008-D976492BDF50}"/>
              </a:ext>
            </a:extLst>
          </p:cNvPr>
          <p:cNvPicPr>
            <a:picLocks noChangeAspect="1"/>
          </p:cNvPicPr>
          <p:nvPr/>
        </p:nvPicPr>
        <p:blipFill>
          <a:blip r:embed="rId6"/>
          <a:stretch>
            <a:fillRect/>
          </a:stretch>
        </p:blipFill>
        <p:spPr>
          <a:xfrm>
            <a:off x="13227643" y="5708770"/>
            <a:ext cx="9390631" cy="3215194"/>
          </a:xfrm>
          <a:prstGeom prst="rect">
            <a:avLst/>
          </a:prstGeom>
        </p:spPr>
      </p:pic>
      <p:pic>
        <p:nvPicPr>
          <p:cNvPr id="13" name="Picture 12">
            <a:extLst>
              <a:ext uri="{FF2B5EF4-FFF2-40B4-BE49-F238E27FC236}">
                <a16:creationId xmlns:a16="http://schemas.microsoft.com/office/drawing/2014/main" id="{AD04D613-1ED6-EFF1-29EE-27A659ED73D7}"/>
              </a:ext>
            </a:extLst>
          </p:cNvPr>
          <p:cNvPicPr>
            <a:picLocks noChangeAspect="1"/>
          </p:cNvPicPr>
          <p:nvPr/>
        </p:nvPicPr>
        <p:blipFill>
          <a:blip r:embed="rId7"/>
          <a:stretch>
            <a:fillRect/>
          </a:stretch>
        </p:blipFill>
        <p:spPr>
          <a:xfrm>
            <a:off x="12964850" y="8763531"/>
            <a:ext cx="10399383" cy="3215194"/>
          </a:xfrm>
          <a:prstGeom prst="rect">
            <a:avLst/>
          </a:prstGeom>
        </p:spPr>
      </p:pic>
    </p:spTree>
    <p:extLst>
      <p:ext uri="{BB962C8B-B14F-4D97-AF65-F5344CB8AC3E}">
        <p14:creationId xmlns:p14="http://schemas.microsoft.com/office/powerpoint/2010/main" val="3380230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D0E72A80-42C7-65BD-C5B8-9EA86F636B1B}"/>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1B2E2A04-7C9B-63EF-C130-FEB756992911}"/>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BB225D82-2AD3-8D4A-4140-A63E4B7AA4E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B2A0CF9-C483-A9F5-DBCC-3A3038C92019}"/>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C0C236D7-E849-8670-5FDA-98F26A1A3DBE}"/>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DEFAC63B-8196-845E-B2FD-2D7E7311B6A5}"/>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7348B8EA-ADB2-9FD0-3425-0A77E0FF8CAD}"/>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95F8F03D-252B-4EEC-289B-6C5AF1A21A54}"/>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C22FEC58-67DF-6491-6445-76680B4C0B22}"/>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24E6F43-5738-3E72-9E60-79209BB2EA4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121BEB1F-7217-46E2-9B44-E135875FAFB0}"/>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3" name="Picture 2">
            <a:extLst>
              <a:ext uri="{FF2B5EF4-FFF2-40B4-BE49-F238E27FC236}">
                <a16:creationId xmlns:a16="http://schemas.microsoft.com/office/drawing/2014/main" id="{288FF629-BADF-C874-8EBE-DA7CEC6A443E}"/>
              </a:ext>
            </a:extLst>
          </p:cNvPr>
          <p:cNvPicPr>
            <a:picLocks noChangeAspect="1"/>
          </p:cNvPicPr>
          <p:nvPr/>
        </p:nvPicPr>
        <p:blipFill>
          <a:blip r:embed="rId4"/>
          <a:stretch>
            <a:fillRect/>
          </a:stretch>
        </p:blipFill>
        <p:spPr>
          <a:xfrm>
            <a:off x="1095015" y="4048323"/>
            <a:ext cx="9725685" cy="8364656"/>
          </a:xfrm>
          <a:prstGeom prst="rect">
            <a:avLst/>
          </a:prstGeom>
        </p:spPr>
      </p:pic>
      <p:pic>
        <p:nvPicPr>
          <p:cNvPr id="6" name="Picture 5">
            <a:extLst>
              <a:ext uri="{FF2B5EF4-FFF2-40B4-BE49-F238E27FC236}">
                <a16:creationId xmlns:a16="http://schemas.microsoft.com/office/drawing/2014/main" id="{7A928FA3-FDFB-CA88-E473-658D130DAD14}"/>
              </a:ext>
            </a:extLst>
          </p:cNvPr>
          <p:cNvPicPr>
            <a:picLocks noChangeAspect="1"/>
          </p:cNvPicPr>
          <p:nvPr/>
        </p:nvPicPr>
        <p:blipFill>
          <a:blip r:embed="rId5"/>
          <a:stretch>
            <a:fillRect/>
          </a:stretch>
        </p:blipFill>
        <p:spPr>
          <a:xfrm>
            <a:off x="14155274" y="1783760"/>
            <a:ext cx="8685676" cy="11733521"/>
          </a:xfrm>
          <a:prstGeom prst="rect">
            <a:avLst/>
          </a:prstGeom>
        </p:spPr>
      </p:pic>
    </p:spTree>
    <p:extLst>
      <p:ext uri="{BB962C8B-B14F-4D97-AF65-F5344CB8AC3E}">
        <p14:creationId xmlns:p14="http://schemas.microsoft.com/office/powerpoint/2010/main" val="204430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77B1869E-3904-4133-332B-72597B6C7F81}"/>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9374FCAA-0D27-0ED7-2B0F-51182B2BC880}"/>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21EA2194-D08B-BD48-1555-B22D27C92640}"/>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C40CA24-46A3-D633-75A4-E00AC6912E50}"/>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BCF36917-776B-CA46-09CE-BFA0DA693C34}"/>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FD6B01DC-C35C-7AF2-3CDA-D13E7B68F60E}"/>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019EEEB8-CCEA-C674-36BA-0433F1DC3895}"/>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E7926E42-CBA4-40F4-D69E-5D0730F4F3C8}"/>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015D9A1A-BB0B-E39B-8DE9-B4E79BB95C70}"/>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76E8D7F6-C59E-54D9-1EDC-D5BB9039CEB1}"/>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58F914FD-CCD2-7DA2-3FBE-FC8A13BF05E8}"/>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3" name="Picture 2">
            <a:extLst>
              <a:ext uri="{FF2B5EF4-FFF2-40B4-BE49-F238E27FC236}">
                <a16:creationId xmlns:a16="http://schemas.microsoft.com/office/drawing/2014/main" id="{71B3DD2E-47FF-CEC8-8EB0-1BAC02E9BF0D}"/>
              </a:ext>
            </a:extLst>
          </p:cNvPr>
          <p:cNvPicPr>
            <a:picLocks noChangeAspect="1"/>
          </p:cNvPicPr>
          <p:nvPr/>
        </p:nvPicPr>
        <p:blipFill>
          <a:blip r:embed="rId4"/>
          <a:stretch>
            <a:fillRect/>
          </a:stretch>
        </p:blipFill>
        <p:spPr>
          <a:xfrm>
            <a:off x="87042" y="4238323"/>
            <a:ext cx="8744626" cy="7693916"/>
          </a:xfrm>
          <a:prstGeom prst="rect">
            <a:avLst/>
          </a:prstGeom>
        </p:spPr>
      </p:pic>
      <p:pic>
        <p:nvPicPr>
          <p:cNvPr id="6" name="Picture 5">
            <a:extLst>
              <a:ext uri="{FF2B5EF4-FFF2-40B4-BE49-F238E27FC236}">
                <a16:creationId xmlns:a16="http://schemas.microsoft.com/office/drawing/2014/main" id="{47083B5C-B682-D264-B6BF-E54BBD0546FF}"/>
              </a:ext>
            </a:extLst>
          </p:cNvPr>
          <p:cNvPicPr>
            <a:picLocks noChangeAspect="1"/>
          </p:cNvPicPr>
          <p:nvPr/>
        </p:nvPicPr>
        <p:blipFill>
          <a:blip r:embed="rId5"/>
          <a:stretch>
            <a:fillRect/>
          </a:stretch>
        </p:blipFill>
        <p:spPr>
          <a:xfrm>
            <a:off x="9124911" y="5030638"/>
            <a:ext cx="8180650" cy="4870921"/>
          </a:xfrm>
          <a:prstGeom prst="rect">
            <a:avLst/>
          </a:prstGeom>
        </p:spPr>
      </p:pic>
      <p:pic>
        <p:nvPicPr>
          <p:cNvPr id="8" name="Picture 7">
            <a:extLst>
              <a:ext uri="{FF2B5EF4-FFF2-40B4-BE49-F238E27FC236}">
                <a16:creationId xmlns:a16="http://schemas.microsoft.com/office/drawing/2014/main" id="{CFD1B76A-BAB2-D788-4E9B-E3ACCA50401E}"/>
              </a:ext>
            </a:extLst>
          </p:cNvPr>
          <p:cNvPicPr>
            <a:picLocks noChangeAspect="1"/>
          </p:cNvPicPr>
          <p:nvPr/>
        </p:nvPicPr>
        <p:blipFill>
          <a:blip r:embed="rId6"/>
          <a:stretch>
            <a:fillRect/>
          </a:stretch>
        </p:blipFill>
        <p:spPr>
          <a:xfrm>
            <a:off x="17598804" y="2656253"/>
            <a:ext cx="6600161" cy="10518129"/>
          </a:xfrm>
          <a:prstGeom prst="rect">
            <a:avLst/>
          </a:prstGeom>
        </p:spPr>
      </p:pic>
    </p:spTree>
    <p:extLst>
      <p:ext uri="{BB962C8B-B14F-4D97-AF65-F5344CB8AC3E}">
        <p14:creationId xmlns:p14="http://schemas.microsoft.com/office/powerpoint/2010/main" val="3227126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95FE53D9-85B3-BD79-0DF8-C39432145D0D}"/>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0EC25E96-8ECE-AE62-1C11-B56DD1FC57CD}"/>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70F117D6-C489-AB77-21D1-B85968A9D8CA}"/>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FB6912F0-739C-14A6-E82F-570EB11C1278}"/>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65A39140-6AB0-E490-1164-90D58619B14F}"/>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4F1B41DC-BBB9-7C2C-419D-05B095A96D92}"/>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326D4F9D-DA72-B449-AA75-B33AA8A806FE}"/>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3B6C8193-56CD-97B8-C918-3A22FEAF67E9}"/>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8F1588B8-C5BD-FC39-7426-CDC417563288}"/>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B64EB15E-F4F0-C413-3F63-209E88C4E302}"/>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B2E2132F-02F7-0BE1-EEAE-DD77BCB80287}"/>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3" name="Picture 2">
            <a:extLst>
              <a:ext uri="{FF2B5EF4-FFF2-40B4-BE49-F238E27FC236}">
                <a16:creationId xmlns:a16="http://schemas.microsoft.com/office/drawing/2014/main" id="{B00546A5-9ACB-39BA-55E8-BA203B043DF0}"/>
              </a:ext>
            </a:extLst>
          </p:cNvPr>
          <p:cNvPicPr>
            <a:picLocks noChangeAspect="1"/>
          </p:cNvPicPr>
          <p:nvPr/>
        </p:nvPicPr>
        <p:blipFill>
          <a:blip r:embed="rId4"/>
          <a:stretch>
            <a:fillRect/>
          </a:stretch>
        </p:blipFill>
        <p:spPr>
          <a:xfrm>
            <a:off x="1217083" y="3819127"/>
            <a:ext cx="8086812" cy="9317753"/>
          </a:xfrm>
          <a:prstGeom prst="rect">
            <a:avLst/>
          </a:prstGeom>
        </p:spPr>
      </p:pic>
      <p:pic>
        <p:nvPicPr>
          <p:cNvPr id="6" name="Picture 5">
            <a:extLst>
              <a:ext uri="{FF2B5EF4-FFF2-40B4-BE49-F238E27FC236}">
                <a16:creationId xmlns:a16="http://schemas.microsoft.com/office/drawing/2014/main" id="{ABE18ADF-08ED-F47A-65CF-8C43EEA06C63}"/>
              </a:ext>
            </a:extLst>
          </p:cNvPr>
          <p:cNvPicPr>
            <a:picLocks noChangeAspect="1"/>
          </p:cNvPicPr>
          <p:nvPr/>
        </p:nvPicPr>
        <p:blipFill>
          <a:blip r:embed="rId5"/>
          <a:stretch>
            <a:fillRect/>
          </a:stretch>
        </p:blipFill>
        <p:spPr>
          <a:xfrm>
            <a:off x="13250532" y="4048323"/>
            <a:ext cx="7761618" cy="8839185"/>
          </a:xfrm>
          <a:prstGeom prst="rect">
            <a:avLst/>
          </a:prstGeom>
        </p:spPr>
      </p:pic>
      <p:pic>
        <p:nvPicPr>
          <p:cNvPr id="8" name="Picture 7">
            <a:extLst>
              <a:ext uri="{FF2B5EF4-FFF2-40B4-BE49-F238E27FC236}">
                <a16:creationId xmlns:a16="http://schemas.microsoft.com/office/drawing/2014/main" id="{CD2C9C66-0207-6762-02E4-43CC9F4A4DEE}"/>
              </a:ext>
            </a:extLst>
          </p:cNvPr>
          <p:cNvPicPr>
            <a:picLocks noChangeAspect="1"/>
          </p:cNvPicPr>
          <p:nvPr/>
        </p:nvPicPr>
        <p:blipFill>
          <a:blip r:embed="rId6"/>
          <a:stretch>
            <a:fillRect/>
          </a:stretch>
        </p:blipFill>
        <p:spPr>
          <a:xfrm>
            <a:off x="13250532" y="3385054"/>
            <a:ext cx="6058660" cy="590242"/>
          </a:xfrm>
          <a:prstGeom prst="rect">
            <a:avLst/>
          </a:prstGeom>
        </p:spPr>
      </p:pic>
      <p:sp>
        <p:nvSpPr>
          <p:cNvPr id="9" name="Rectangle 8">
            <a:extLst>
              <a:ext uri="{FF2B5EF4-FFF2-40B4-BE49-F238E27FC236}">
                <a16:creationId xmlns:a16="http://schemas.microsoft.com/office/drawing/2014/main" id="{5087FBFA-9A83-BA30-E582-F6411E7C3018}"/>
              </a:ext>
            </a:extLst>
          </p:cNvPr>
          <p:cNvSpPr/>
          <p:nvPr/>
        </p:nvSpPr>
        <p:spPr>
          <a:xfrm>
            <a:off x="14058900" y="9620250"/>
            <a:ext cx="4838700" cy="1905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97575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1FF63941-18F1-FE82-3CF6-D92505127ECD}"/>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867806AD-5DA0-DAAA-E441-FC42D4F86534}"/>
              </a:ext>
            </a:extLst>
          </p:cNvPr>
          <p:cNvPicPr>
            <a:picLocks noChangeAspect="1"/>
          </p:cNvPicPr>
          <p:nvPr/>
        </p:nvPicPr>
        <p:blipFill>
          <a:blip r:embed="rId3"/>
          <a:stretch>
            <a:fillRect/>
          </a:stretch>
        </p:blipFill>
        <p:spPr>
          <a:xfrm>
            <a:off x="1985165" y="3680948"/>
            <a:ext cx="19452023" cy="9505892"/>
          </a:xfrm>
          <a:prstGeom prst="rect">
            <a:avLst/>
          </a:prstGeom>
        </p:spPr>
      </p:pic>
      <p:grpSp>
        <p:nvGrpSpPr>
          <p:cNvPr id="302" name="Google Shape;302;p16">
            <a:extLst>
              <a:ext uri="{FF2B5EF4-FFF2-40B4-BE49-F238E27FC236}">
                <a16:creationId xmlns:a16="http://schemas.microsoft.com/office/drawing/2014/main" id="{8F123306-72EA-1EF7-E93E-7A6CF5D996CB}"/>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8E3264AC-AAA3-2B62-6C0E-46F37063AAE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6C46A6AA-18E7-D570-9FC4-EEF8C5975E58}"/>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7AB80921-ADAB-CC75-A853-E11CA0931F7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B3E2B9FE-6724-222E-D3DB-7D6479E1578E}"/>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BB762CB8-1694-E952-E00D-D2A8EB6EBCF5}"/>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D7D30D81-C11A-C094-7877-6B74F3BAC610}"/>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4D8E58FB-0818-7D71-5162-8817393D6210}"/>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Results</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337B119B-481F-53EF-7EC1-C1190A6F2A6A}"/>
              </a:ext>
            </a:extLst>
          </p:cNvPr>
          <p:cNvPicPr preferRelativeResize="0"/>
          <p:nvPr/>
        </p:nvPicPr>
        <p:blipFill rotWithShape="1">
          <a:blip r:embed="rId4">
            <a:alphaModFix/>
          </a:blip>
          <a:srcRect/>
          <a:stretch/>
        </p:blipFill>
        <p:spPr>
          <a:xfrm>
            <a:off x="80456" y="203730"/>
            <a:ext cx="1650279" cy="753258"/>
          </a:xfrm>
          <a:prstGeom prst="rect">
            <a:avLst/>
          </a:prstGeom>
          <a:noFill/>
          <a:ln>
            <a:noFill/>
          </a:ln>
        </p:spPr>
      </p:pic>
      <p:sp>
        <p:nvSpPr>
          <p:cNvPr id="3" name="TextBox 2">
            <a:extLst>
              <a:ext uri="{FF2B5EF4-FFF2-40B4-BE49-F238E27FC236}">
                <a16:creationId xmlns:a16="http://schemas.microsoft.com/office/drawing/2014/main" id="{50EADA83-0758-E183-4C4E-A9CE8737470F}"/>
              </a:ext>
            </a:extLst>
          </p:cNvPr>
          <p:cNvSpPr txBox="1"/>
          <p:nvPr/>
        </p:nvSpPr>
        <p:spPr>
          <a:xfrm>
            <a:off x="1409656" y="2357509"/>
            <a:ext cx="22967994" cy="1323439"/>
          </a:xfrm>
          <a:prstGeom prst="rect">
            <a:avLst/>
          </a:prstGeom>
          <a:noFill/>
        </p:spPr>
        <p:txBody>
          <a:bodyPr wrap="square">
            <a:spAutoFit/>
          </a:bodyPr>
          <a:lstStyle/>
          <a:p>
            <a:pPr marL="0" marR="0" indent="0" algn="l">
              <a:lnSpc>
                <a:spcPct val="150000"/>
              </a:lnSpc>
              <a:buNone/>
            </a:pPr>
            <a:r>
              <a:rPr lang="en-IN" sz="3200" i="0" dirty="0">
                <a:solidFill>
                  <a:srgbClr val="000000"/>
                </a:solidFill>
                <a:effectLst/>
                <a:latin typeface="Times New Roman" panose="02020603050405020304" pitchFamily="18" charset="0"/>
                <a:cs typeface="Times New Roman" panose="02020603050405020304" pitchFamily="18" charset="0"/>
              </a:rPr>
              <a:t>Autoencoder + K-Means (K=3) Achieves Peak Performance</a:t>
            </a:r>
          </a:p>
          <a:p>
            <a:r>
              <a:rPr lang="en-IN" sz="3200" dirty="0">
                <a:latin typeface="Times New Roman" panose="02020603050405020304" pitchFamily="18" charset="0"/>
                <a:cs typeface="Times New Roman" panose="02020603050405020304" pitchFamily="18" charset="0"/>
              </a:rPr>
              <a:t>SILHOUETTE SCORE: 0.4168	 DAVIES-BOULDIN INDEX: 0.9435		CALINSKI-HARABASZ: 5496.97</a:t>
            </a:r>
            <a:endParaRPr lang="en-IN" sz="3200" i="0" dirty="0">
              <a:solidFill>
                <a:srgbClr val="0F172A"/>
              </a:solidFill>
              <a:effectLst/>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FD0EECF4-52F9-25FF-511E-4B3218365C10}"/>
              </a:ext>
            </a:extLst>
          </p:cNvPr>
          <p:cNvSpPr/>
          <p:nvPr/>
        </p:nvSpPr>
        <p:spPr>
          <a:xfrm>
            <a:off x="2171698" y="9048750"/>
            <a:ext cx="19078955" cy="511302"/>
          </a:xfrm>
          <a:prstGeom prst="rect">
            <a:avLst/>
          </a:prstGeom>
          <a:noFill/>
          <a:ln w="76200">
            <a:solidFill>
              <a:srgbClr val="1111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07053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9A8AA270-F93D-D9D8-8D0D-5D5FF51FD356}"/>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18963CA6-1AAC-88CE-6E14-AED9458130C5}"/>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23BE9EC0-718A-9231-3AF1-4B58688405E2}"/>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62C235C1-667B-7A8A-28D3-EC77F2D302F3}"/>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BD2B5E1A-F1E5-6A3F-F04D-2652B2CBC6A1}"/>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F389E75A-2051-4002-1159-E0F20B921160}"/>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AA2B3970-EAA6-B5FF-9C36-FC4201A42BC4}"/>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6ED4315B-2FB7-3824-16A6-F98EFE905F47}"/>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F5D2748E-A10D-B899-AB5A-8755C11FFB96}"/>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Results</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6D76648F-A1A4-125E-0B7F-322F35F202A4}"/>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14" name="Picture 13">
            <a:extLst>
              <a:ext uri="{FF2B5EF4-FFF2-40B4-BE49-F238E27FC236}">
                <a16:creationId xmlns:a16="http://schemas.microsoft.com/office/drawing/2014/main" id="{0F5FD43D-F4E6-90C5-4F70-81EF1B8CEE10}"/>
              </a:ext>
            </a:extLst>
          </p:cNvPr>
          <p:cNvPicPr>
            <a:picLocks noChangeAspect="1"/>
          </p:cNvPicPr>
          <p:nvPr/>
        </p:nvPicPr>
        <p:blipFill>
          <a:blip r:embed="rId4"/>
          <a:stretch>
            <a:fillRect/>
          </a:stretch>
        </p:blipFill>
        <p:spPr>
          <a:xfrm>
            <a:off x="1079206" y="2841500"/>
            <a:ext cx="21625219" cy="8679180"/>
          </a:xfrm>
          <a:prstGeom prst="rect">
            <a:avLst/>
          </a:prstGeom>
        </p:spPr>
      </p:pic>
    </p:spTree>
    <p:extLst>
      <p:ext uri="{BB962C8B-B14F-4D97-AF65-F5344CB8AC3E}">
        <p14:creationId xmlns:p14="http://schemas.microsoft.com/office/powerpoint/2010/main" val="28460184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9B1EEDF4-078C-6C4B-F463-4D7F46E0EDAD}"/>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8987A51E-FD71-F113-F8F0-8CE31C77F19C}"/>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984C16EE-4DE5-7080-B603-0A1449E52C1D}"/>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6D5AFAA-AE5F-3009-6164-8EE4A3B834B7}"/>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0D864475-2812-2228-F60B-C6252E440001}"/>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34FF7873-A3BD-FC96-737F-6F715E11A33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2FC48F2D-4A1C-D589-DCD1-86AB21978B9F}"/>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9EC61000-B0C6-3D7A-7815-C7A27043FCA8}"/>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62875EC4-D648-8C5B-3523-4B21D6AF0B70}"/>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Results</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5D203A76-DB59-DE9A-9723-89392D8EDD21}"/>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5" name="Picture 4">
            <a:extLst>
              <a:ext uri="{FF2B5EF4-FFF2-40B4-BE49-F238E27FC236}">
                <a16:creationId xmlns:a16="http://schemas.microsoft.com/office/drawing/2014/main" id="{D260E0D4-6586-3C5E-F28B-6DE384C2D99F}"/>
              </a:ext>
            </a:extLst>
          </p:cNvPr>
          <p:cNvPicPr>
            <a:picLocks noChangeAspect="1"/>
          </p:cNvPicPr>
          <p:nvPr/>
        </p:nvPicPr>
        <p:blipFill>
          <a:blip r:embed="rId4"/>
          <a:stretch>
            <a:fillRect/>
          </a:stretch>
        </p:blipFill>
        <p:spPr>
          <a:xfrm>
            <a:off x="1053074" y="3534919"/>
            <a:ext cx="11798605" cy="8226550"/>
          </a:xfrm>
          <a:prstGeom prst="rect">
            <a:avLst/>
          </a:prstGeom>
        </p:spPr>
      </p:pic>
      <p:sp>
        <p:nvSpPr>
          <p:cNvPr id="8" name="TextBox 7">
            <a:extLst>
              <a:ext uri="{FF2B5EF4-FFF2-40B4-BE49-F238E27FC236}">
                <a16:creationId xmlns:a16="http://schemas.microsoft.com/office/drawing/2014/main" id="{4F3506B1-AE4F-29D2-F9DD-74207586CFBE}"/>
              </a:ext>
            </a:extLst>
          </p:cNvPr>
          <p:cNvSpPr txBox="1"/>
          <p:nvPr/>
        </p:nvSpPr>
        <p:spPr>
          <a:xfrm>
            <a:off x="13982700" y="3599034"/>
            <a:ext cx="8591550" cy="7417415"/>
          </a:xfrm>
          <a:prstGeom prst="rect">
            <a:avLst/>
          </a:prstGeom>
          <a:noFill/>
        </p:spPr>
        <p:txBody>
          <a:bodyPr wrap="square" rtlCol="0">
            <a:spAutoFit/>
          </a:bodyPr>
          <a:lstStyle/>
          <a:p>
            <a:r>
              <a:rPr lang="en-US" sz="2800" b="1" dirty="0">
                <a:solidFill>
                  <a:schemeClr val="accent5"/>
                </a:solidFill>
                <a:latin typeface="Times New Roman" panose="02020603050405020304" pitchFamily="18" charset="0"/>
                <a:cs typeface="Times New Roman" panose="02020603050405020304" pitchFamily="18" charset="0"/>
              </a:rPr>
              <a:t>Cluster 0 </a:t>
            </a:r>
            <a:r>
              <a:rPr lang="en-US" sz="2800" dirty="0">
                <a:latin typeface="Times New Roman" panose="02020603050405020304" pitchFamily="18" charset="0"/>
                <a:cs typeface="Times New Roman" panose="02020603050405020304" pitchFamily="18" charset="0"/>
              </a:rPr>
              <a:t>(Regular Customers): The regular customer cluster is comprised of customers who have moderate recency, frequent purchases, and consistent contributions to the business. They are the main source of income for the company.</a:t>
            </a:r>
          </a:p>
          <a:p>
            <a:endParaRPr lang="en-IN" sz="2800" dirty="0">
              <a:latin typeface="Times New Roman" panose="02020603050405020304" pitchFamily="18" charset="0"/>
              <a:cs typeface="Times New Roman" panose="02020603050405020304" pitchFamily="18" charset="0"/>
            </a:endParaRPr>
          </a:p>
          <a:p>
            <a:r>
              <a:rPr lang="en-US" sz="2800" b="1" dirty="0">
                <a:solidFill>
                  <a:schemeClr val="accent2">
                    <a:lumMod val="75000"/>
                  </a:schemeClr>
                </a:solidFill>
                <a:latin typeface="Times New Roman" panose="02020603050405020304" pitchFamily="18" charset="0"/>
                <a:cs typeface="Times New Roman" panose="02020603050405020304" pitchFamily="18" charset="0"/>
              </a:rPr>
              <a:t>Cluster 1 </a:t>
            </a:r>
            <a:r>
              <a:rPr lang="en-US" sz="2800" dirty="0">
                <a:latin typeface="Times New Roman" panose="02020603050405020304" pitchFamily="18" charset="0"/>
                <a:cs typeface="Times New Roman" panose="02020603050405020304" pitchFamily="18" charset="0"/>
              </a:rPr>
              <a:t>(Lost/At Risk Customers): This cluster comprises customers whose recency measures are quite high (long inactive period), while their purchase frequency and monetary contribution measures are quite low.</a:t>
            </a:r>
          </a:p>
          <a:p>
            <a:endParaRPr lang="en-IN" sz="2800" dirty="0">
              <a:latin typeface="Times New Roman" panose="02020603050405020304" pitchFamily="18" charset="0"/>
              <a:cs typeface="Times New Roman" panose="02020603050405020304" pitchFamily="18" charset="0"/>
            </a:endParaRPr>
          </a:p>
          <a:p>
            <a:r>
              <a:rPr lang="en-US" sz="2800" b="1" dirty="0">
                <a:solidFill>
                  <a:srgbClr val="00B050"/>
                </a:solidFill>
                <a:latin typeface="Times New Roman" panose="02020603050405020304" pitchFamily="18" charset="0"/>
                <a:cs typeface="Times New Roman" panose="02020603050405020304" pitchFamily="18" charset="0"/>
              </a:rPr>
              <a:t>Cluster 2 </a:t>
            </a:r>
            <a:r>
              <a:rPr lang="en-US" sz="2800" dirty="0">
                <a:latin typeface="Times New Roman" panose="02020603050405020304" pitchFamily="18" charset="0"/>
                <a:cs typeface="Times New Roman" panose="02020603050405020304" pitchFamily="18" charset="0"/>
              </a:rPr>
              <a:t>(High-Value Loyal Customers): This customer cluster consists of only a handful of individuals with extremely high purchase frequency and monetary contributions as well as extremely low recency measures, hence the generation of a disproportionately high level of income by these customers.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8286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7C012243-7819-AB43-F6A1-B9531B67E523}"/>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BABF99B4-4C16-59C1-FCAE-BEDB26954C07}"/>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28C7A279-CAC0-59FA-E2B3-AECDC09B9C86}"/>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B34B8D95-87BC-029A-48D1-9DA6DE143DF1}"/>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5C63AC26-BEA2-2060-CC1D-292606B06020}"/>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C0F880FF-F012-C00C-1924-71804F4CB8B9}"/>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55A8949B-B0B1-87F9-7CC4-75C5972D4BC6}"/>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74DBD9EF-F37B-E420-1869-E3239A005FF2}"/>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75957C65-1DA4-2839-5B10-0F2539EB014A}"/>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Results</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7F57E8A-4963-32C0-95D3-10280B873CBD}"/>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6" name="Picture 5">
            <a:extLst>
              <a:ext uri="{FF2B5EF4-FFF2-40B4-BE49-F238E27FC236}">
                <a16:creationId xmlns:a16="http://schemas.microsoft.com/office/drawing/2014/main" id="{DA7A130D-227C-56B4-F4E5-0C3022D46185}"/>
              </a:ext>
            </a:extLst>
          </p:cNvPr>
          <p:cNvPicPr>
            <a:picLocks noChangeAspect="1"/>
          </p:cNvPicPr>
          <p:nvPr/>
        </p:nvPicPr>
        <p:blipFill>
          <a:blip r:embed="rId4"/>
          <a:stretch>
            <a:fillRect/>
          </a:stretch>
        </p:blipFill>
        <p:spPr>
          <a:xfrm>
            <a:off x="11643582" y="2371724"/>
            <a:ext cx="11532940" cy="9963369"/>
          </a:xfrm>
          <a:prstGeom prst="rect">
            <a:avLst/>
          </a:prstGeom>
        </p:spPr>
      </p:pic>
      <p:pic>
        <p:nvPicPr>
          <p:cNvPr id="8" name="Picture 7">
            <a:extLst>
              <a:ext uri="{FF2B5EF4-FFF2-40B4-BE49-F238E27FC236}">
                <a16:creationId xmlns:a16="http://schemas.microsoft.com/office/drawing/2014/main" id="{46C8E654-B2FD-7B9B-0C01-04734479C39A}"/>
              </a:ext>
            </a:extLst>
          </p:cNvPr>
          <p:cNvPicPr>
            <a:picLocks noChangeAspect="1"/>
          </p:cNvPicPr>
          <p:nvPr/>
        </p:nvPicPr>
        <p:blipFill>
          <a:blip r:embed="rId5"/>
          <a:stretch>
            <a:fillRect/>
          </a:stretch>
        </p:blipFill>
        <p:spPr>
          <a:xfrm>
            <a:off x="1201128" y="3330729"/>
            <a:ext cx="9504363" cy="8601510"/>
          </a:xfrm>
          <a:prstGeom prst="rect">
            <a:avLst/>
          </a:prstGeom>
        </p:spPr>
      </p:pic>
    </p:spTree>
    <p:extLst>
      <p:ext uri="{BB962C8B-B14F-4D97-AF65-F5344CB8AC3E}">
        <p14:creationId xmlns:p14="http://schemas.microsoft.com/office/powerpoint/2010/main" val="31578081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grpSp>
        <p:nvGrpSpPr>
          <p:cNvPr id="302" name="Google Shape;302;p16"/>
          <p:cNvGrpSpPr/>
          <p:nvPr/>
        </p:nvGrpSpPr>
        <p:grpSpPr>
          <a:xfrm>
            <a:off x="1730735" y="1783761"/>
            <a:ext cx="3971795" cy="45719"/>
            <a:chOff x="1775295" y="2028842"/>
            <a:chExt cx="3631535" cy="45719"/>
          </a:xfrm>
        </p:grpSpPr>
        <p:sp>
          <p:nvSpPr>
            <p:cNvPr id="303" name="Google Shape;303;p16"/>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References</a:t>
            </a:r>
            <a:endParaRPr sz="6000" b="1" dirty="0">
              <a:solidFill>
                <a:schemeClr val="dk2"/>
              </a:solidFill>
              <a:latin typeface="Times New Roman"/>
              <a:ea typeface="Times New Roman"/>
              <a:cs typeface="Times New Roman"/>
              <a:sym typeface="Times New Roman"/>
            </a:endParaRPr>
          </a:p>
        </p:txBody>
      </p:sp>
      <p:sp>
        <p:nvSpPr>
          <p:cNvPr id="310" name="Google Shape;310;p16"/>
          <p:cNvSpPr txBox="1"/>
          <p:nvPr/>
        </p:nvSpPr>
        <p:spPr>
          <a:xfrm>
            <a:off x="1355487" y="2002363"/>
            <a:ext cx="21659245" cy="569157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2400" b="1">
              <a:solidFill>
                <a:srgbClr val="6D831D"/>
              </a:solidFill>
              <a:latin typeface="Raleway Light"/>
              <a:ea typeface="Raleway Light"/>
              <a:cs typeface="Raleway Light"/>
              <a:sym typeface="Raleway Light"/>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2" name="Rectangle 1"/>
          <p:cNvSpPr>
            <a:spLocks noChangeArrowheads="1"/>
          </p:cNvSpPr>
          <p:nvPr/>
        </p:nvSpPr>
        <p:spPr bwMode="auto">
          <a:xfrm>
            <a:off x="905595" y="2417859"/>
            <a:ext cx="23087466" cy="1107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4"/>
              </a:rPr>
              <a:t>1</a:t>
            </a:r>
            <a:r>
              <a:rPr lang="en-US" sz="3400" dirty="0">
                <a:latin typeface="Times New Roman" panose="02020603050405020304" pitchFamily="18" charset="0"/>
                <a:cs typeface="Times New Roman" panose="02020603050405020304" pitchFamily="18" charset="0"/>
              </a:rPr>
              <a:t>Xie, J., </a:t>
            </a:r>
            <a:r>
              <a:rPr lang="en-US" sz="3400" dirty="0" err="1">
                <a:latin typeface="Times New Roman" panose="02020603050405020304" pitchFamily="18" charset="0"/>
                <a:cs typeface="Times New Roman" panose="02020603050405020304" pitchFamily="18" charset="0"/>
              </a:rPr>
              <a:t>Girshick</a:t>
            </a:r>
            <a:r>
              <a:rPr lang="en-US" sz="3400" dirty="0">
                <a:latin typeface="Times New Roman" panose="02020603050405020304" pitchFamily="18" charset="0"/>
                <a:cs typeface="Times New Roman" panose="02020603050405020304" pitchFamily="18" charset="0"/>
              </a:rPr>
              <a:t>, R. &amp;amp; Farhadi, A.. (2016). Unsupervised Deep Embedding for Clustering Analysis. Proceedings of The 33rd International Conference on Machine Learning, in Proceedings of Machine Learning Research 48:478-487 Available from https://proceedings.mlr.press/v48/xieb16.html.</a:t>
            </a:r>
          </a:p>
          <a:p>
            <a:endParaRPr lang="en-IN" sz="3400" dirty="0">
              <a:latin typeface="Times New Roman" panose="02020603050405020304" pitchFamily="18" charset="0"/>
              <a:cs typeface="Times New Roman" panose="02020603050405020304" pitchFamily="18" charset="0"/>
            </a:endParaRPr>
          </a:p>
          <a:p>
            <a:pPr fontAlgn="base"/>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5"/>
              </a:rPr>
              <a:t>2</a:t>
            </a:r>
            <a:r>
              <a:rPr lang="en-IN" sz="3400" dirty="0">
                <a:latin typeface="Times New Roman" panose="02020603050405020304" pitchFamily="18" charset="0"/>
                <a:cs typeface="Times New Roman" panose="02020603050405020304" pitchFamily="18" charset="0"/>
              </a:rPr>
              <a:t>] Guo, X., Gao, L., Liu, X., &amp; Yin, J. (2017). Improved Deep Embedded Clustering with Local Structure Preservation. </a:t>
            </a:r>
            <a:r>
              <a:rPr lang="en-IN" sz="3400" i="1" dirty="0">
                <a:latin typeface="Times New Roman" panose="02020603050405020304" pitchFamily="18" charset="0"/>
                <a:cs typeface="Times New Roman" panose="02020603050405020304" pitchFamily="18" charset="0"/>
              </a:rPr>
              <a:t>Proceedings of the Twenty-Sixth International Joint Conference on Artificial Intelligence, IJCAI-17</a:t>
            </a:r>
            <a:r>
              <a:rPr lang="en-IN" sz="3400" dirty="0">
                <a:latin typeface="Times New Roman" panose="02020603050405020304" pitchFamily="18" charset="0"/>
                <a:cs typeface="Times New Roman" panose="02020603050405020304" pitchFamily="18" charset="0"/>
              </a:rPr>
              <a:t>, 1753–1759. doi:10.24963/ijcai.2017/243</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6"/>
              </a:rPr>
              <a:t>3</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Palakshappa</a:t>
            </a:r>
            <a:r>
              <a:rPr lang="en-IN" sz="3400" dirty="0">
                <a:latin typeface="Times New Roman" panose="02020603050405020304" pitchFamily="18" charset="0"/>
                <a:cs typeface="Times New Roman" panose="02020603050405020304" pitchFamily="18" charset="0"/>
              </a:rPr>
              <a:t>, Anitha &amp; Patil, Malini. (2019). RFM model for Customer Purchase </a:t>
            </a:r>
            <a:r>
              <a:rPr lang="en-IN" sz="3400" dirty="0" err="1">
                <a:latin typeface="Times New Roman" panose="02020603050405020304" pitchFamily="18" charset="0"/>
                <a:cs typeface="Times New Roman" panose="02020603050405020304" pitchFamily="18" charset="0"/>
              </a:rPr>
              <a:t>Behavior</a:t>
            </a:r>
            <a:r>
              <a:rPr lang="en-IN" sz="3400" dirty="0">
                <a:latin typeface="Times New Roman" panose="02020603050405020304" pitchFamily="18" charset="0"/>
                <a:cs typeface="Times New Roman" panose="02020603050405020304" pitchFamily="18" charset="0"/>
              </a:rPr>
              <a:t> using K-Means Algorithm. Journal of King Saud University - Computer and Information Sciences. 34. 10.1016/j.jksuci.2019.12.011. </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7"/>
              </a:rPr>
              <a:t>4</a:t>
            </a:r>
            <a:r>
              <a:rPr lang="en-IN" sz="3400" dirty="0">
                <a:latin typeface="Times New Roman" panose="02020603050405020304" pitchFamily="18" charset="0"/>
                <a:cs typeface="Times New Roman" panose="02020603050405020304" pitchFamily="18" charset="0"/>
              </a:rPr>
              <a:t>] L. Rajput and S. N. Singh, "Customer Segmentation of E-commerce data using K-means Clustering Algorithm," </a:t>
            </a:r>
            <a:r>
              <a:rPr lang="en-IN" sz="3400" i="1" dirty="0">
                <a:latin typeface="Times New Roman" panose="02020603050405020304" pitchFamily="18" charset="0"/>
                <a:cs typeface="Times New Roman" panose="02020603050405020304" pitchFamily="18" charset="0"/>
              </a:rPr>
              <a:t>2023 13th International Conference on Cloud Computing, Data Science &amp; Engineering (Confluence)</a:t>
            </a:r>
            <a:r>
              <a:rPr lang="en-IN" sz="3400" dirty="0">
                <a:latin typeface="Times New Roman" panose="02020603050405020304" pitchFamily="18" charset="0"/>
                <a:cs typeface="Times New Roman" panose="02020603050405020304" pitchFamily="18" charset="0"/>
              </a:rPr>
              <a:t>, Noida, India, 2023, pp. 658-664, </a:t>
            </a:r>
            <a:r>
              <a:rPr lang="en-IN" sz="3400" dirty="0" err="1">
                <a:latin typeface="Times New Roman" panose="02020603050405020304" pitchFamily="18" charset="0"/>
                <a:cs typeface="Times New Roman" panose="02020603050405020304" pitchFamily="18" charset="0"/>
              </a:rPr>
              <a:t>doi</a:t>
            </a:r>
            <a:r>
              <a:rPr lang="en-IN" sz="3400" dirty="0">
                <a:latin typeface="Times New Roman" panose="02020603050405020304" pitchFamily="18" charset="0"/>
                <a:cs typeface="Times New Roman" panose="02020603050405020304" pitchFamily="18" charset="0"/>
              </a:rPr>
              <a:t>: 10.1109/Confluence56041.2023.10048834.</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8"/>
              </a:rPr>
              <a:t>5</a:t>
            </a:r>
            <a:r>
              <a:rPr lang="en-IN" sz="3400" dirty="0">
                <a:latin typeface="Times New Roman" panose="02020603050405020304" pitchFamily="18" charset="0"/>
                <a:cs typeface="Times New Roman" panose="02020603050405020304" pitchFamily="18" charset="0"/>
              </a:rPr>
              <a:t>] L. Rajput and S. N. Singh, “Customer Segmentation of E-commerce data using K-means Clustering Algorithm,” </a:t>
            </a:r>
            <a:r>
              <a:rPr lang="en-IN" sz="3400" i="1" dirty="0">
                <a:latin typeface="Times New Roman" panose="02020603050405020304" pitchFamily="18" charset="0"/>
                <a:cs typeface="Times New Roman" panose="02020603050405020304" pitchFamily="18" charset="0"/>
              </a:rPr>
              <a:t>2023 13th International Conference on Cloud Computing, Data Science &amp; Engineering (Confluence)</a:t>
            </a:r>
            <a:r>
              <a:rPr lang="en-IN" sz="3400" dirty="0">
                <a:latin typeface="Times New Roman" panose="02020603050405020304" pitchFamily="18" charset="0"/>
                <a:cs typeface="Times New Roman" panose="02020603050405020304" pitchFamily="18" charset="0"/>
              </a:rPr>
              <a:t>, 2023. </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9"/>
              </a:rPr>
              <a:t>6</a:t>
            </a:r>
            <a:r>
              <a:rPr lang="en-IN" sz="3400" dirty="0">
                <a:latin typeface="Times New Roman" panose="02020603050405020304" pitchFamily="18" charset="0"/>
                <a:cs typeface="Times New Roman" panose="02020603050405020304" pitchFamily="18" charset="0"/>
              </a:rPr>
              <a:t>] Mehta, D., &amp; Sehgal, S. (2024). A Study on Micro-Segmentation of Retail Customers Using K-Means Clustering. </a:t>
            </a:r>
            <a:r>
              <a:rPr lang="en-IN" sz="3400" i="1" dirty="0">
                <a:latin typeface="Times New Roman" panose="02020603050405020304" pitchFamily="18" charset="0"/>
                <a:cs typeface="Times New Roman" panose="02020603050405020304" pitchFamily="18" charset="0"/>
              </a:rPr>
              <a:t>Journal of Business Thought</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15</a:t>
            </a:r>
            <a:r>
              <a:rPr lang="en-IN" sz="3400" dirty="0">
                <a:latin typeface="Times New Roman" panose="02020603050405020304" pitchFamily="18" charset="0"/>
                <a:cs typeface="Times New Roman" panose="02020603050405020304" pitchFamily="18" charset="0"/>
              </a:rPr>
              <a:t>, 75–87. </a:t>
            </a:r>
            <a:r>
              <a:rPr lang="en-IN" sz="3400" dirty="0">
                <a:latin typeface="Times New Roman" panose="02020603050405020304" pitchFamily="18" charset="0"/>
                <a:cs typeface="Times New Roman" panose="02020603050405020304" pitchFamily="18" charset="0"/>
                <a:hlinkClick r:id="rId10"/>
              </a:rPr>
              <a:t>https://doi.org/10.18311/jbt/2024/44468</a:t>
            </a:r>
            <a:endParaRPr lang="en-IN" sz="3400" dirty="0">
              <a:latin typeface="Times New Roman" panose="02020603050405020304" pitchFamily="18" charset="0"/>
              <a:cs typeface="Times New Roman" panose="02020603050405020304" pitchFamily="18" charset="0"/>
            </a:endParaRPr>
          </a:p>
          <a:p>
            <a:endParaRPr lang="en-IN" sz="3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8CFED67C-7EA6-0B7E-5E8B-044B530D68C3}"/>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00F964B5-2007-4BB2-6E66-BDBA5D038786}"/>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40901514-EE20-C15F-F1C2-2829F745C786}"/>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3FAE01FA-CD71-F6C0-2927-98A8E92006F6}"/>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84159009-D1F4-9F6E-C754-054060770CD4}"/>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2D9EB382-4EC4-DDCD-A0CB-D4032CD63847}"/>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B95AE962-4CB4-BE75-64CB-ADFB00F66F0D}"/>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03AE9E39-18FD-5B07-3F4C-D94F50DAAB1C}"/>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CC68708B-334A-A7A0-3863-1BCA1C37DD54}"/>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References</a:t>
            </a:r>
            <a:endParaRPr sz="6000" b="1" dirty="0">
              <a:solidFill>
                <a:schemeClr val="dk2"/>
              </a:solidFill>
              <a:latin typeface="Times New Roman"/>
              <a:ea typeface="Times New Roman"/>
              <a:cs typeface="Times New Roman"/>
              <a:sym typeface="Times New Roman"/>
            </a:endParaRPr>
          </a:p>
        </p:txBody>
      </p:sp>
      <p:sp>
        <p:nvSpPr>
          <p:cNvPr id="310" name="Google Shape;310;p16">
            <a:extLst>
              <a:ext uri="{FF2B5EF4-FFF2-40B4-BE49-F238E27FC236}">
                <a16:creationId xmlns:a16="http://schemas.microsoft.com/office/drawing/2014/main" id="{765DB4F2-2855-8BD0-4279-DE47F4AD5662}"/>
              </a:ext>
            </a:extLst>
          </p:cNvPr>
          <p:cNvSpPr txBox="1"/>
          <p:nvPr/>
        </p:nvSpPr>
        <p:spPr>
          <a:xfrm>
            <a:off x="1355487" y="2002363"/>
            <a:ext cx="21659245" cy="569157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2400" b="1">
              <a:solidFill>
                <a:srgbClr val="6D831D"/>
              </a:solidFill>
              <a:latin typeface="Raleway Light"/>
              <a:ea typeface="Raleway Light"/>
              <a:cs typeface="Raleway Light"/>
              <a:sym typeface="Raleway Light"/>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55124CDC-5D60-EE1B-5E4C-C2AF1AF19B0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2" name="Rectangle 1">
            <a:extLst>
              <a:ext uri="{FF2B5EF4-FFF2-40B4-BE49-F238E27FC236}">
                <a16:creationId xmlns:a16="http://schemas.microsoft.com/office/drawing/2014/main" id="{ABA9D5AA-1961-25D5-535F-9061A0C15CF5}"/>
              </a:ext>
            </a:extLst>
          </p:cNvPr>
          <p:cNvSpPr>
            <a:spLocks noChangeArrowheads="1"/>
          </p:cNvSpPr>
          <p:nvPr/>
        </p:nvSpPr>
        <p:spPr bwMode="auto">
          <a:xfrm>
            <a:off x="561366" y="2153958"/>
            <a:ext cx="23087466" cy="1107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4"/>
              </a:rPr>
              <a:t>7</a:t>
            </a:r>
            <a:r>
              <a:rPr lang="en-IN" sz="3400" dirty="0">
                <a:latin typeface="Times New Roman" panose="02020603050405020304" pitchFamily="18" charset="0"/>
                <a:cs typeface="Times New Roman" panose="02020603050405020304" pitchFamily="18" charset="0"/>
              </a:rPr>
              <a:t>] Pai, PY., Lin, SW. &amp; Lu, WM. Integration of association rule mining and RFM analysis with machine learning for e-commerce customer value segmentation: a sustainable retail perspective. </a:t>
            </a:r>
            <a:r>
              <a:rPr lang="en-IN" sz="3400" i="1" dirty="0">
                <a:latin typeface="Times New Roman" panose="02020603050405020304" pitchFamily="18" charset="0"/>
                <a:cs typeface="Times New Roman" panose="02020603050405020304" pitchFamily="18" charset="0"/>
              </a:rPr>
              <a:t>Qual Quant</a:t>
            </a:r>
            <a:r>
              <a:rPr lang="en-IN" sz="3400" dirty="0">
                <a:latin typeface="Times New Roman" panose="02020603050405020304" pitchFamily="18" charset="0"/>
                <a:cs typeface="Times New Roman" panose="02020603050405020304" pitchFamily="18" charset="0"/>
              </a:rPr>
              <a:t> </a:t>
            </a:r>
            <a:r>
              <a:rPr lang="en-IN" sz="3400" b="1" dirty="0">
                <a:latin typeface="Times New Roman" panose="02020603050405020304" pitchFamily="18" charset="0"/>
                <a:cs typeface="Times New Roman" panose="02020603050405020304" pitchFamily="18" charset="0"/>
              </a:rPr>
              <a:t>60</a:t>
            </a:r>
            <a:r>
              <a:rPr lang="en-IN" sz="3400" dirty="0">
                <a:latin typeface="Times New Roman" panose="02020603050405020304" pitchFamily="18" charset="0"/>
                <a:cs typeface="Times New Roman" panose="02020603050405020304" pitchFamily="18" charset="0"/>
              </a:rPr>
              <a:t>, 87–125 (2026). https://doi.org/10.1007/s11135-025-02259-8</a:t>
            </a:r>
            <a:endParaRPr lang="en-US" altLang="en-US" sz="3400" dirty="0">
              <a:solidFill>
                <a:schemeClr val="bg2"/>
              </a:solidFill>
              <a:latin typeface="Times New Roman" panose="02020603050405020304" pitchFamily="18" charset="0"/>
              <a:cs typeface="Times New Roman" panose="02020603050405020304" pitchFamily="18" charset="0"/>
            </a:endParaRP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5"/>
              </a:rPr>
              <a:t>8</a:t>
            </a:r>
            <a:r>
              <a:rPr lang="en-IN" sz="3400" dirty="0">
                <a:latin typeface="Times New Roman" panose="02020603050405020304" pitchFamily="18" charset="0"/>
                <a:cs typeface="Times New Roman" panose="02020603050405020304" pitchFamily="18" charset="0"/>
              </a:rPr>
              <a:t>] Wang, M., Meng, T., Gu, X., Wang, D., Wang, R., &amp; Zhao, R. (2025). Deep segmentation of retail customers based on improved DEC and multimodal semantic representation. </a:t>
            </a:r>
            <a:r>
              <a:rPr lang="en-IN" sz="3400" i="1" dirty="0">
                <a:latin typeface="Times New Roman" panose="02020603050405020304" pitchFamily="18" charset="0"/>
                <a:cs typeface="Times New Roman" panose="02020603050405020304" pitchFamily="18" charset="0"/>
              </a:rPr>
              <a:t>Alexandria Engineering Journal</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130</a:t>
            </a:r>
            <a:r>
              <a:rPr lang="en-IN" sz="3400" dirty="0">
                <a:latin typeface="Times New Roman" panose="02020603050405020304" pitchFamily="18" charset="0"/>
                <a:cs typeface="Times New Roman" panose="02020603050405020304" pitchFamily="18" charset="0"/>
              </a:rPr>
              <a:t>, 1–10. doi:10.1016/j.aej.2025.09.012</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6"/>
              </a:rPr>
              <a:t>9</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Kijwattanaphokin</a:t>
            </a:r>
            <a:r>
              <a:rPr lang="en-IN" sz="3400" dirty="0">
                <a:latin typeface="Times New Roman" panose="02020603050405020304" pitchFamily="18" charset="0"/>
                <a:cs typeface="Times New Roman" panose="02020603050405020304" pitchFamily="18" charset="0"/>
              </a:rPr>
              <a:t>, S., &amp; </a:t>
            </a:r>
            <a:r>
              <a:rPr lang="en-IN" sz="3400" dirty="0" err="1">
                <a:latin typeface="Times New Roman" panose="02020603050405020304" pitchFamily="18" charset="0"/>
                <a:cs typeface="Times New Roman" panose="02020603050405020304" pitchFamily="18" charset="0"/>
              </a:rPr>
              <a:t>Lhaochot</a:t>
            </a:r>
            <a:r>
              <a:rPr lang="en-IN" sz="3400" dirty="0">
                <a:latin typeface="Times New Roman" panose="02020603050405020304" pitchFamily="18" charset="0"/>
                <a:cs typeface="Times New Roman" panose="02020603050405020304" pitchFamily="18" charset="0"/>
              </a:rPr>
              <a:t>, L. (2026). Customer segmentation using a hybrid approach of K-Means clustering and RFM: An online retail case study. </a:t>
            </a:r>
            <a:r>
              <a:rPr lang="en-IN" sz="3400" i="1" dirty="0">
                <a:latin typeface="Times New Roman" panose="02020603050405020304" pitchFamily="18" charset="0"/>
                <a:cs typeface="Times New Roman" panose="02020603050405020304" pitchFamily="18" charset="0"/>
              </a:rPr>
              <a:t>Journal of Logistics and Supply Chain Operations</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12</a:t>
            </a:r>
            <a:r>
              <a:rPr lang="en-IN" sz="3400" dirty="0">
                <a:latin typeface="Times New Roman" panose="02020603050405020304" pitchFamily="18" charset="0"/>
                <a:cs typeface="Times New Roman" panose="02020603050405020304" pitchFamily="18" charset="0"/>
              </a:rPr>
              <a:t>(2). </a:t>
            </a:r>
            <a:r>
              <a:rPr lang="en-IN" sz="3400" dirty="0">
                <a:latin typeface="Times New Roman" panose="02020603050405020304" pitchFamily="18" charset="0"/>
                <a:cs typeface="Times New Roman" panose="02020603050405020304" pitchFamily="18" charset="0"/>
                <a:hlinkClick r:id="rId7"/>
              </a:rPr>
              <a:t>https://doi.org/10.53848/jlsco.v12i2.299053</a:t>
            </a:r>
            <a:endParaRPr lang="en-IN" sz="3400" dirty="0">
              <a:latin typeface="Times New Roman" panose="02020603050405020304" pitchFamily="18" charset="0"/>
              <a:cs typeface="Times New Roman" panose="02020603050405020304" pitchFamily="18" charset="0"/>
            </a:endParaRP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8"/>
              </a:rPr>
              <a:t>10</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Skha</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Yusfa</a:t>
            </a:r>
            <a:r>
              <a:rPr lang="en-IN" sz="3400" dirty="0">
                <a:latin typeface="Times New Roman" panose="02020603050405020304" pitchFamily="18" charset="0"/>
                <a:cs typeface="Times New Roman" panose="02020603050405020304" pitchFamily="18" charset="0"/>
              </a:rPr>
              <a:t>, M. N., </a:t>
            </a:r>
            <a:r>
              <a:rPr lang="en-IN" sz="3400" dirty="0" err="1">
                <a:latin typeface="Times New Roman" panose="02020603050405020304" pitchFamily="18" charset="0"/>
                <a:cs typeface="Times New Roman" panose="02020603050405020304" pitchFamily="18" charset="0"/>
              </a:rPr>
              <a:t>Musyawwa</a:t>
            </a:r>
            <a:r>
              <a:rPr lang="en-IN" sz="3400" dirty="0">
                <a:latin typeface="Times New Roman" panose="02020603050405020304" pitchFamily="18" charset="0"/>
                <a:cs typeface="Times New Roman" panose="02020603050405020304" pitchFamily="18" charset="0"/>
              </a:rPr>
              <a:t>, A., &amp; Pratama, A. B. (2026). Customer Segmentation Using the K-Means Algorithm for Customer Intelligence and Marketing Strategy in an Online Retail Company (Case Study: Online Retail Dataset II). </a:t>
            </a:r>
            <a:r>
              <a:rPr lang="en-IN" sz="3400" i="1" dirty="0">
                <a:latin typeface="Times New Roman" panose="02020603050405020304" pitchFamily="18" charset="0"/>
                <a:cs typeface="Times New Roman" panose="02020603050405020304" pitchFamily="18" charset="0"/>
              </a:rPr>
              <a:t>Journal of Information Systems and Business Technology</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2</a:t>
            </a:r>
            <a:r>
              <a:rPr lang="en-IN" sz="3400" dirty="0">
                <a:latin typeface="Times New Roman" panose="02020603050405020304" pitchFamily="18" charset="0"/>
                <a:cs typeface="Times New Roman" panose="02020603050405020304" pitchFamily="18" charset="0"/>
              </a:rPr>
              <a:t>(3), 427-432. </a:t>
            </a:r>
            <a:r>
              <a:rPr lang="en-IN" sz="3400" dirty="0">
                <a:latin typeface="Times New Roman" panose="02020603050405020304" pitchFamily="18" charset="0"/>
                <a:cs typeface="Times New Roman" panose="02020603050405020304" pitchFamily="18" charset="0"/>
                <a:hlinkClick r:id="rId9"/>
              </a:rPr>
              <a:t>https://journal.jci.co.id/jisbt/article/view/473</a:t>
            </a:r>
            <a:endParaRPr lang="en-IN" sz="3400" dirty="0">
              <a:latin typeface="Times New Roman" panose="02020603050405020304" pitchFamily="18" charset="0"/>
              <a:cs typeface="Times New Roman" panose="02020603050405020304" pitchFamily="18" charset="0"/>
            </a:endParaRP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10"/>
              </a:rPr>
              <a:t>11</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Rahadian</a:t>
            </a:r>
            <a:r>
              <a:rPr lang="en-IN" sz="3400" dirty="0">
                <a:latin typeface="Times New Roman" panose="02020603050405020304" pitchFamily="18" charset="0"/>
                <a:cs typeface="Times New Roman" panose="02020603050405020304" pitchFamily="18" charset="0"/>
              </a:rPr>
              <a:t>, Y. R., </a:t>
            </a:r>
            <a:r>
              <a:rPr lang="en-IN" sz="3400" dirty="0" err="1">
                <a:latin typeface="Times New Roman" panose="02020603050405020304" pitchFamily="18" charset="0"/>
                <a:cs typeface="Times New Roman" panose="02020603050405020304" pitchFamily="18" charset="0"/>
              </a:rPr>
              <a:t>Handayani</a:t>
            </a:r>
            <a:r>
              <a:rPr lang="en-IN" sz="3400" dirty="0">
                <a:latin typeface="Times New Roman" panose="02020603050405020304" pitchFamily="18" charset="0"/>
                <a:cs typeface="Times New Roman" panose="02020603050405020304" pitchFamily="18" charset="0"/>
              </a:rPr>
              <a:t>, D., </a:t>
            </a:r>
            <a:r>
              <a:rPr lang="en-IN" sz="3400" dirty="0" err="1">
                <a:latin typeface="Times New Roman" panose="02020603050405020304" pitchFamily="18" charset="0"/>
                <a:cs typeface="Times New Roman" panose="02020603050405020304" pitchFamily="18" charset="0"/>
              </a:rPr>
              <a:t>Firia</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Ferlania</a:t>
            </a:r>
            <a:r>
              <a:rPr lang="en-IN" sz="3400" dirty="0">
                <a:latin typeface="Times New Roman" panose="02020603050405020304" pitchFamily="18" charset="0"/>
                <a:cs typeface="Times New Roman" panose="02020603050405020304" pitchFamily="18" charset="0"/>
              </a:rPr>
              <a:t>, D. A., </a:t>
            </a:r>
            <a:r>
              <a:rPr lang="en-IN" sz="3400" dirty="0" err="1">
                <a:latin typeface="Times New Roman" panose="02020603050405020304" pitchFamily="18" charset="0"/>
                <a:cs typeface="Times New Roman" panose="02020603050405020304" pitchFamily="18" charset="0"/>
              </a:rPr>
              <a:t>Rusindiyanto</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Rakhmanhuda</a:t>
            </a:r>
            <a:r>
              <a:rPr lang="en-IN" sz="3400" dirty="0">
                <a:latin typeface="Times New Roman" panose="02020603050405020304" pitchFamily="18" charset="0"/>
                <a:cs typeface="Times New Roman" panose="02020603050405020304" pitchFamily="18" charset="0"/>
              </a:rPr>
              <a:t>, I., </a:t>
            </a:r>
            <a:r>
              <a:rPr lang="en-IN" sz="3400" dirty="0" err="1">
                <a:latin typeface="Times New Roman" panose="02020603050405020304" pitchFamily="18" charset="0"/>
                <a:cs typeface="Times New Roman" panose="02020603050405020304" pitchFamily="18" charset="0"/>
              </a:rPr>
              <a:t>Pradanarka</a:t>
            </a:r>
            <a:r>
              <a:rPr lang="en-IN" sz="3400" dirty="0">
                <a:latin typeface="Times New Roman" panose="02020603050405020304" pitchFamily="18" charset="0"/>
                <a:cs typeface="Times New Roman" panose="02020603050405020304" pitchFamily="18" charset="0"/>
              </a:rPr>
              <a:t>, A. M., &amp; </a:t>
            </a:r>
            <a:r>
              <a:rPr lang="en-IN" sz="3400" dirty="0" err="1">
                <a:latin typeface="Times New Roman" panose="02020603050405020304" pitchFamily="18" charset="0"/>
                <a:cs typeface="Times New Roman" panose="02020603050405020304" pitchFamily="18" charset="0"/>
              </a:rPr>
              <a:t>Indraswari</a:t>
            </a:r>
            <a:r>
              <a:rPr lang="en-IN" sz="3400" dirty="0">
                <a:latin typeface="Times New Roman" panose="02020603050405020304" pitchFamily="18" charset="0"/>
                <a:cs typeface="Times New Roman" panose="02020603050405020304" pitchFamily="18" charset="0"/>
              </a:rPr>
              <a:t>, R. (2026). Customer segmentation based on RFM, deep embedded clustering, and lifetime value analysis for loyalty strategy optimization. </a:t>
            </a:r>
            <a:r>
              <a:rPr lang="en-IN" sz="3400" i="1" dirty="0">
                <a:latin typeface="Times New Roman" panose="02020603050405020304" pitchFamily="18" charset="0"/>
                <a:cs typeface="Times New Roman" panose="02020603050405020304" pitchFamily="18" charset="0"/>
              </a:rPr>
              <a:t>Procedia Computer Science</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284</a:t>
            </a:r>
            <a:r>
              <a:rPr lang="en-IN" sz="3400" dirty="0">
                <a:latin typeface="Times New Roman" panose="02020603050405020304" pitchFamily="18" charset="0"/>
                <a:cs typeface="Times New Roman" panose="02020603050405020304" pitchFamily="18" charset="0"/>
              </a:rPr>
              <a:t>, 1611–1618. doi:10.1016/j.procs.2026.07.154</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11"/>
              </a:rPr>
              <a:t>12</a:t>
            </a:r>
            <a:r>
              <a:rPr lang="en-IN" sz="3400" dirty="0">
                <a:latin typeface="Times New Roman" panose="02020603050405020304" pitchFamily="18" charset="0"/>
                <a:cs typeface="Times New Roman" panose="02020603050405020304" pitchFamily="18" charset="0"/>
              </a:rPr>
              <a:t>] Manikandan, R. S., Sundar, S. K., Amalraj, J. J., Selvam, P., &amp; Faheem, M. (2026). Deep learning-driven customer segmentation model for online retail industry based on extended RFM model. </a:t>
            </a:r>
            <a:r>
              <a:rPr lang="en-IN" sz="3400" i="1" dirty="0">
                <a:latin typeface="Times New Roman" panose="02020603050405020304" pitchFamily="18" charset="0"/>
                <a:cs typeface="Times New Roman" panose="02020603050405020304" pitchFamily="18" charset="0"/>
              </a:rPr>
              <a:t>Discover Computing</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29</a:t>
            </a:r>
            <a:r>
              <a:rPr lang="en-IN" sz="3400" dirty="0">
                <a:latin typeface="Times New Roman" panose="02020603050405020304" pitchFamily="18" charset="0"/>
                <a:cs typeface="Times New Roman" panose="02020603050405020304" pitchFamily="18" charset="0"/>
              </a:rPr>
              <a:t>(1), Article 507. https://doi.org/10.1007/s10791-026-10421-5</a:t>
            </a:r>
          </a:p>
        </p:txBody>
      </p:sp>
    </p:spTree>
    <p:extLst>
      <p:ext uri="{BB962C8B-B14F-4D97-AF65-F5344CB8AC3E}">
        <p14:creationId xmlns:p14="http://schemas.microsoft.com/office/powerpoint/2010/main" val="1360757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18"/>
          <p:cNvSpPr txBox="1"/>
          <p:nvPr/>
        </p:nvSpPr>
        <p:spPr>
          <a:xfrm>
            <a:off x="9539984" y="6475146"/>
            <a:ext cx="5357116"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0" b="1" dirty="0">
                <a:solidFill>
                  <a:schemeClr val="bg2"/>
                </a:solidFill>
                <a:latin typeface="Times New Roman"/>
                <a:ea typeface="Times New Roman"/>
                <a:cs typeface="Times New Roman"/>
                <a:sym typeface="Times New Roman"/>
              </a:rPr>
              <a:t>Thank You</a:t>
            </a:r>
            <a:endParaRPr sz="8000" b="1" dirty="0">
              <a:solidFill>
                <a:schemeClr val="bg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Default Theme">
  <a:themeElements>
    <a:clrScheme name="Entrepreneur - Coloured - Light">
      <a:dk1>
        <a:srgbClr val="7E7E7E"/>
      </a:dk1>
      <a:lt1>
        <a:srgbClr val="FFFFFF"/>
      </a:lt1>
      <a:dk2>
        <a:srgbClr val="041B31"/>
      </a:dk2>
      <a:lt2>
        <a:srgbClr val="FFFFFF"/>
      </a:lt2>
      <a:accent1>
        <a:srgbClr val="C42A13"/>
      </a:accent1>
      <a:accent2>
        <a:srgbClr val="F9711C"/>
      </a:accent2>
      <a:accent3>
        <a:srgbClr val="92AF27"/>
      </a:accent3>
      <a:accent4>
        <a:srgbClr val="38B28A"/>
      </a:accent4>
      <a:accent5>
        <a:srgbClr val="16749F"/>
      </a:accent5>
      <a:accent6>
        <a:srgbClr val="041B31"/>
      </a:accent6>
      <a:hlink>
        <a:srgbClr val="F33B48"/>
      </a:hlink>
      <a:folHlink>
        <a:srgbClr val="FFC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9365</TotalTime>
  <Words>3942</Words>
  <Application>Microsoft Office PowerPoint</Application>
  <PresentationFormat>Custom</PresentationFormat>
  <Paragraphs>388</Paragraphs>
  <Slides>42</Slides>
  <Notes>41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Lato Light</vt:lpstr>
      <vt:lpstr>Lato</vt:lpstr>
      <vt:lpstr>Wingdings</vt:lpstr>
      <vt:lpstr>Arial</vt:lpstr>
      <vt:lpstr>Cambria Math</vt:lpstr>
      <vt:lpstr>Raleway Light</vt:lpstr>
      <vt:lpstr>Times New Roman</vt:lpstr>
      <vt:lpstr>Raleway</vt:lpstr>
      <vt:lpstr>Default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Manuel Lopez</dc:creator>
  <cp:lastModifiedBy>abhinav masih</cp:lastModifiedBy>
  <cp:revision>86</cp:revision>
  <dcterms:created xsi:type="dcterms:W3CDTF">2014-11-12T21:47:38Z</dcterms:created>
  <dcterms:modified xsi:type="dcterms:W3CDTF">2026-10-22T09:33:11Z</dcterms:modified>
</cp:coreProperties>
</file>